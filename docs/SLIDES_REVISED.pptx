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3dd54da5a5a474e" /><Relationship Type="http://schemas.openxmlformats.org/officeDocument/2006/relationships/extended-properties" Target="/docProps/app.xml" Id="Rf0da42e151e04fb5" /><Relationship Type="http://schemas.openxmlformats.org/officeDocument/2006/relationships/officeDocument" Target="/ppt/presentation.xml" Id="R5c103c0b0e474aa6" /></Relationships>
</file>

<file path=ppt/presentation.xml><?xml version="1.0" encoding="utf-8"?>
<p:presentation xmlns:p="http://schemas.openxmlformats.org/presentationml/2006/main">
  <p:sldMasterIdLst>
    <p:sldMasterId xmlns:r="http://schemas.openxmlformats.org/officeDocument/2006/relationships" id="2147483648" r:id="Rb688f16247234880"/>
  </p:sldMasterIdLst>
  <p:notesMasterIdLst>
    <p:notesMasterId xmlns:r="http://schemas.openxmlformats.org/officeDocument/2006/relationships" r:id="Rc9f545d3c88f4fc7"/>
  </p:notesMasterIdLst>
  <p:sldIdLst>
    <p:sldId xmlns:r="http://schemas.openxmlformats.org/officeDocument/2006/relationships" id="256" r:id="Rb2ccfc06db1a4a38"/>
    <p:sldId xmlns:r="http://schemas.openxmlformats.org/officeDocument/2006/relationships" id="257" r:id="R0e71438830f54fb4"/>
    <p:sldId xmlns:r="http://schemas.openxmlformats.org/officeDocument/2006/relationships" id="258" r:id="R71c9349f4271471d"/>
    <p:sldId xmlns:r="http://schemas.openxmlformats.org/officeDocument/2006/relationships" id="259" r:id="Rb48833698fba4780"/>
    <p:sldId xmlns:r="http://schemas.openxmlformats.org/officeDocument/2006/relationships" id="260" r:id="Rf61a9222162a455b"/>
    <p:sldId xmlns:r="http://schemas.openxmlformats.org/officeDocument/2006/relationships" id="261" r:id="Rd481d713425f4f84"/>
    <p:sldId xmlns:r="http://schemas.openxmlformats.org/officeDocument/2006/relationships" id="262" r:id="Rb2d679abe12046dd"/>
    <p:sldId xmlns:r="http://schemas.openxmlformats.org/officeDocument/2006/relationships" id="263" r:id="R02a3614cf9b241c5"/>
    <p:sldId xmlns:r="http://schemas.openxmlformats.org/officeDocument/2006/relationships" id="264" r:id="Rc9c157119b9d46c7"/>
    <p:sldId xmlns:r="http://schemas.openxmlformats.org/officeDocument/2006/relationships" id="265" r:id="R0359ed930ffa461f"/>
    <p:sldId xmlns:r="http://schemas.openxmlformats.org/officeDocument/2006/relationships" id="266" r:id="R91a76b1321274f17"/>
    <p:sldId xmlns:r="http://schemas.openxmlformats.org/officeDocument/2006/relationships" id="267" r:id="R83af2f843b7a4369"/>
    <p:sldId xmlns:r="http://schemas.openxmlformats.org/officeDocument/2006/relationships" id="268" r:id="R517a0d4108264267"/>
    <p:sldId xmlns:r="http://schemas.openxmlformats.org/officeDocument/2006/relationships" id="269" r:id="Ra3b6b3ed04764545"/>
    <p:sldId xmlns:r="http://schemas.openxmlformats.org/officeDocument/2006/relationships" id="270" r:id="Rdfab934cf72642d9"/>
    <p:sldId xmlns:r="http://schemas.openxmlformats.org/officeDocument/2006/relationships" id="271" r:id="Rb140b403f7484ded"/>
    <p:sldId xmlns:r="http://schemas.openxmlformats.org/officeDocument/2006/relationships" id="272" r:id="Rf8d3037e5b924faa"/>
    <p:sldId xmlns:r="http://schemas.openxmlformats.org/officeDocument/2006/relationships" id="273" r:id="Re1f76944cdc44ffb"/>
    <p:sldId xmlns:r="http://schemas.openxmlformats.org/officeDocument/2006/relationships" id="274" r:id="Rd45a5b53ddd54849"/>
    <p:sldId xmlns:r="http://schemas.openxmlformats.org/officeDocument/2006/relationships" id="275" r:id="R3e84deaae5f847ce"/>
    <p:sldId xmlns:r="http://schemas.openxmlformats.org/officeDocument/2006/relationships" id="276" r:id="R2831446f2f124ba4"/>
    <p:sldId xmlns:r="http://schemas.openxmlformats.org/officeDocument/2006/relationships" id="277" r:id="R4a0b83ea17af491c"/>
    <p:sldId xmlns:r="http://schemas.openxmlformats.org/officeDocument/2006/relationships" id="278" r:id="R6ff79f8d1f8747ff"/>
    <p:sldId xmlns:r="http://schemas.openxmlformats.org/officeDocument/2006/relationships" id="279" r:id="R915403de51fd4a7f"/>
    <p:sldId xmlns:r="http://schemas.openxmlformats.org/officeDocument/2006/relationships" id="280" r:id="Rbf1ed567e28140f6"/>
    <p:sldId xmlns:r="http://schemas.openxmlformats.org/officeDocument/2006/relationships" id="281" r:id="Rf10fa46fcc2a4c85"/>
    <p:sldId xmlns:r="http://schemas.openxmlformats.org/officeDocument/2006/relationships" id="282" r:id="R4e2589b86d984b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fbd808571b455c" /><Relationship Type="http://schemas.openxmlformats.org/officeDocument/2006/relationships/slideMaster" Target="/ppt/slideMasters/slideMaster1.xml" Id="Rb688f16247234880" /><Relationship Type="http://schemas.openxmlformats.org/officeDocument/2006/relationships/notesMaster" Target="/ppt/notesMasters/notesMaster1.xml" Id="Rc9f545d3c88f4fc7" /><Relationship Type="http://schemas.openxmlformats.org/officeDocument/2006/relationships/presProps" Target="/ppt/presProps.xml" Id="R489523e3a4b3449d" /><Relationship Type="http://schemas.openxmlformats.org/officeDocument/2006/relationships/tableStyles" Target="/ppt/tableStyles.xml" Id="Ra913110a29ab48a9" /><Relationship Type="http://schemas.openxmlformats.org/officeDocument/2006/relationships/slide" Target="/ppt/slides/slide1.xml" Id="Rb2ccfc06db1a4a38" /><Relationship Type="http://schemas.openxmlformats.org/officeDocument/2006/relationships/slide" Target="/ppt/slides/slide2.xml" Id="R0e71438830f54fb4" /><Relationship Type="http://schemas.openxmlformats.org/officeDocument/2006/relationships/slide" Target="/ppt/slides/slide3.xml" Id="R71c9349f4271471d" /><Relationship Type="http://schemas.openxmlformats.org/officeDocument/2006/relationships/slide" Target="/ppt/slides/slide4.xml" Id="Rb48833698fba4780" /><Relationship Type="http://schemas.openxmlformats.org/officeDocument/2006/relationships/slide" Target="/ppt/slides/slide5.xml" Id="Rf61a9222162a455b" /><Relationship Type="http://schemas.openxmlformats.org/officeDocument/2006/relationships/slide" Target="/ppt/slides/slide6.xml" Id="Rd481d713425f4f84" /><Relationship Type="http://schemas.openxmlformats.org/officeDocument/2006/relationships/slide" Target="/ppt/slides/slide7.xml" Id="Rb2d679abe12046dd" /><Relationship Type="http://schemas.openxmlformats.org/officeDocument/2006/relationships/slide" Target="/ppt/slides/slide8.xml" Id="R02a3614cf9b241c5" /><Relationship Type="http://schemas.openxmlformats.org/officeDocument/2006/relationships/slide" Target="/ppt/slides/slide9.xml" Id="Rc9c157119b9d46c7" /><Relationship Type="http://schemas.openxmlformats.org/officeDocument/2006/relationships/slide" Target="/ppt/slides/slide10.xml" Id="R0359ed930ffa461f" /><Relationship Type="http://schemas.openxmlformats.org/officeDocument/2006/relationships/slide" Target="/ppt/slides/slide11.xml" Id="R91a76b1321274f17" /><Relationship Type="http://schemas.openxmlformats.org/officeDocument/2006/relationships/slide" Target="/ppt/slides/slide12.xml" Id="R83af2f843b7a4369" /><Relationship Type="http://schemas.openxmlformats.org/officeDocument/2006/relationships/slide" Target="/ppt/slides/slide13.xml" Id="R517a0d4108264267" /><Relationship Type="http://schemas.openxmlformats.org/officeDocument/2006/relationships/slide" Target="/ppt/slides/slide14.xml" Id="Ra3b6b3ed04764545" /><Relationship Type="http://schemas.openxmlformats.org/officeDocument/2006/relationships/slide" Target="/ppt/slides/slide15.xml" Id="Rdfab934cf72642d9" /><Relationship Type="http://schemas.openxmlformats.org/officeDocument/2006/relationships/slide" Target="/ppt/slides/slide16.xml" Id="Rb140b403f7484ded" /><Relationship Type="http://schemas.openxmlformats.org/officeDocument/2006/relationships/slide" Target="/ppt/slides/slide17.xml" Id="Rf8d3037e5b924faa" /><Relationship Type="http://schemas.openxmlformats.org/officeDocument/2006/relationships/slide" Target="/ppt/slides/slide18.xml" Id="Re1f76944cdc44ffb" /><Relationship Type="http://schemas.openxmlformats.org/officeDocument/2006/relationships/slide" Target="/ppt/slides/slide19.xml" Id="Rd45a5b53ddd54849" /><Relationship Type="http://schemas.openxmlformats.org/officeDocument/2006/relationships/slide" Target="/ppt/slides/slide20.xml" Id="R3e84deaae5f847ce" /><Relationship Type="http://schemas.openxmlformats.org/officeDocument/2006/relationships/slide" Target="/ppt/slides/slide21.xml" Id="R2831446f2f124ba4" /><Relationship Type="http://schemas.openxmlformats.org/officeDocument/2006/relationships/slide" Target="/ppt/slides/slide22.xml" Id="R4a0b83ea17af491c" /><Relationship Type="http://schemas.openxmlformats.org/officeDocument/2006/relationships/slide" Target="/ppt/slides/slide23.xml" Id="R6ff79f8d1f8747ff" /><Relationship Type="http://schemas.openxmlformats.org/officeDocument/2006/relationships/slide" Target="/ppt/slides/slide24.xml" Id="R915403de51fd4a7f" /><Relationship Type="http://schemas.openxmlformats.org/officeDocument/2006/relationships/slide" Target="/ppt/slides/slide25.xml" Id="Rbf1ed567e28140f6" /><Relationship Type="http://schemas.openxmlformats.org/officeDocument/2006/relationships/slide" Target="/ppt/slides/slide26.xml" Id="Rf10fa46fcc2a4c85" /><Relationship Type="http://schemas.openxmlformats.org/officeDocument/2006/relationships/slide" Target="/ppt/slides/slide27.xml" Id="R4e2589b86d984b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11ab62613247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Flower Restoration">
  <a:themeElements>
    <a:clrScheme name="Flower Restorati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Flower Restor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4fd7b377294a16" /><Relationship Type="http://schemas.openxmlformats.org/officeDocument/2006/relationships/notesMaster" Target="/ppt/notesMasters/notesMaster1.xml" Id="Rc7cb7f4293f34f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204eb2a99248a6" /><Relationship Type="http://schemas.openxmlformats.org/officeDocument/2006/relationships/notesMaster" Target="/ppt/notesMasters/notesMaster1.xml" Id="R60c71718467d46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87ad712ae243b4" /><Relationship Type="http://schemas.openxmlformats.org/officeDocument/2006/relationships/notesMaster" Target="/ppt/notesMasters/notesMaster1.xml" Id="Ra68566ae59454d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f9ec96dd234190" /><Relationship Type="http://schemas.openxmlformats.org/officeDocument/2006/relationships/notesMaster" Target="/ppt/notesMasters/notesMaster1.xml" Id="R673493aa23e64b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abba6720b049de" /><Relationship Type="http://schemas.openxmlformats.org/officeDocument/2006/relationships/notesMaster" Target="/ppt/notesMasters/notesMaster1.xml" Id="Rc10fb4787fc041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83512cfd884e7f" /><Relationship Type="http://schemas.openxmlformats.org/officeDocument/2006/relationships/notesMaster" Target="/ppt/notesMasters/notesMaster1.xml" Id="R7054110b5d714a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17535630304e9c" /><Relationship Type="http://schemas.openxmlformats.org/officeDocument/2006/relationships/notesMaster" Target="/ppt/notesMasters/notesMaster1.xml" Id="Re561142abb434e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fcbc758f6848aa" /><Relationship Type="http://schemas.openxmlformats.org/officeDocument/2006/relationships/notesMaster" Target="/ppt/notesMasters/notesMaster1.xml" Id="Rb365d358274645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2a7dca01b34c99" /><Relationship Type="http://schemas.openxmlformats.org/officeDocument/2006/relationships/notesMaster" Target="/ppt/notesMasters/notesMaster1.xml" Id="R11a638b3e46346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8b30610a0f4ecf" /><Relationship Type="http://schemas.openxmlformats.org/officeDocument/2006/relationships/notesMaster" Target="/ppt/notesMasters/notesMaster1.xml" Id="R6efb907c10b540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8c30f2cb5a48ce" /><Relationship Type="http://schemas.openxmlformats.org/officeDocument/2006/relationships/notesMaster" Target="/ppt/notesMasters/notesMaster1.xml" Id="R1f11aafca20246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9de47d3b0545f8" /><Relationship Type="http://schemas.openxmlformats.org/officeDocument/2006/relationships/notesMaster" Target="/ppt/notesMasters/notesMaster1.xml" Id="R87a3adf331924b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4954a3fc05403f" /><Relationship Type="http://schemas.openxmlformats.org/officeDocument/2006/relationships/notesMaster" Target="/ppt/notesMasters/notesMaster1.xml" Id="R3cd94906097347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f1432a551e45eb" /><Relationship Type="http://schemas.openxmlformats.org/officeDocument/2006/relationships/notesMaster" Target="/ppt/notesMasters/notesMaster1.xml" Id="R9cb4aa9ecf8045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3f89d567c8478c" /><Relationship Type="http://schemas.openxmlformats.org/officeDocument/2006/relationships/notesMaster" Target="/ppt/notesMasters/notesMaster1.xml" Id="Rb0ba4db6c78046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1d49b010274de3" /><Relationship Type="http://schemas.openxmlformats.org/officeDocument/2006/relationships/notesMaster" Target="/ppt/notesMasters/notesMaster1.xml" Id="Rdfa19e7faf614e7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4808f9dae84419" /><Relationship Type="http://schemas.openxmlformats.org/officeDocument/2006/relationships/notesMaster" Target="/ppt/notesMasters/notesMaster1.xml" Id="R11dd3c732abe41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91d3344ade42c3" /><Relationship Type="http://schemas.openxmlformats.org/officeDocument/2006/relationships/notesMaster" Target="/ppt/notesMasters/notesMaster1.xml" Id="Re8f42ffe0bff41b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0300fbedf04184" /><Relationship Type="http://schemas.openxmlformats.org/officeDocument/2006/relationships/notesMaster" Target="/ppt/notesMasters/notesMaster1.xml" Id="R3067a68602ff4d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eee6b3b6794a9e" /><Relationship Type="http://schemas.openxmlformats.org/officeDocument/2006/relationships/notesMaster" Target="/ppt/notesMasters/notesMaster1.xml" Id="Ra55e25d5134841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7694db3c574d7e" /><Relationship Type="http://schemas.openxmlformats.org/officeDocument/2006/relationships/notesMaster" Target="/ppt/notesMasters/notesMaster1.xml" Id="Rf462e2e9ff4e41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bc141b5609745ca" /><Relationship Type="http://schemas.openxmlformats.org/officeDocument/2006/relationships/notesMaster" Target="/ppt/notesMasters/notesMaster1.xml" Id="R85f09706b851483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66209455d2479e" /><Relationship Type="http://schemas.openxmlformats.org/officeDocument/2006/relationships/notesMaster" Target="/ppt/notesMasters/notesMaster1.xml" Id="R623b4830096b49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7b482d7d2f405c" /><Relationship Type="http://schemas.openxmlformats.org/officeDocument/2006/relationships/notesMaster" Target="/ppt/notesMasters/notesMaster1.xml" Id="R96ab721c28d34c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c805b5c79b4408c" /><Relationship Type="http://schemas.openxmlformats.org/officeDocument/2006/relationships/notesMaster" Target="/ppt/notesMasters/notesMaster1.xml" Id="R16a174b749de44c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a79ac305a564eec" /><Relationship Type="http://schemas.openxmlformats.org/officeDocument/2006/relationships/notesMaster" Target="/ppt/notesMasters/notesMaster1.xml" Id="R3e9ec5b4bd03417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60d891f77ec4c72" /><Relationship Type="http://schemas.openxmlformats.org/officeDocument/2006/relationships/notesMaster" Target="/ppt/notesMasters/notesMaster1.xml" Id="Rce1f948ceb9344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trình bày đặt các thuật toán xử lý ảnh và chất lượng ảnh làm trọng tâm. MobileNetV2 chỉ là công cụ đo bổ sung. Nhóm 05. Giảng viên: TS. Nguyễn Ngọc Giang. Thành viên: Nguyễn Tùng Dương (24100358), Trịnh Ngọc Nga (24100065), Trương Việt Thành (24106898).</a:t>
            </a:r>
          </a:p>
          <a:p xmlns:a="http://schemas.openxmlformats.org/drawingml/2006/main">
            <a:r>
              <a:t>Nguồn: docs/REPORT_REVISED.docx; results/final/manifest.json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Nguồn:</a:t>
            </a:r>
          </a:p>
          <a:p xmlns:a="http://schemas.openxmlformats.org/drawingml/2006/main">
            <a:r>
              <a:t>docs/REPORT_REVISED.docx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RQ1 xem chất lượng ảnh theo cơ chế và mức suy giảm. RQ2 xem hiệu quả và đánh đổi sau xử lý. RQ3 kiểm tra mối liên hệ với nhận diện. RQ4 phân tích giới hạn trên từng ca ảnh. Các tham số thực tế được tune theo Macro F1 Validation trước SSIM; việc đổi trọng tâm báo cáo không thay đổi protocol đã chạy.</a:t>
            </a:r>
          </a:p>
          <a:p xmlns:a="http://schemas.openxmlformats.org/drawingml/2006/main">
            <a:r>
              <a:t/>
            </a:r>
          </a:p>
          <a:p xmlns:a="http://schemas.openxmlformats.org/drawingml/2006/main">
            <a:r>
              <a:t>Nguồn:</a:t>
            </a:r>
          </a:p>
          <a:p xmlns:a="http://schemas.openxmlformats.org/drawingml/2006/main">
            <a:r>
              <a:t>results/final/condition_metrics.csv</a:t>
            </a:r>
          </a:p>
          <a:p xmlns:a="http://schemas.openxmlformats.org/drawingml/2006/main">
            <a:r>
              <a:t>src/config.py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Tăng cường cải thiện cách thể hiện thông tin cho quan sát hoặc tác vụ. Phục hồi giảm ảnh hưởng của cơ chế suy giảm. Gamma dùng nghịch đảo đã biết, các phương pháp còn lại dùng giả định về tín hiệu. Không coi histogram rộng hoặc ảnh sáng hơn là bằng chứng chất lượng tốt hơn.</a:t>
            </a:r>
          </a:p>
          <a:p xmlns:a="http://schemas.openxmlformats.org/drawingml/2006/main">
            <a:r>
              <a:t/>
            </a:r>
          </a:p>
          <a:p xmlns:a="http://schemas.openxmlformats.org/drawingml/2006/main">
            <a:r>
              <a:t>Nguồn:</a:t>
            </a:r>
          </a:p>
          <a:p xmlns:a="http://schemas.openxmlformats.org/drawingml/2006/main">
            <a:r>
              <a:t>src/enhancements.py</a:t>
            </a:r>
          </a:p>
          <a:p xmlns:a="http://schemas.openxmlformats.org/drawingml/2006/main">
            <a:r>
              <a:t>src/image_metrics.py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Nguồn:</a:t>
            </a:r>
          </a:p>
          <a:p xmlns:a="http://schemas.openxmlformats.org/drawingml/2006/main">
            <a:r>
              <a:t>data/inventory.csv</a:t>
            </a:r>
          </a:p>
          <a:p xmlns:a="http://schemas.openxmlformats.org/drawingml/2006/main">
            <a:r>
              <a:t>splits/train.csv</a:t>
            </a:r>
          </a:p>
          <a:p xmlns:a="http://schemas.openxmlformats.org/drawingml/2006/main">
            <a:r>
              <a:t>splits/validation.csv</a:t>
            </a:r>
          </a:p>
          <a:p xmlns:a="http://schemas.openxmlformats.org/drawingml/2006/main">
            <a:r>
              <a:t>splits/test.csv</a:t>
            </a:r>
          </a:p>
          <a:p xmlns:a="http://schemas.openxmlformats.org/drawingml/2006/main">
            <a:r>
              <a:t>artifacts/data_audit.json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Nguồn:</a:t>
            </a:r>
          </a:p>
          <a:p xmlns:a="http://schemas.openxmlformats.org/drawingml/2006/main">
            <a:r>
              <a:t>src/preprocessing.py</a:t>
            </a:r>
          </a:p>
          <a:p xmlns:a="http://schemas.openxmlformats.org/drawingml/2006/main">
            <a:r>
              <a:t>src/color_spaces.py</a:t>
            </a:r>
          </a:p>
          <a:p xmlns:a="http://schemas.openxmlformats.org/drawingml/2006/main">
            <a:r>
              <a:t>results/eda_sample_metrics.csv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blur gọi scipy.ndimage.gaussian_filter với biên reflect. k=3/7/15 chỉ dùng suy ra sigma; không ép miền hỗ trợ của kernel đúng các giá trị đó. Color cast là nhân gain RGB và clip. Cùng đường dẫn và điều kiện tạo cùng stable seed.</a:t>
            </a:r>
          </a:p>
          <a:p xmlns:a="http://schemas.openxmlformats.org/drawingml/2006/main">
            <a:r>
              <a:t/>
            </a:r>
          </a:p>
          <a:p xmlns:a="http://schemas.openxmlformats.org/drawingml/2006/main">
            <a:r>
              <a:t>Nguồn:</a:t>
            </a:r>
          </a:p>
          <a:p xmlns:a="http://schemas.openxmlformats.org/drawingml/2006/main">
            <a:r>
              <a:t>src/config.py</a:t>
            </a:r>
          </a:p>
          <a:p xmlns:a="http://schemas.openxmlformats.org/drawingml/2006/main">
            <a:r>
              <a:t>src/degradations.py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Gamma: chuyển số thực, chia 255, lũy thừa, nhân 255, clip rồi uint8. Ví dụ 64 và gamma=2,5 cho khoảng 147 là minh họa số học, không phải metric Test. CLAHE dùng histogram tile, giới hạn clipping, LUT CDF và nội suy song tuyến tính; không tuyên bố trùng OpenCV từng pixel.</a:t>
            </a:r>
          </a:p>
          <a:p xmlns:a="http://schemas.openxmlformats.org/drawingml/2006/main">
            <a:r>
              <a:t/>
            </a:r>
          </a:p>
          <a:p xmlns:a="http://schemas.openxmlformats.org/drawingml/2006/main">
            <a:r>
              <a:t>Nguồn:</a:t>
            </a:r>
          </a:p>
          <a:p xmlns:a="http://schemas.openxmlformats.org/drawingml/2006/main">
            <a:r>
              <a:t>src/enhancements.py: gamma_correction, clahe_hsv_value</a:t>
            </a:r>
          </a:p>
          <a:p xmlns:a="http://schemas.openxmlformats.org/drawingml/2006/main">
            <a:r>
              <a:t>src/tuning.py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là trung bình có trọng số chuẩn hóa; sigma càng lớn làm mượt càng mạnh và có thể trộn qua biên. Median phi tuyến lấy trung vị từng kênh với kernel3 hoặc5. Ví dụ tám giá trị10 và một255: median10, trung bình37,22. Đây là ví dụ tính toán, không phải kết quả tập Test.</a:t>
            </a:r>
          </a:p>
          <a:p xmlns:a="http://schemas.openxmlformats.org/drawingml/2006/main">
            <a:r>
              <a:t/>
            </a:r>
          </a:p>
          <a:p xmlns:a="http://schemas.openxmlformats.org/drawingml/2006/main">
            <a:r>
              <a:t>Nguồn:</a:t>
            </a:r>
          </a:p>
          <a:p xmlns:a="http://schemas.openxmlformats.org/drawingml/2006/main">
            <a:r>
              <a:t>src/enhancements.py: apply_enhancement</a:t>
            </a:r>
          </a:p>
          <a:p xmlns:a="http://schemas.openxmlformats.org/drawingml/2006/main">
            <a:r>
              <a:t>src/tuning.py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w(p,q)=exp(-||p-q||²/(2sigma_s²))*exp(-||I(p)-I(q)||²/(2sigma_r²)). Lấy tổng I(q) có trọng số và chia tổng trọng số. Range sigma nhỏ có thể giữ cả nhiễu mạnh vì coi đó là biên. Range sigma lớn tiến gần làm mượt theo không gian trong lân cận cố định.</a:t>
            </a:r>
          </a:p>
          <a:p xmlns:a="http://schemas.openxmlformats.org/drawingml/2006/main">
            <a:r>
              <a:t/>
            </a:r>
          </a:p>
          <a:p xmlns:a="http://schemas.openxmlformats.org/drawingml/2006/main">
            <a:r>
              <a:t>Nguồn:</a:t>
            </a:r>
          </a:p>
          <a:p xmlns:a="http://schemas.openxmlformats.org/drawingml/2006/main">
            <a:r>
              <a:t>src/enhancements.py: bilateral_filter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B=G_sigma*I, D=I-B, Iout=clip(I+aD). Source gọi tham số radius nhưng nó là sigma của Gaussian. Ba cặp ứng viên được duyệt theo cặp, không phải9tổ hợp. PIL SHARPEN là đối chứng cố định. Không có giải chập trong phương pháp này.</a:t>
            </a:r>
          </a:p>
          <a:p xmlns:a="http://schemas.openxmlformats.org/drawingml/2006/main">
            <a:r>
              <a:t/>
            </a:r>
          </a:p>
          <a:p xmlns:a="http://schemas.openxmlformats.org/drawingml/2006/main">
            <a:r>
              <a:t>Nguồn:</a:t>
            </a:r>
          </a:p>
          <a:p xmlns:a="http://schemas.openxmlformats.org/drawingml/2006/main">
            <a:r>
              <a:t>src/enhancements.py</a:t>
            </a:r>
          </a:p>
          <a:p xmlns:a="http://schemas.openxmlformats.org/drawingml/2006/main">
            <a:r>
              <a:t>src/tuning.py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Nguồn:</a:t>
            </a:r>
          </a:p>
          <a:p xmlns:a="http://schemas.openxmlformats.org/drawingml/2006/main">
            <a:r>
              <a:t>src/enhancements.py: rgb_balance, hsv_correction, lab_correction</a:t>
            </a:r>
          </a:p>
          <a:p xmlns:a="http://schemas.openxmlformats.org/drawingml/2006/main">
            <a:r>
              <a:t>src/color_spaces.py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Nguồn:</a:t>
            </a:r>
          </a:p>
          <a:p xmlns:a="http://schemas.openxmlformats.org/drawingml/2006/main">
            <a:r>
              <a:t>docs/REPORT_REVISED.docx mục 4.6</a:t>
            </a:r>
          </a:p>
          <a:p xmlns:a="http://schemas.openxmlformats.org/drawingml/2006/main">
            <a:r>
              <a:t>src/image_metrics.py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ảnh sạch, 5 loại × 3 mức tạo 15 điều kiện suy giảm. Bốn nhóm có hai phương pháp tạo 24 điều kiện sau xử lý; nhóm màu có ba phương pháp tạo 9, tổng 33. Validation gồm 549 ảnh, chọn riêng từng bộ loại/mức/phương pháp. Tiêu chí là F1 giảm dần, SSIM giảm dần rồi thời gian enhancement tăng dần; không gọi là tối ưu PSNR.</a:t>
            </a:r>
          </a:p>
          <a:p xmlns:a="http://schemas.openxmlformats.org/drawingml/2006/main">
            <a:r>
              <a:t/>
            </a:r>
          </a:p>
          <a:p xmlns:a="http://schemas.openxmlformats.org/drawingml/2006/main">
            <a:r>
              <a:t>Nguồn:</a:t>
            </a:r>
          </a:p>
          <a:p xmlns:a="http://schemas.openxmlformats.org/drawingml/2006/main">
            <a:r>
              <a:t>src/tuning.py: rank_candidates</a:t>
            </a:r>
          </a:p>
          <a:p xmlns:a="http://schemas.openxmlformats.org/drawingml/2006/main">
            <a:r>
              <a:t>configs/locked_enhancement_params.json</a:t>
            </a:r>
          </a:p>
          <a:p xmlns:a="http://schemas.openxmlformats.org/drawingml/2006/main">
            <a:r>
              <a:t>results/final/manifest.json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PSNR dùng 10log10(255²/MSE). Khi MSE bằng 0, source quy ước 100 dB. SSIM dùng cửa sổ 7×7 trên lưới 56×56 sau stride 4, đo từng kênh RGB rồi lấy trung bình. ΔE chỉ được tính cho clean và color cast trong FULL_RUN. Brightness/RMS của clean có công thức khác nhánh suy giảm và xử lý nên không so sánh trực tiếp.</a:t>
            </a:r>
          </a:p>
          <a:p xmlns:a="http://schemas.openxmlformats.org/drawingml/2006/main">
            <a:r>
              <a:t/>
            </a:r>
          </a:p>
          <a:p xmlns:a="http://schemas.openxmlformats.org/drawingml/2006/main">
            <a:r>
              <a:t>Nguồn:</a:t>
            </a:r>
          </a:p>
          <a:p xmlns:a="http://schemas.openxmlformats.org/drawingml/2006/main">
            <a:r>
              <a:t>src/image_metrics.py</a:t>
            </a:r>
          </a:p>
          <a:p xmlns:a="http://schemas.openxmlformats.org/drawingml/2006/main">
            <a:r>
              <a:t>results/final/manifest.json</a:t>
            </a:r>
          </a:p>
          <a:p xmlns:a="http://schemas.openxmlformats.org/drawingml/2006/main">
            <a:r>
              <a:t>Tài liệu tham khảo [4] SSIM; [5] CIEDE2000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Gamma nhẹ: PSNR 21,06 → 46,22 dB; SSIM 0,8650 → 0,9924. Biết γ tạo lợi thế; lượng tử hóa vùng tối vẫn làm mất thông tin. Mỗi điểm là trung bình trên550ảnhTest với metricstride4; tham số khóa từValidation.</a:t>
            </a:r>
          </a:p>
          <a:p xmlns:a="http://schemas.openxmlformats.org/drawingml/2006/main">
            <a:r>
              <a:t/>
            </a:r>
          </a:p>
          <a:p xmlns:a="http://schemas.openxmlformats.org/drawingml/2006/main">
            <a:r>
              <a:t>Nguồn:</a:t>
            </a:r>
          </a:p>
          <a:p xmlns:a="http://schemas.openxmlformats.org/drawingml/2006/main">
            <a:r>
              <a:t>results/final/condition_metrics.csv</a:t>
            </a:r>
          </a:p>
          <a:p xmlns:a="http://schemas.openxmlformats.org/drawingml/2006/main">
            <a:r>
              <a:t>figures/report_revised/quality_low_light.png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Gaussian và bilateral ở cùng loại, mức và mẫu nhiễu. σr nhỏ có thể giữ nhiễu mạnh; không suy rộng ngoài cấu hình đã thử. Mỗi điểm là trung bình trên550ảnhTest với metricstride4; tham số khóa từValidation.</a:t>
            </a:r>
          </a:p>
          <a:p xmlns:a="http://schemas.openxmlformats.org/drawingml/2006/main">
            <a:r>
              <a:t/>
            </a:r>
          </a:p>
          <a:p xmlns:a="http://schemas.openxmlformats.org/drawingml/2006/main">
            <a:r>
              <a:t>Nguồn:</a:t>
            </a:r>
          </a:p>
          <a:p xmlns:a="http://schemas.openxmlformats.org/drawingml/2006/main">
            <a:r>
              <a:t>results/final/condition_metrics.csv</a:t>
            </a:r>
          </a:p>
          <a:p xmlns:a="http://schemas.openxmlformats.org/drawingml/2006/main">
            <a:r>
              <a:t>figures/report_revised/quality_gaussian_noise.png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Median loại outlier khi lân cận còn đủ tín hiệu hợp lệ. Đọc PSNR và SSIM cùng chi tiết cánh hoa, không chỉ độ sạch nền. Mỗi điểm là trung bình trên550ảnhTest với metricstride4; tham số khóa từValidation.</a:t>
            </a:r>
          </a:p>
          <a:p xmlns:a="http://schemas.openxmlformats.org/drawingml/2006/main">
            <a:r>
              <a:t/>
            </a:r>
          </a:p>
          <a:p xmlns:a="http://schemas.openxmlformats.org/drawingml/2006/main">
            <a:r>
              <a:t>Nguồn:</a:t>
            </a:r>
          </a:p>
          <a:p xmlns:a="http://schemas.openxmlformats.org/drawingml/2006/main">
            <a:r>
              <a:t>results/final/condition_metrics.csv</a:t>
            </a:r>
          </a:p>
          <a:p xmlns:a="http://schemas.openxmlformats.org/drawingml/2006/main">
            <a:r>
              <a:t>figures/report_revised/quality_salt_pepper.png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Unsharp và SHARPEN khuếch đại phần chi tiết còn lại. Không coi ảnh nét hơn là đã khôi phục toàn bộ thông tin bị mất. Mỗi điểm là trung bình trên550ảnhTest với metricstride4; tham số khóa từValidation.</a:t>
            </a:r>
          </a:p>
          <a:p xmlns:a="http://schemas.openxmlformats.org/drawingml/2006/main">
            <a:r>
              <a:t/>
            </a:r>
          </a:p>
          <a:p xmlns:a="http://schemas.openxmlformats.org/drawingml/2006/main">
            <a:r>
              <a:t>Nguồn:</a:t>
            </a:r>
          </a:p>
          <a:p xmlns:a="http://schemas.openxmlformats.org/drawingml/2006/main">
            <a:r>
              <a:t>results/final/condition_metrics.csv</a:t>
            </a:r>
          </a:p>
          <a:p xmlns:a="http://schemas.openxmlformats.org/drawingml/2006/main">
            <a:r>
              <a:t>figures/report_revised/quality_gaussian_blur.png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RGB, HSV và Lab dựa trên các giả định màu khác nhau. Hiệu chỉnh màu có thể làm lệch màu hoa; xem thêm ΔE trong báo cáo. Mỗi điểm là trung bình trên550ảnhTest với metricstride4; tham số khóa từValidation.</a:t>
            </a:r>
          </a:p>
          <a:p xmlns:a="http://schemas.openxmlformats.org/drawingml/2006/main">
            <a:r>
              <a:t/>
            </a:r>
          </a:p>
          <a:p xmlns:a="http://schemas.openxmlformats.org/drawingml/2006/main">
            <a:r>
              <a:t>Nguồn:</a:t>
            </a:r>
          </a:p>
          <a:p xmlns:a="http://schemas.openxmlformats.org/drawingml/2006/main">
            <a:r>
              <a:t>results/final/condition_metrics.csv</a:t>
            </a:r>
          </a:p>
          <a:p xmlns:a="http://schemas.openxmlformats.org/drawingml/2006/main">
            <a:r>
              <a:t>figures/report_revised/quality_color_cast.png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sạch có Accuracy 90,18% và Macro F1 0,9020. Ba so sánh minh họa gồm median ở nhiễu xung mạnh, Gaussian filtering ở nhiễu Gaussian mạnh và Gamma ở thiếu sáng nhẹ. Biểu đồ làm tròn sáu chữ số thập phân; CSV giữ số đầy đủ. Xem CI và thống kê theo cặp khi diễn giải chênh lệch; không lựa chọn pipeline theo Test.</a:t>
            </a:r>
          </a:p>
          <a:p xmlns:a="http://schemas.openxmlformats.org/drawingml/2006/main">
            <a:r>
              <a:t/>
            </a:r>
          </a:p>
          <a:p xmlns:a="http://schemas.openxmlformats.org/drawingml/2006/main">
            <a:r>
              <a:t>Nguồn:</a:t>
            </a:r>
          </a:p>
          <a:p xmlns:a="http://schemas.openxmlformats.org/drawingml/2006/main">
            <a:r>
              <a:t>results/final/condition_metrics.csv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Trên 33 cặp điều kiện, Pearson 0,710 và Spearman 0,702 chỉ mô tả xu hướng. Các điểm dùng chung ảnh/model nên không độc lập; không suy ra quan hệ nhân quả. Gamma ở thiếu sáng nhẹ tăng SSIM từ 0,8650 lên 0,9924 nhưng F1 giảm từ 0,9127 xuống 0,9002.</a:t>
            </a:r>
          </a:p>
          <a:p xmlns:a="http://schemas.openxmlformats.org/drawingml/2006/main">
            <a:r>
              <a:t/>
            </a:r>
          </a:p>
          <a:p xmlns:a="http://schemas.openxmlformats.org/drawingml/2006/main">
            <a:r>
              <a:t>Nguồn:</a:t>
            </a:r>
          </a:p>
          <a:p xmlns:a="http://schemas.openxmlformats.org/drawingml/2006/main">
            <a:r>
              <a:t>results/final/condition_metrics.csv</a:t>
            </a:r>
          </a:p>
          <a:p xmlns:a="http://schemas.openxmlformats.org/drawingml/2006/main">
            <a:r>
              <a:t>figures/report_revised/correlation.png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 B có nhãn thật daisy, dùng median cho nhiễu xung mạnh. Nhãn ảnh suy giảm sai nhưng sau xử lý đúng. Đây là một ca quan sát, không chứng minh model dùng cấu trúc cánh. Ảnh gốc CC-BY của Nick Coombe, được biến đổi theo pipeline.</a:t>
            </a:r>
          </a:p>
          <a:p xmlns:a="http://schemas.openxmlformats.org/drawingml/2006/main">
            <a:r>
              <a:t/>
            </a:r>
          </a:p>
          <a:p xmlns:a="http://schemas.openxmlformats.org/drawingml/2006/main">
            <a:r>
              <a:t>Nguồn:</a:t>
            </a:r>
          </a:p>
          <a:p xmlns:a="http://schemas.openxmlformats.org/drawingml/2006/main">
            <a:r>
              <a:t>docs/CASE_SELECTION.json ca B</a:t>
            </a:r>
          </a:p>
          <a:p xmlns:a="http://schemas.openxmlformats.org/drawingml/2006/main">
            <a:r>
              <a:t>results/final/predictions.csv</a:t>
            </a:r>
          </a:p>
          <a:p xmlns:a="http://schemas.openxmlformats.org/drawingml/2006/main">
            <a:r>
              <a:t>Ảnh CC-BY Nick Coombe https://www.flickr.com/photos/thearchive/11642632/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 D có nhãn thật daisy, ám màu nhẹ và HSV correction. Nhãn suy giảm đúng là daisy; sau xử lý nhầm thành dandelion. Hoa nhỏ và nền xanh, nhưng chưa có thí nghiệm can thiệp để kết luận nền quyết định. Confidence cao hơn của nhãn sai không chứng minh xử lý tốt hơn.</a:t>
            </a:r>
          </a:p>
          <a:p xmlns:a="http://schemas.openxmlformats.org/drawingml/2006/main">
            <a:r>
              <a:t/>
            </a:r>
          </a:p>
          <a:p xmlns:a="http://schemas.openxmlformats.org/drawingml/2006/main">
            <a:r>
              <a:t>Nguồn:</a:t>
            </a:r>
          </a:p>
          <a:p xmlns:a="http://schemas.openxmlformats.org/drawingml/2006/main">
            <a:r>
              <a:t>docs/CASE_SELECTION.json ca D</a:t>
            </a:r>
          </a:p>
          <a:p xmlns:a="http://schemas.openxmlformats.org/drawingml/2006/main">
            <a:r>
              <a:t>results/final/predictions.csv</a:t>
            </a:r>
          </a:p>
          <a:p xmlns:a="http://schemas.openxmlformats.org/drawingml/2006/main">
            <a:r>
              <a:t>Ảnh CC-BY Marilena Marchese https://www.flickr.com/photos/marilenamarchese_photography/11870378973/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Nguồn:</a:t>
            </a:r>
          </a:p>
          <a:p xmlns:a="http://schemas.openxmlformats.org/drawingml/2006/main">
            <a:r>
              <a:t>streamlit_app.py</a:t>
            </a:r>
          </a:p>
          <a:p xmlns:a="http://schemas.openxmlformats.org/drawingml/2006/main">
            <a:r>
              <a:t>app_components/pipeline.py</a:t>
            </a:r>
          </a:p>
          <a:p xmlns:a="http://schemas.openxmlformats.org/drawingml/2006/main">
            <a:r>
              <a:t>artifacts/deployment_verification.json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Nguồn:</a:t>
            </a:r>
          </a:p>
          <a:p xmlns:a="http://schemas.openxmlformats.org/drawingml/2006/main">
            <a:r>
              <a:t>results/final/condition_metrics.csv</a:t>
            </a:r>
          </a:p>
          <a:p xmlns:a="http://schemas.openxmlformats.org/drawingml/2006/main">
            <a:r>
              <a:t>docs/REPORT_REVISED.docx chương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Nguồn:</a:t>
            </a:r>
          </a:p>
          <a:p xmlns:a="http://schemas.openxmlformats.org/drawingml/2006/main">
            <a:r>
              <a:t>results/final/manifest.json</a:t>
            </a:r>
          </a:p>
          <a:p xmlns:a="http://schemas.openxmlformats.org/drawingml/2006/main">
            <a:r>
              <a:t>artifacts/data_audit.json</a:t>
            </a:r>
          </a:p>
          <a:p xmlns:a="http://schemas.openxmlformats.org/drawingml/2006/main">
            <a:r>
              <a:t>src/tuning.py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4c6acd429b40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3f7338770246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cbd0f1eb7541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35abbd7f7f4b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69c38cbb6248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edf86d08da43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04D39F-C98D-4185-A7BF-D1DED0E534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AAB6C7-E27D-4B20-84F8-3919B9BAE2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AA8F99C-0730-4D3C-890F-8B1B845253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D07D6D-CFDC-4E91-AD67-C8A28B3C52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DC6FA0-E633-48A6-BF92-CC8CDAEEB4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E96EB7-018C-4AEA-A567-105B9D8D5A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BB9032-0D08-436D-8637-3D1E1F6859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170792-7DCF-452D-BBA9-D98448CCD62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BAAFB9-008F-4B6B-A107-C284D57974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5A6868-FAAC-4D0A-89E6-3A2F82989B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02430629d849c6" /><Relationship Type="http://schemas.openxmlformats.org/officeDocument/2006/relationships/slideLayout" Target="/ppt/slideLayouts/slideLayout1.xml" Id="R464f36ec13c14665" /><Relationship Type="http://schemas.openxmlformats.org/officeDocument/2006/relationships/slideLayout" Target="/ppt/slideLayouts/slideLayout2.xml" Id="R0912dae9c2734cc4" /><Relationship Type="http://schemas.openxmlformats.org/officeDocument/2006/relationships/slideLayout" Target="/ppt/slideLayouts/slideLayout3.xml" Id="Rbff95e686e414d5d" /><Relationship Type="http://schemas.openxmlformats.org/officeDocument/2006/relationships/slideLayout" Target="/ppt/slideLayouts/slideLayout4.xml" Id="R94310ec33fe548f3" /><Relationship Type="http://schemas.openxmlformats.org/officeDocument/2006/relationships/slideLayout" Target="/ppt/slideLayouts/slideLayout5.xml" Id="R5e0446f876b34436" /><Relationship Type="http://schemas.openxmlformats.org/officeDocument/2006/relationships/slideLayout" Target="/ppt/slideLayouts/slideLayout6.xml" Id="R02f5e97703a54a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4f36ec13c14665"/>
    <p:sldLayoutId xmlns:r="http://schemas.openxmlformats.org/officeDocument/2006/relationships" id="2147483650" r:id="R0912dae9c2734cc4"/>
    <p:sldLayoutId xmlns:r="http://schemas.openxmlformats.org/officeDocument/2006/relationships" id="2147483651" r:id="Rbff95e686e414d5d"/>
    <p:sldLayoutId xmlns:r="http://schemas.openxmlformats.org/officeDocument/2006/relationships" id="2147483652" r:id="R94310ec33fe548f3"/>
    <p:sldLayoutId xmlns:r="http://schemas.openxmlformats.org/officeDocument/2006/relationships" id="2147483653" r:id="R5e0446f876b34436"/>
    <p:sldLayoutId xmlns:r="http://schemas.openxmlformats.org/officeDocument/2006/relationships" id="2147483654" r:id="R02f5e97703a54a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Flower Restoration">
  <a:themeElements>
    <a:clrScheme name="Flower Restorati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Flower Restor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cbb9c54ba84e5c" /><Relationship Type="http://schemas.openxmlformats.org/officeDocument/2006/relationships/notesSlide" Target="/ppt/notesSlides/notesSlide1.xml" Id="R0789c37c384c42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e652174a244a8c" /><Relationship Type="http://schemas.openxmlformats.org/officeDocument/2006/relationships/notesSlide" Target="/ppt/notesSlides/notesSlide2.xml" Id="Rca47048ea5d042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d8bce875dd4300" /><Relationship Type="http://schemas.openxmlformats.org/officeDocument/2006/relationships/notesSlide" Target="/ppt/notesSlides/notesSlide3.xml" Id="R1b2a06b6083945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bf98e8ff3434ebc" /><Relationship Type="http://schemas.openxmlformats.org/officeDocument/2006/relationships/notesSlide" Target="/ppt/notesSlides/notesSlide4.xml" Id="Rd8d01c28ece847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829d95dff043f4" /><Relationship Type="http://schemas.openxmlformats.org/officeDocument/2006/relationships/notesSlide" Target="/ppt/notesSlides/notesSlide5.xml" Id="R02639651f75c41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61e834e872344f7" /><Relationship Type="http://schemas.openxmlformats.org/officeDocument/2006/relationships/notesSlide" Target="/ppt/notesSlides/notesSlide6.xml" Id="Rbc519871bc3240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a3b544acab2438d" /><Relationship Type="http://schemas.openxmlformats.org/officeDocument/2006/relationships/notesSlide" Target="/ppt/notesSlides/notesSlide7.xml" Id="R69cbaea0a48c43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6233502919c4ddd" /><Relationship Type="http://schemas.openxmlformats.org/officeDocument/2006/relationships/notesSlide" Target="/ppt/notesSlides/notesSlide8.xml" Id="R1a9b1298542943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667d35b84594440" /><Relationship Type="http://schemas.openxmlformats.org/officeDocument/2006/relationships/notesSlide" Target="/ppt/notesSlides/notesSlide9.xml" Id="Re67eb2f15ed446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281d64c5bf64262" /><Relationship Type="http://schemas.openxmlformats.org/officeDocument/2006/relationships/notesSlide" Target="/ppt/notesSlides/notesSlide10.xml" Id="R63b5fc0bacfb44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678f0efcba34a4b" /><Relationship Type="http://schemas.openxmlformats.org/officeDocument/2006/relationships/notesSlide" Target="/ppt/notesSlides/notesSlide11.xml" Id="R5a0f578a06204e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f710824957b4bf1" /><Relationship Type="http://schemas.openxmlformats.org/officeDocument/2006/relationships/notesSlide" Target="/ppt/notesSlides/notesSlide12.xml" Id="R73e1c88041f746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97c9bcd97844515" /><Relationship Type="http://schemas.openxmlformats.org/officeDocument/2006/relationships/notesSlide" Target="/ppt/notesSlides/notesSlide13.xml" Id="Ra0a3d9f17c5946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ffcc3c2dd1448da" /><Relationship Type="http://schemas.openxmlformats.org/officeDocument/2006/relationships/notesSlide" Target="/ppt/notesSlides/notesSlide14.xml" Id="Rc4cd4b346e1749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70e7d604c77406f" /><Relationship Type="http://schemas.openxmlformats.org/officeDocument/2006/relationships/notesSlide" Target="/ppt/notesSlides/notesSlide15.xml" Id="Rae9a5b90a75c40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fe018198ff24a68" /><Relationship Type="http://schemas.openxmlformats.org/officeDocument/2006/relationships/image" Target="/ppt/media/image.png" Id="R3772c6ce0406433c" /><Relationship Type="http://schemas.openxmlformats.org/officeDocument/2006/relationships/notesSlide" Target="/ppt/notesSlides/notesSlide16.xml" Id="R262af679e7df4b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723a10d187b47a0" /><Relationship Type="http://schemas.openxmlformats.org/officeDocument/2006/relationships/image" Target="/ppt/media/image2.png" Id="R6c1ee13a98cf469b" /><Relationship Type="http://schemas.openxmlformats.org/officeDocument/2006/relationships/notesSlide" Target="/ppt/notesSlides/notesSlide17.xml" Id="Rf635d9be219e47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8006bac5a4d4d13" /><Relationship Type="http://schemas.openxmlformats.org/officeDocument/2006/relationships/image" Target="/ppt/media/image3.png" Id="Rcd2cb94a46d9437f" /><Relationship Type="http://schemas.openxmlformats.org/officeDocument/2006/relationships/notesSlide" Target="/ppt/notesSlides/notesSlide18.xml" Id="R23a745e445924e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3cb8c08bf414e34" /><Relationship Type="http://schemas.openxmlformats.org/officeDocument/2006/relationships/image" Target="/ppt/media/image4.png" Id="R58a3cdc873c642dc" /><Relationship Type="http://schemas.openxmlformats.org/officeDocument/2006/relationships/notesSlide" Target="/ppt/notesSlides/notesSlide19.xml" Id="R26d793dd0c0f48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f955a6d2bc64f69" /><Relationship Type="http://schemas.openxmlformats.org/officeDocument/2006/relationships/image" Target="/ppt/media/image5.png" Id="R577833d5421c4693" /><Relationship Type="http://schemas.openxmlformats.org/officeDocument/2006/relationships/notesSlide" Target="/ppt/notesSlides/notesSlide20.xml" Id="R2bb6466633cd4d6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073a6750e0d4551" /><Relationship Type="http://schemas.openxmlformats.org/officeDocument/2006/relationships/chart" Target="/ppt/slides/charts/chart1.xml" Id="Re1532df1d1d24960" /><Relationship Type="http://schemas.openxmlformats.org/officeDocument/2006/relationships/notesSlide" Target="/ppt/notesSlides/notesSlide21.xml" Id="R01ce2c864fbb426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92088f904694820" /><Relationship Type="http://schemas.openxmlformats.org/officeDocument/2006/relationships/image" Target="/ppt/media/image6.png" Id="R433d37874dcb46dd" /><Relationship Type="http://schemas.openxmlformats.org/officeDocument/2006/relationships/notesSlide" Target="/ppt/notesSlides/notesSlide22.xml" Id="R7652b35b2d7a47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7c39910a1d54d78" /><Relationship Type="http://schemas.openxmlformats.org/officeDocument/2006/relationships/image" Target="/ppt/media/image7.png" Id="Rd9564578591f4eaa" /><Relationship Type="http://schemas.openxmlformats.org/officeDocument/2006/relationships/notesSlide" Target="/ppt/notesSlides/notesSlide23.xml" Id="R73d84af283c642d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52297cc10fb4e8b" /><Relationship Type="http://schemas.openxmlformats.org/officeDocument/2006/relationships/image" Target="/ppt/media/image8.png" Id="Rdb9d03aec28149f0" /><Relationship Type="http://schemas.openxmlformats.org/officeDocument/2006/relationships/notesSlide" Target="/ppt/notesSlides/notesSlide24.xml" Id="R0da77d0dcfda4e5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e579a2f8fa34fb2" /><Relationship Type="http://schemas.openxmlformats.org/officeDocument/2006/relationships/notesSlide" Target="/ppt/notesSlides/notesSlide25.xml" Id="R8b2339432a6e44a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ae8219e4d094d90" /><Relationship Type="http://schemas.openxmlformats.org/officeDocument/2006/relationships/notesSlide" Target="/ppt/notesSlides/notesSlide26.xml" Id="R67e22c279e0340b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6c357228a6d458c" /><Relationship Type="http://schemas.openxmlformats.org/officeDocument/2006/relationships/notesSlide" Target="/ppt/notesSlides/notesSlide27.xml" Id="Rae4e2908b598477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t>Macro F1 trên cùng 550 ảnh Test</a:t>
            </a:r>
          </a:p>
        </c:rich>
      </c:tx>
      <c:overlay val="0"/>
      <c:txPr>
        <a:bodyPr xmlns:a="http://schemas.openxmlformats.org/drawingml/2006/main" anchorCtr="1"/>
        <a:lstStyle xmlns:a="http://schemas.openxmlformats.org/drawingml/2006/main"/>
        <a:p xmlns:a="http://schemas.openxmlformats.org/drawingml/2006/main">
          <a:pPr>
            <a:defRPr sz="1800"/>
          </a:pPr>
        </a:p>
      </c:txPr>
    </c:title>
    <c:plotArea>
      <c:barChart>
        <c:barDir val="col"/>
        <c:grouping val="clustered"/>
        <c:varyColors val="0"/>
        <c:ser>
          <c:idx val="0"/>
          <c:order val="0"/>
          <c:tx>
            <c:v>Suy giảm</c:v>
          </c:tx>
          <c:spPr>
            <a:solidFill xmlns:a="http://schemas.openxmlformats.org/drawingml/2006/main">
              <a:srgbClr val="9BAEBB"/>
            </a:solidFill>
          </c:spPr>
          <c:invertIfNegative val="0"/>
          <c:cat>
            <c:strRef>
              <c:f>'Chart Data'!$A$2:$A$4</c:f>
              <c:strCache>
                <c:ptCount val="3"/>
                <c:pt idx="0">
                  <c:v>Xung mạnh + median</c:v>
                </c:pt>
                <c:pt idx="1">
                  <c:v>Gaussian mạnh + Gaussian</c:v>
                </c:pt>
                <c:pt idx="2">
                  <c:v>Tối nhẹ + Gamma</c:v>
                </c:pt>
              </c:strCache>
            </c:strRef>
          </c:cat>
          <c:val>
            <c:numRef>
              <c:f>'Chart Data'!$B$2:$B$4</c:f>
              <c:numCache>
                <c:formatCode>0.0</c:formatCode>
                <c:ptCount val="3"/>
                <c:pt idx="0">
                  <c:v>0.686271</c:v>
                </c:pt>
                <c:pt idx="1">
                  <c:v>0.578707</c:v>
                </c:pt>
                <c:pt idx="2">
                  <c:v>0.912682</c:v>
                </c:pt>
              </c:numCache>
            </c:numRef>
          </c:val>
        </c:ser>
        <c:ser>
          <c:idx val="1"/>
          <c:order val="1"/>
          <c:tx>
            <c:v>Sau xử lý</c:v>
          </c:tx>
          <c:spPr>
            <a:solidFill xmlns:a="http://schemas.openxmlformats.org/drawingml/2006/main">
              <a:srgbClr val="146C64"/>
            </a:solidFill>
          </c:spPr>
          <c:invertIfNegative val="0"/>
          <c:cat>
            <c:strRef>
              <c:f>'Chart Data'!$C$2:$C$4</c:f>
              <c:strCache>
                <c:ptCount val="3"/>
                <c:pt idx="0">
                  <c:v>Xung mạnh + median</c:v>
                </c:pt>
                <c:pt idx="1">
                  <c:v>Gaussian mạnh + Gaussian</c:v>
                </c:pt>
                <c:pt idx="2">
                  <c:v>Tối nhẹ + Gamma</c:v>
                </c:pt>
              </c:strCache>
            </c:strRef>
          </c:cat>
          <c:val>
            <c:numRef>
              <c:f>'Chart Data'!$D$2:$D$4</c:f>
              <c:numCache>
                <c:formatCode>0.0</c:formatCode>
                <c:ptCount val="3"/>
                <c:pt idx="0">
                  <c:v>0.886924</c:v>
                </c:pt>
                <c:pt idx="1">
                  <c:v>0.695906</c:v>
                </c:pt>
                <c:pt idx="2">
                  <c:v>0.900166</c:v>
                </c:pt>
              </c:numCache>
            </c:numRef>
          </c:val>
        </c:ser>
        <c:dLbls>
          <c:numFmt formatCode="0.000" sourceLinked="0"/>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defRPr>
            </a:pPr>
          </a:p>
        </c:txPr>
        <c:crossAx val="48650112"/>
        <c:crossBetween val="between"/>
      </c:valAx>
    </c:plotArea>
    <c:legend>
      <c:legendPos val="b"/>
      <c:overlay val="0"/>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532CFD-3AFB-499A-8190-2DB8BF5251BD}"/>
              </a:ext>
            </a:extLst>
          </p:cNvPr>
          <p:cNvSpPr>
            <a:spLocks xmlns:a="http://schemas.openxmlformats.org/drawingml/2006/main" noGrp="1"/>
          </p:cNvSpPr>
          <p:nvPr/>
        </p:nvSpPr>
        <p:spPr>
          <a:xfrm xmlns:a="http://schemas.openxmlformats.org/drawingml/2006/main">
            <a:off x="619125" y="619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C3DADD"/>
                </a:solidFill>
              </a:defRPr>
            </a:defPPr>
          </a:lstStyle>
          <a:p xmlns:a="http://schemas.openxmlformats.org/drawingml/2006/main">
            <a:pPr>
              <a:defRPr sz="1725" b="0">
                <a:solidFill>
                  <a:srgbClr val="C3DADD"/>
                </a:solidFill>
              </a:defRPr>
            </a:pPr>
            <a:r>
              <a:rPr sz="1725" b="0">
                <a:solidFill>
                  <a:srgbClr val="C3DADD"/>
                </a:solidFill>
              </a:rPr>
              <a:t>BÁO CÁO BÀI TẬP LỚN MÔN XỬ LÝ ẢNH</a:t>
            </a:r>
          </a:p>
        </p:txBody>
      </p:sp>
      <p:sp>
        <p:nvSpPr>
          <p:cNvPr id="2" name="">
            <a:extLst xmlns:a="http://schemas.openxmlformats.org/drawingml/2006/main">
              <a:ext uri="{FF2B5EF4-FFF2-40B4-BE49-F238E27FC236}">
                <a16:creationId xmlns:a16="http://schemas.microsoft.com/office/drawing/2014/main" id="{BCCFD27D-1E49-452C-9704-06EA69904A72}"/>
              </a:ext>
            </a:extLst>
          </p:cNvPr>
          <p:cNvSpPr>
            <a:spLocks xmlns:a="http://schemas.openxmlformats.org/drawingml/2006/main" noGrp="1"/>
          </p:cNvSpPr>
          <p:nvPr/>
        </p:nvSpPr>
        <p:spPr>
          <a:xfrm xmlns:a="http://schemas.openxmlformats.org/drawingml/2006/main">
            <a:off x="619125" y="171450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FFFFF"/>
                </a:solidFill>
              </a:defRPr>
            </a:defPPr>
          </a:lstStyle>
          <a:p xmlns:a="http://schemas.openxmlformats.org/drawingml/2006/main">
            <a:pPr>
              <a:defRPr sz="3900" b="1">
                <a:solidFill>
                  <a:srgbClr val="FFFFFF"/>
                </a:solidFill>
              </a:defRPr>
            </a:pPr>
            <a:r>
              <a:rPr sz="3900" b="1">
                <a:solidFill>
                  <a:srgbClr val="FFFFFF"/>
                </a:solidFill>
              </a:rPr>
              <a:t>Tăng cường và phục hồi</a:t>
            </a:r>
          </a:p>
          <a:p xmlns:a="http://schemas.openxmlformats.org/drawingml/2006/main">
            <a:pPr>
              <a:defRPr sz="3900" b="1">
                <a:solidFill>
                  <a:srgbClr val="FFFFFF"/>
                </a:solidFill>
              </a:defRPr>
            </a:pPr>
            <a:r>
              <a:rPr sz="3900" b="1">
                <a:solidFill>
                  <a:srgbClr val="FFFFFF"/>
                </a:solidFill>
              </a:rPr>
              <a:t>ảnh hoa trong điều kiện suy giảm</a:t>
            </a:r>
          </a:p>
        </p:txBody>
      </p:sp>
      <p:sp>
        <p:nvSpPr>
          <p:cNvPr id="3" name="">
            <a:extLst xmlns:a="http://schemas.openxmlformats.org/drawingml/2006/main">
              <a:ext uri="{FF2B5EF4-FFF2-40B4-BE49-F238E27FC236}">
                <a16:creationId xmlns:a16="http://schemas.microsoft.com/office/drawing/2014/main" id="{19BF3915-3C3A-42EA-AD35-5EE612601442}"/>
              </a:ext>
            </a:extLst>
          </p:cNvPr>
          <p:cNvSpPr>
            <a:spLocks xmlns:a="http://schemas.openxmlformats.org/drawingml/2006/main" noGrp="1"/>
          </p:cNvSpPr>
          <p:nvPr/>
        </p:nvSpPr>
        <p:spPr>
          <a:xfrm xmlns:a="http://schemas.openxmlformats.org/drawingml/2006/main">
            <a:off x="647700" y="3952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D9E8ED"/>
                </a:solidFill>
              </a:defRPr>
            </a:defPPr>
          </a:lstStyle>
          <a:p xmlns:a="http://schemas.openxmlformats.org/drawingml/2006/main">
            <a:pPr>
              <a:defRPr sz="2250" b="0">
                <a:solidFill>
                  <a:srgbClr val="D9E8ED"/>
                </a:solidFill>
              </a:defRPr>
            </a:pPr>
            <a:r>
              <a:rPr sz="2250" b="0">
                <a:solidFill>
                  <a:srgbClr val="D9E8ED"/>
                </a:solidFill>
              </a:rPr>
              <a:t>Đánh giá chất lượng ảnh và tác động đến nhận diện</a:t>
            </a:r>
          </a:p>
          <a:p xmlns:a="http://schemas.openxmlformats.org/drawingml/2006/main">
            <a:pPr>
              <a:defRPr sz="2250" b="0">
                <a:solidFill>
                  <a:srgbClr val="D9E8ED"/>
                </a:solidFill>
              </a:defRPr>
            </a:pPr>
            <a:r>
              <a:rPr sz="2250" b="0">
                <a:solidFill>
                  <a:srgbClr val="D9E8ED"/>
                </a:solidFill>
              </a:rPr>
              <a:t>bằng MobileNetV2 cố định</a:t>
            </a:r>
          </a:p>
        </p:txBody>
      </p:sp>
      <p:sp>
        <p:nvSpPr>
          <p:cNvPr id="4" name="">
            <a:extLst xmlns:a="http://schemas.openxmlformats.org/drawingml/2006/main">
              <a:ext uri="{FF2B5EF4-FFF2-40B4-BE49-F238E27FC236}">
                <a16:creationId xmlns:a16="http://schemas.microsoft.com/office/drawing/2014/main" id="{EE3B345C-46CB-412A-BC62-2613838AE946}"/>
              </a:ext>
            </a:extLst>
          </p:cNvPr>
          <p:cNvSpPr>
            <a:spLocks xmlns:a="http://schemas.openxmlformats.org/drawingml/2006/main" noGrp="1"/>
          </p:cNvSpPr>
          <p:nvPr/>
        </p:nvSpPr>
        <p:spPr>
          <a:xfrm xmlns:a="http://schemas.openxmlformats.org/drawingml/2006/main">
            <a:off x="647700" y="5572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9E8ED"/>
                </a:solidFill>
              </a:defRPr>
            </a:defPPr>
          </a:lstStyle>
          <a:p xmlns:a="http://schemas.openxmlformats.org/drawingml/2006/main">
            <a:pPr>
              <a:defRPr sz="1875" b="0">
                <a:solidFill>
                  <a:srgbClr val="D9E8ED"/>
                </a:solidFill>
              </a:defRPr>
            </a:pPr>
            <a:r>
              <a:rPr sz="1875" b="0">
                <a:solidFill>
                  <a:srgbClr val="D9E8ED"/>
                </a:solidFill>
              </a:rPr>
              <a:t>5 dạng suy giảm  ·  49 điều kiện  ·  550 ảnh Test</a:t>
            </a:r>
          </a:p>
        </p:txBody>
      </p:sp>
      <p:sp>
        <p:nvSpPr>
          <p:cNvPr id="6" name="Thông tin nhóm 05">
            <a:extLst xmlns:a="http://schemas.openxmlformats.org/drawingml/2006/main">
              <a:ext uri="{FF2B5EF4-FFF2-40B4-BE49-F238E27FC236}">
                <a16:creationId xmlns:a16="http://schemas.microsoft.com/office/drawing/2014/main" id="{A56E9494-C6E6-40BA-BA34-A139343AEF21}"/>
              </a:ext>
            </a:extLst>
          </p:cNvPr>
          <p:cNvSpPr>
            <a:spLocks xmlns:a="http://schemas.openxmlformats.org/drawingml/2006/main" noGrp="1"/>
          </p:cNvSpPr>
          <p:nvPr/>
        </p:nvSpPr>
        <p:spPr>
          <a:xfrm xmlns:a="http://schemas.openxmlformats.org/drawingml/2006/main">
            <a:off x="647700" y="60769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a:solidFill>
                  <a:srgbClr val="D9E8ED"/>
                </a:solidFill>
              </a:defRPr>
            </a:defPPr>
            <a:lvl1pPr>
              <a:defRPr sz="1350">
                <a:solidFill>
                  <a:srgbClr val="D9E8ED"/>
                </a:solidFill>
              </a:defRPr>
            </a:lvl1pPr>
            <a:lvl2pPr>
              <a:defRPr sz="1350">
                <a:solidFill>
                  <a:srgbClr val="D9E8ED"/>
                </a:solidFill>
              </a:defRPr>
            </a:lvl2pPr>
            <a:lvl3pPr>
              <a:defRPr sz="1350">
                <a:solidFill>
                  <a:srgbClr val="D9E8ED"/>
                </a:solidFill>
              </a:defRPr>
            </a:lvl3pPr>
            <a:lvl4pPr>
              <a:defRPr sz="1350">
                <a:solidFill>
                  <a:srgbClr val="D9E8ED"/>
                </a:solidFill>
              </a:defRPr>
            </a:lvl4pPr>
            <a:lvl5pPr>
              <a:defRPr sz="1350">
                <a:solidFill>
                  <a:srgbClr val="D9E8ED"/>
                </a:solidFill>
              </a:defRPr>
            </a:lvl5pPr>
            <a:lvl6pPr>
              <a:defRPr sz="1350">
                <a:solidFill>
                  <a:srgbClr val="D9E8ED"/>
                </a:solidFill>
              </a:defRPr>
            </a:lvl6pPr>
            <a:lvl7pPr>
              <a:defRPr sz="1350">
                <a:solidFill>
                  <a:srgbClr val="D9E8ED"/>
                </a:solidFill>
              </a:defRPr>
            </a:lvl7pPr>
            <a:lvl8pPr>
              <a:defRPr sz="1350">
                <a:solidFill>
                  <a:srgbClr val="D9E8ED"/>
                </a:solidFill>
              </a:defRPr>
            </a:lvl8pPr>
            <a:lvl9pPr>
              <a:defRPr sz="1350">
                <a:solidFill>
                  <a:srgbClr val="D9E8ED"/>
                </a:solidFill>
              </a:defRPr>
            </a:lvl9pPr>
          </a:lstStyle>
          <a:p xmlns:a="http://schemas.openxmlformats.org/drawingml/2006/main">
            <a:pPr>
              <a:defRPr sz="1350">
                <a:solidFill>
                  <a:srgbClr val="D9E8ED"/>
                </a:solidFill>
              </a:defRPr>
            </a:pPr>
            <a:r>
              <a:rPr sz="1350">
                <a:solidFill>
                  <a:srgbClr val="D9E8ED"/>
                </a:solidFill>
              </a:rPr>
              <a:t>Nhóm 05   Giảng viên: TS. Nguyễn Ngọc Giang</a:t>
            </a:r>
          </a:p>
          <a:p xmlns:a="http://schemas.openxmlformats.org/drawingml/2006/main">
            <a:pPr>
              <a:defRPr sz="1350">
                <a:solidFill>
                  <a:srgbClr val="D9E8ED"/>
                </a:solidFill>
              </a:defRPr>
            </a:pPr>
            <a:r>
              <a:rPr sz="1350">
                <a:solidFill>
                  <a:srgbClr val="D9E8ED"/>
                </a:solidFill>
              </a:rPr>
              <a:t>Nguyễn Tùng Dương (24100358)   Trịnh Ngọc Nga (24100065)</a:t>
            </a:r>
          </a:p>
          <a:p xmlns:a="http://schemas.openxmlformats.org/drawingml/2006/main">
            <a:pPr>
              <a:defRPr sz="1350">
                <a:solidFill>
                  <a:srgbClr val="D9E8ED"/>
                </a:solidFill>
              </a:defRPr>
            </a:pPr>
            <a:r>
              <a:rPr sz="1350">
                <a:solidFill>
                  <a:srgbClr val="D9E8ED"/>
                </a:solidFill>
              </a:rPr>
              <a:t>Trương Việt Thành (24106898)</a:t>
            </a:r>
          </a:p>
        </p:txBody>
      </p:sp>
    </p:spTree>
    <p:extLst>
      <p:ext uri="{BB962C8B-B14F-4D97-AF65-F5344CB8AC3E}">
        <p14:creationId xmlns:p14="http://schemas.microsoft.com/office/powerpoint/2010/main" val="16848212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716286-62B6-4F3D-B85F-E19FEEDA23A6}"/>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Cấu trúc báo cáo</a:t>
            </a:r>
          </a:p>
        </p:txBody>
      </p:sp>
      <p:sp>
        <p:nvSpPr>
          <p:cNvPr id="2" name="">
            <a:extLst xmlns:a="http://schemas.openxmlformats.org/drawingml/2006/main">
              <a:ext uri="{FF2B5EF4-FFF2-40B4-BE49-F238E27FC236}">
                <a16:creationId xmlns:a16="http://schemas.microsoft.com/office/drawing/2014/main" id="{C9792CC7-6B3E-4055-BD1E-DE174B3016D5}"/>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Mục lục 12 chương</a:t>
            </a:r>
          </a:p>
        </p:txBody>
      </p:sp>
      <p:sp>
        <p:nvSpPr>
          <p:cNvPr id="3" name="">
            <a:extLst xmlns:a="http://schemas.openxmlformats.org/drawingml/2006/main">
              <a:ext uri="{FF2B5EF4-FFF2-40B4-BE49-F238E27FC236}">
                <a16:creationId xmlns:a16="http://schemas.microsoft.com/office/drawing/2014/main" id="{6D3842E8-1A66-4492-B07F-CB9C442A4D53}"/>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02</a:t>
            </a:r>
          </a:p>
        </p:txBody>
      </p:sp>
      <p:sp>
        <p:nvSpPr>
          <p:cNvPr id="4" name="">
            <a:extLst xmlns:a="http://schemas.openxmlformats.org/drawingml/2006/main">
              <a:ext uri="{FF2B5EF4-FFF2-40B4-BE49-F238E27FC236}">
                <a16:creationId xmlns:a16="http://schemas.microsoft.com/office/drawing/2014/main" id="{BA36A86D-995B-4E44-A1B9-A259AA05C9AD}"/>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A1712678-1C42-4774-9112-238C3012A6D0}"/>
              </a:ext>
            </a:extLst>
          </p:cNvPr>
          <p:cNvSpPr>
            <a:spLocks xmlns:a="http://schemas.openxmlformats.org/drawingml/2006/main" noGrp="1"/>
          </p:cNvSpPr>
          <p:nvPr/>
        </p:nvSpPr>
        <p:spPr>
          <a:xfrm xmlns:a="http://schemas.openxmlformats.org/drawingml/2006/main">
            <a:off x="619125" y="20955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01  Giới thiệu</a:t>
            </a:r>
          </a:p>
        </p:txBody>
      </p:sp>
      <p:sp>
        <p:nvSpPr>
          <p:cNvPr id="6" name="">
            <a:extLst xmlns:a="http://schemas.openxmlformats.org/drawingml/2006/main">
              <a:ext uri="{FF2B5EF4-FFF2-40B4-BE49-F238E27FC236}">
                <a16:creationId xmlns:a16="http://schemas.microsoft.com/office/drawing/2014/main" id="{6A36544B-2772-482E-90EB-84094BAF5171}"/>
              </a:ext>
            </a:extLst>
          </p:cNvPr>
          <p:cNvSpPr>
            <a:spLocks xmlns:a="http://schemas.openxmlformats.org/drawingml/2006/main" noGrp="1"/>
          </p:cNvSpPr>
          <p:nvPr/>
        </p:nvSpPr>
        <p:spPr>
          <a:xfrm xmlns:a="http://schemas.openxmlformats.org/drawingml/2006/main">
            <a:off x="619125" y="26860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02  Cơ sở lý thuyết</a:t>
            </a:r>
          </a:p>
        </p:txBody>
      </p:sp>
      <p:sp>
        <p:nvSpPr>
          <p:cNvPr id="7" name="">
            <a:extLst xmlns:a="http://schemas.openxmlformats.org/drawingml/2006/main">
              <a:ext uri="{FF2B5EF4-FFF2-40B4-BE49-F238E27FC236}">
                <a16:creationId xmlns:a16="http://schemas.microsoft.com/office/drawing/2014/main" id="{00984245-E8E4-4F84-B425-AA038278475D}"/>
              </a:ext>
            </a:extLst>
          </p:cNvPr>
          <p:cNvSpPr>
            <a:spLocks xmlns:a="http://schemas.openxmlformats.org/drawingml/2006/main" noGrp="1"/>
          </p:cNvSpPr>
          <p:nvPr/>
        </p:nvSpPr>
        <p:spPr>
          <a:xfrm xmlns:a="http://schemas.openxmlformats.org/drawingml/2006/main">
            <a:off x="619125" y="32766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03  Dữ liệu và phân tích khám phá</a:t>
            </a:r>
          </a:p>
        </p:txBody>
      </p:sp>
      <p:sp>
        <p:nvSpPr>
          <p:cNvPr id="8" name="">
            <a:extLst xmlns:a="http://schemas.openxmlformats.org/drawingml/2006/main">
              <a:ext uri="{FF2B5EF4-FFF2-40B4-BE49-F238E27FC236}">
                <a16:creationId xmlns:a16="http://schemas.microsoft.com/office/drawing/2014/main" id="{F8E1E04F-34E5-41BD-B14F-BC9B5F7CE0DC}"/>
              </a:ext>
            </a:extLst>
          </p:cNvPr>
          <p:cNvSpPr>
            <a:spLocks xmlns:a="http://schemas.openxmlformats.org/drawingml/2006/main" noGrp="1"/>
          </p:cNvSpPr>
          <p:nvPr/>
        </p:nvSpPr>
        <p:spPr>
          <a:xfrm xmlns:a="http://schemas.openxmlformats.org/drawingml/2006/main">
            <a:off x="619125" y="38671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04  Kỹ thuật tăng cường và phục hồi</a:t>
            </a:r>
          </a:p>
        </p:txBody>
      </p:sp>
      <p:sp>
        <p:nvSpPr>
          <p:cNvPr id="9" name="">
            <a:extLst xmlns:a="http://schemas.openxmlformats.org/drawingml/2006/main">
              <a:ext uri="{FF2B5EF4-FFF2-40B4-BE49-F238E27FC236}">
                <a16:creationId xmlns:a16="http://schemas.microsoft.com/office/drawing/2014/main" id="{863C74D5-F6A9-491E-88BE-8CF60FEFC63C}"/>
              </a:ext>
            </a:extLst>
          </p:cNvPr>
          <p:cNvSpPr>
            <a:spLocks xmlns:a="http://schemas.openxmlformats.org/drawingml/2006/main" noGrp="1"/>
          </p:cNvSpPr>
          <p:nvPr/>
        </p:nvSpPr>
        <p:spPr>
          <a:xfrm xmlns:a="http://schemas.openxmlformats.org/drawingml/2006/main">
            <a:off x="619125" y="44577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05  Thiết kế thực nghiệm</a:t>
            </a:r>
          </a:p>
        </p:txBody>
      </p:sp>
      <p:sp>
        <p:nvSpPr>
          <p:cNvPr id="10" name="">
            <a:extLst xmlns:a="http://schemas.openxmlformats.org/drawingml/2006/main">
              <a:ext uri="{FF2B5EF4-FFF2-40B4-BE49-F238E27FC236}">
                <a16:creationId xmlns:a16="http://schemas.microsoft.com/office/drawing/2014/main" id="{4515B3C9-6109-4402-B569-FCB2B191E9CB}"/>
              </a:ext>
            </a:extLst>
          </p:cNvPr>
          <p:cNvSpPr>
            <a:spLocks xmlns:a="http://schemas.openxmlformats.org/drawingml/2006/main" noGrp="1"/>
          </p:cNvSpPr>
          <p:nvPr/>
        </p:nvSpPr>
        <p:spPr>
          <a:xfrm xmlns:a="http://schemas.openxmlformats.org/drawingml/2006/main">
            <a:off x="619125" y="50482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06  Kết quả chất lượng ảnh</a:t>
            </a:r>
          </a:p>
        </p:txBody>
      </p:sp>
      <p:sp>
        <p:nvSpPr>
          <p:cNvPr id="11" name="">
            <a:extLst xmlns:a="http://schemas.openxmlformats.org/drawingml/2006/main">
              <a:ext uri="{FF2B5EF4-FFF2-40B4-BE49-F238E27FC236}">
                <a16:creationId xmlns:a16="http://schemas.microsoft.com/office/drawing/2014/main" id="{6D84B5C4-4CB9-40FD-A5BB-1BF7CE5811C7}"/>
              </a:ext>
            </a:extLst>
          </p:cNvPr>
          <p:cNvSpPr>
            <a:spLocks xmlns:a="http://schemas.openxmlformats.org/drawingml/2006/main" noGrp="1"/>
          </p:cNvSpPr>
          <p:nvPr/>
        </p:nvSpPr>
        <p:spPr>
          <a:xfrm xmlns:a="http://schemas.openxmlformats.org/drawingml/2006/main">
            <a:off x="6429375" y="20955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07  Tác động đến nhận diện</a:t>
            </a:r>
          </a:p>
        </p:txBody>
      </p:sp>
      <p:sp>
        <p:nvSpPr>
          <p:cNvPr id="12" name="">
            <a:extLst xmlns:a="http://schemas.openxmlformats.org/drawingml/2006/main">
              <a:ext uri="{FF2B5EF4-FFF2-40B4-BE49-F238E27FC236}">
                <a16:creationId xmlns:a16="http://schemas.microsoft.com/office/drawing/2014/main" id="{92BB0413-D19D-49E8-8E0F-92A5EDE629B2}"/>
              </a:ext>
            </a:extLst>
          </p:cNvPr>
          <p:cNvSpPr>
            <a:spLocks xmlns:a="http://schemas.openxmlformats.org/drawingml/2006/main" noGrp="1"/>
          </p:cNvSpPr>
          <p:nvPr/>
        </p:nvSpPr>
        <p:spPr>
          <a:xfrm xmlns:a="http://schemas.openxmlformats.org/drawingml/2006/main">
            <a:off x="6429375" y="26860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08  Phân tích và thảo luận</a:t>
            </a:r>
          </a:p>
        </p:txBody>
      </p:sp>
      <p:sp>
        <p:nvSpPr>
          <p:cNvPr id="13" name="">
            <a:extLst xmlns:a="http://schemas.openxmlformats.org/drawingml/2006/main">
              <a:ext uri="{FF2B5EF4-FFF2-40B4-BE49-F238E27FC236}">
                <a16:creationId xmlns:a16="http://schemas.microsoft.com/office/drawing/2014/main" id="{01A75515-B022-468A-8909-C2E7BADD9FC1}"/>
              </a:ext>
            </a:extLst>
          </p:cNvPr>
          <p:cNvSpPr>
            <a:spLocks xmlns:a="http://schemas.openxmlformats.org/drawingml/2006/main" noGrp="1"/>
          </p:cNvSpPr>
          <p:nvPr/>
        </p:nvSpPr>
        <p:spPr>
          <a:xfrm xmlns:a="http://schemas.openxmlformats.org/drawingml/2006/main">
            <a:off x="6429375" y="32766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09  Phân tích lỗi</a:t>
            </a:r>
          </a:p>
        </p:txBody>
      </p:sp>
      <p:sp>
        <p:nvSpPr>
          <p:cNvPr id="14" name="">
            <a:extLst xmlns:a="http://schemas.openxmlformats.org/drawingml/2006/main">
              <a:ext uri="{FF2B5EF4-FFF2-40B4-BE49-F238E27FC236}">
                <a16:creationId xmlns:a16="http://schemas.microsoft.com/office/drawing/2014/main" id="{11B76767-3109-4A66-A3AD-B7D190912BF4}"/>
              </a:ext>
            </a:extLst>
          </p:cNvPr>
          <p:cNvSpPr>
            <a:spLocks xmlns:a="http://schemas.openxmlformats.org/drawingml/2006/main" noGrp="1"/>
          </p:cNvSpPr>
          <p:nvPr/>
        </p:nvSpPr>
        <p:spPr>
          <a:xfrm xmlns:a="http://schemas.openxmlformats.org/drawingml/2006/main">
            <a:off x="6429375" y="38671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10  Ứng dụng và triển khai</a:t>
            </a:r>
          </a:p>
        </p:txBody>
      </p:sp>
      <p:sp>
        <p:nvSpPr>
          <p:cNvPr id="15" name="">
            <a:extLst xmlns:a="http://schemas.openxmlformats.org/drawingml/2006/main">
              <a:ext uri="{FF2B5EF4-FFF2-40B4-BE49-F238E27FC236}">
                <a16:creationId xmlns:a16="http://schemas.microsoft.com/office/drawing/2014/main" id="{FA70919B-D1DB-49E9-A33D-07133D954A29}"/>
              </a:ext>
            </a:extLst>
          </p:cNvPr>
          <p:cNvSpPr>
            <a:spLocks xmlns:a="http://schemas.openxmlformats.org/drawingml/2006/main" noGrp="1"/>
          </p:cNvSpPr>
          <p:nvPr/>
        </p:nvSpPr>
        <p:spPr>
          <a:xfrm xmlns:a="http://schemas.openxmlformats.org/drawingml/2006/main">
            <a:off x="6429375" y="44577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11  Kết luận</a:t>
            </a:r>
          </a:p>
        </p:txBody>
      </p:sp>
      <p:sp>
        <p:nvSpPr>
          <p:cNvPr id="16" name="">
            <a:extLst xmlns:a="http://schemas.openxmlformats.org/drawingml/2006/main">
              <a:ext uri="{FF2B5EF4-FFF2-40B4-BE49-F238E27FC236}">
                <a16:creationId xmlns:a16="http://schemas.microsoft.com/office/drawing/2014/main" id="{8560DA05-EA18-4E50-8647-B3A17D79C25C}"/>
              </a:ext>
            </a:extLst>
          </p:cNvPr>
          <p:cNvSpPr>
            <a:spLocks xmlns:a="http://schemas.openxmlformats.org/drawingml/2006/main" noGrp="1"/>
          </p:cNvSpPr>
          <p:nvPr/>
        </p:nvSpPr>
        <p:spPr>
          <a:xfrm xmlns:a="http://schemas.openxmlformats.org/drawingml/2006/main">
            <a:off x="6429375" y="50482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0"/>
                </a:solidFill>
              </a:defRPr>
            </a:defPPr>
          </a:lstStyle>
          <a:p xmlns:a="http://schemas.openxmlformats.org/drawingml/2006/main">
            <a:pPr>
              <a:defRPr sz="1875" b="0">
                <a:solidFill>
                  <a:srgbClr val="142C40"/>
                </a:solidFill>
              </a:defRPr>
            </a:pPr>
            <a:r>
              <a:rPr sz="1875" b="0">
                <a:solidFill>
                  <a:srgbClr val="142C40"/>
                </a:solidFill>
              </a:rPr>
              <a:t>12  Hạn chế và hướng phát triển</a:t>
            </a:r>
          </a:p>
        </p:txBody>
      </p:sp>
    </p:spTree>
    <p:extLst>
      <p:ext uri="{BB962C8B-B14F-4D97-AF65-F5344CB8AC3E}">
        <p14:creationId xmlns:p14="http://schemas.microsoft.com/office/powerpoint/2010/main" val="4516699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39EB0E-2FB8-4EA8-97C1-168ED9CBAFF5}"/>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Câu hỏi và phạm vi đánh giá</a:t>
            </a:r>
          </a:p>
        </p:txBody>
      </p:sp>
      <p:sp>
        <p:nvSpPr>
          <p:cNvPr id="2" name="">
            <a:extLst xmlns:a="http://schemas.openxmlformats.org/drawingml/2006/main">
              <a:ext uri="{FF2B5EF4-FFF2-40B4-BE49-F238E27FC236}">
                <a16:creationId xmlns:a16="http://schemas.microsoft.com/office/drawing/2014/main" id="{530E2F9F-9A25-4A2F-BBAA-581E10441941}"/>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1  Giới thiệu</a:t>
            </a:r>
          </a:p>
        </p:txBody>
      </p:sp>
      <p:sp>
        <p:nvSpPr>
          <p:cNvPr id="3" name="">
            <a:extLst xmlns:a="http://schemas.openxmlformats.org/drawingml/2006/main">
              <a:ext uri="{FF2B5EF4-FFF2-40B4-BE49-F238E27FC236}">
                <a16:creationId xmlns:a16="http://schemas.microsoft.com/office/drawing/2014/main" id="{1BAEEA75-4559-4B37-A057-6F59C42AC8BB}"/>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03</a:t>
            </a:r>
          </a:p>
        </p:txBody>
      </p:sp>
      <p:sp>
        <p:nvSpPr>
          <p:cNvPr id="4" name="">
            <a:extLst xmlns:a="http://schemas.openxmlformats.org/drawingml/2006/main">
              <a:ext uri="{FF2B5EF4-FFF2-40B4-BE49-F238E27FC236}">
                <a16:creationId xmlns:a16="http://schemas.microsoft.com/office/drawing/2014/main" id="{6D418797-1BFC-4DB5-87D7-C69B4E7C2561}"/>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DE44E866-BF63-495B-A156-86F5629B5E07}"/>
              </a:ext>
            </a:extLst>
          </p:cNvPr>
          <p:cNvSpPr>
            <a:spLocks xmlns:a="http://schemas.openxmlformats.org/drawingml/2006/main" noGrp="1"/>
          </p:cNvSpPr>
          <p:nvPr/>
        </p:nvSpPr>
        <p:spPr>
          <a:xfrm xmlns:a="http://schemas.openxmlformats.org/drawingml/2006/main">
            <a:off x="619125" y="209550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Suy giảm làm thay đổi pixel, cấu trúc và màu như thế nào?</a:t>
            </a:r>
          </a:p>
        </p:txBody>
      </p:sp>
      <p:sp>
        <p:nvSpPr>
          <p:cNvPr id="6" name="">
            <a:extLst xmlns:a="http://schemas.openxmlformats.org/drawingml/2006/main">
              <a:ext uri="{FF2B5EF4-FFF2-40B4-BE49-F238E27FC236}">
                <a16:creationId xmlns:a16="http://schemas.microsoft.com/office/drawing/2014/main" id="{61108145-0D0F-4CF0-BD29-4839B6FA5D24}"/>
              </a:ext>
            </a:extLst>
          </p:cNvPr>
          <p:cNvSpPr>
            <a:spLocks xmlns:a="http://schemas.openxmlformats.org/drawingml/2006/main" noGrp="1"/>
          </p:cNvSpPr>
          <p:nvPr/>
        </p:nvSpPr>
        <p:spPr>
          <a:xfrm xmlns:a="http://schemas.openxmlformats.org/drawingml/2006/main">
            <a:off x="619125" y="297180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Kỹ thuật nào giảm nhiễu nhưng vẫn giữ được biên và chi tiết?</a:t>
            </a:r>
          </a:p>
        </p:txBody>
      </p:sp>
      <p:sp>
        <p:nvSpPr>
          <p:cNvPr id="7" name="">
            <a:extLst xmlns:a="http://schemas.openxmlformats.org/drawingml/2006/main">
              <a:ext uri="{FF2B5EF4-FFF2-40B4-BE49-F238E27FC236}">
                <a16:creationId xmlns:a16="http://schemas.microsoft.com/office/drawing/2014/main" id="{15D3A625-8535-4306-B24B-BC6D66EBB7FB}"/>
              </a:ext>
            </a:extLst>
          </p:cNvPr>
          <p:cNvSpPr>
            <a:spLocks xmlns:a="http://schemas.openxmlformats.org/drawingml/2006/main" noGrp="1"/>
          </p:cNvSpPr>
          <p:nvPr/>
        </p:nvSpPr>
        <p:spPr>
          <a:xfrm xmlns:a="http://schemas.openxmlformats.org/drawingml/2006/main">
            <a:off x="619125" y="384810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Chất lượng ảnh tốt hơn có giúp nhận diện tốt hơn?</a:t>
            </a:r>
          </a:p>
        </p:txBody>
      </p:sp>
      <p:sp>
        <p:nvSpPr>
          <p:cNvPr id="8" name="">
            <a:extLst xmlns:a="http://schemas.openxmlformats.org/drawingml/2006/main">
              <a:ext uri="{FF2B5EF4-FFF2-40B4-BE49-F238E27FC236}">
                <a16:creationId xmlns:a16="http://schemas.microsoft.com/office/drawing/2014/main" id="{BC1A9C84-73C2-4A35-B1C4-4EE187A78675}"/>
              </a:ext>
            </a:extLst>
          </p:cNvPr>
          <p:cNvSpPr>
            <a:spLocks xmlns:a="http://schemas.openxmlformats.org/drawingml/2006/main" noGrp="1"/>
          </p:cNvSpPr>
          <p:nvPr/>
        </p:nvSpPr>
        <p:spPr>
          <a:xfrm xmlns:a="http://schemas.openxmlformats.org/drawingml/2006/main">
            <a:off x="619125" y="472440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Phạm vi: 5 lớp hoa, suy giảm tổng hợp, một split và checkpoint.</a:t>
            </a:r>
          </a:p>
        </p:txBody>
      </p:sp>
    </p:spTree>
    <p:extLst>
      <p:ext uri="{BB962C8B-B14F-4D97-AF65-F5344CB8AC3E}">
        <p14:creationId xmlns:p14="http://schemas.microsoft.com/office/powerpoint/2010/main" val="17318072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B2E5AC-7D81-46DB-9C92-33F84C7C3F51}"/>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Cơ chế xử lý và những đánh đổi</a:t>
            </a:r>
          </a:p>
        </p:txBody>
      </p:sp>
      <p:sp>
        <p:nvSpPr>
          <p:cNvPr id="2" name="">
            <a:extLst xmlns:a="http://schemas.openxmlformats.org/drawingml/2006/main">
              <a:ext uri="{FF2B5EF4-FFF2-40B4-BE49-F238E27FC236}">
                <a16:creationId xmlns:a16="http://schemas.microsoft.com/office/drawing/2014/main" id="{688A0892-A420-44BE-B8A5-208DC456E84B}"/>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2  Cơ sở lý thuyết</a:t>
            </a:r>
          </a:p>
        </p:txBody>
      </p:sp>
      <p:sp>
        <p:nvSpPr>
          <p:cNvPr id="3" name="">
            <a:extLst xmlns:a="http://schemas.openxmlformats.org/drawingml/2006/main">
              <a:ext uri="{FF2B5EF4-FFF2-40B4-BE49-F238E27FC236}">
                <a16:creationId xmlns:a16="http://schemas.microsoft.com/office/drawing/2014/main" id="{B6989741-8179-42F1-97E6-5221F11218C3}"/>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04</a:t>
            </a:r>
          </a:p>
        </p:txBody>
      </p:sp>
      <p:sp>
        <p:nvSpPr>
          <p:cNvPr id="4" name="">
            <a:extLst xmlns:a="http://schemas.openxmlformats.org/drawingml/2006/main">
              <a:ext uri="{FF2B5EF4-FFF2-40B4-BE49-F238E27FC236}">
                <a16:creationId xmlns:a16="http://schemas.microsoft.com/office/drawing/2014/main" id="{3819FA45-D183-4E1E-B464-B5CDC6233277}"/>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A2407CC7-C161-41CC-9FA1-BE371458AFFA}"/>
              </a:ext>
            </a:extLst>
          </p:cNvPr>
          <p:cNvSpPr>
            <a:spLocks xmlns:a="http://schemas.openxmlformats.org/drawingml/2006/main" noGrp="1"/>
          </p:cNvSpPr>
          <p:nvPr/>
        </p:nvSpPr>
        <p:spPr>
          <a:xfrm xmlns:a="http://schemas.openxmlformats.org/drawingml/2006/main">
            <a:off x="619125" y="2095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Ánh xạ cường độ: nâng sáng và tương phản, có thể làm nổi nhiễu.</a:t>
            </a:r>
          </a:p>
        </p:txBody>
      </p:sp>
      <p:sp>
        <p:nvSpPr>
          <p:cNvPr id="6" name="">
            <a:extLst xmlns:a="http://schemas.openxmlformats.org/drawingml/2006/main">
              <a:ext uri="{FF2B5EF4-FFF2-40B4-BE49-F238E27FC236}">
                <a16:creationId xmlns:a16="http://schemas.microsoft.com/office/drawing/2014/main" id="{E7E7E0DA-9339-4D9A-BF4F-473D51AC7AF6}"/>
              </a:ext>
            </a:extLst>
          </p:cNvPr>
          <p:cNvSpPr>
            <a:spLocks xmlns:a="http://schemas.openxmlformats.org/drawingml/2006/main" noGrp="1"/>
          </p:cNvSpPr>
          <p:nvPr/>
        </p:nvSpPr>
        <p:spPr>
          <a:xfrm xmlns:a="http://schemas.openxmlformats.org/drawingml/2006/main">
            <a:off x="619125" y="2971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Lọc lân cận: giảm nhiễu cùng nguy cơ mất texture và biên.</a:t>
            </a:r>
          </a:p>
        </p:txBody>
      </p:sp>
      <p:sp>
        <p:nvSpPr>
          <p:cNvPr id="7" name="">
            <a:extLst xmlns:a="http://schemas.openxmlformats.org/drawingml/2006/main">
              <a:ext uri="{FF2B5EF4-FFF2-40B4-BE49-F238E27FC236}">
                <a16:creationId xmlns:a16="http://schemas.microsoft.com/office/drawing/2014/main" id="{B7C138EC-321D-47C4-B5D3-16E08DBEC313}"/>
              </a:ext>
            </a:extLst>
          </p:cNvPr>
          <p:cNvSpPr>
            <a:spLocks xmlns:a="http://schemas.openxmlformats.org/drawingml/2006/main" noGrp="1"/>
          </p:cNvSpPr>
          <p:nvPr/>
        </p:nvSpPr>
        <p:spPr>
          <a:xfrm xmlns:a="http://schemas.openxmlformats.org/drawingml/2006/main">
            <a:off x="619125" y="38481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Làm sắc nét: tăng phần dư chi tiết, có thể tạo halo.</a:t>
            </a:r>
          </a:p>
        </p:txBody>
      </p:sp>
      <p:sp>
        <p:nvSpPr>
          <p:cNvPr id="8" name="">
            <a:extLst xmlns:a="http://schemas.openxmlformats.org/drawingml/2006/main">
              <a:ext uri="{FF2B5EF4-FFF2-40B4-BE49-F238E27FC236}">
                <a16:creationId xmlns:a16="http://schemas.microsoft.com/office/drawing/2014/main" id="{4F4774E8-B230-43F6-8FFF-9DF9DDFA7F04}"/>
              </a:ext>
            </a:extLst>
          </p:cNvPr>
          <p:cNvSpPr>
            <a:spLocks xmlns:a="http://schemas.openxmlformats.org/drawingml/2006/main" noGrp="1"/>
          </p:cNvSpPr>
          <p:nvPr/>
        </p:nvSpPr>
        <p:spPr>
          <a:xfrm xmlns:a="http://schemas.openxmlformats.org/drawingml/2006/main">
            <a:off x="619125" y="47244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Hiệu chỉnh màu: thay phân bố màu, có thể mất dấu hiệu của hoa.</a:t>
            </a:r>
          </a:p>
        </p:txBody>
      </p:sp>
    </p:spTree>
    <p:extLst>
      <p:ext uri="{BB962C8B-B14F-4D97-AF65-F5344CB8AC3E}">
        <p14:creationId xmlns:p14="http://schemas.microsoft.com/office/powerpoint/2010/main" val="4971091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61F769-3F5C-4291-8897-19DC25E05993}"/>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Dữ liệu và chia tập theo nhóm hash</a:t>
            </a:r>
          </a:p>
        </p:txBody>
      </p:sp>
      <p:sp>
        <p:nvSpPr>
          <p:cNvPr id="2" name="">
            <a:extLst xmlns:a="http://schemas.openxmlformats.org/drawingml/2006/main">
              <a:ext uri="{FF2B5EF4-FFF2-40B4-BE49-F238E27FC236}">
                <a16:creationId xmlns:a16="http://schemas.microsoft.com/office/drawing/2014/main" id="{1D712D75-C1C7-48F2-90B6-E772393A8123}"/>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3  Dữ liệu và phân tích khám phá</a:t>
            </a:r>
          </a:p>
        </p:txBody>
      </p:sp>
      <p:sp>
        <p:nvSpPr>
          <p:cNvPr id="3" name="">
            <a:extLst xmlns:a="http://schemas.openxmlformats.org/drawingml/2006/main">
              <a:ext uri="{FF2B5EF4-FFF2-40B4-BE49-F238E27FC236}">
                <a16:creationId xmlns:a16="http://schemas.microsoft.com/office/drawing/2014/main" id="{A059DEEB-FD10-4DBA-82BA-38A9283063CB}"/>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05</a:t>
            </a:r>
          </a:p>
        </p:txBody>
      </p:sp>
      <p:sp>
        <p:nvSpPr>
          <p:cNvPr id="4" name="">
            <a:extLst xmlns:a="http://schemas.openxmlformats.org/drawingml/2006/main">
              <a:ext uri="{FF2B5EF4-FFF2-40B4-BE49-F238E27FC236}">
                <a16:creationId xmlns:a16="http://schemas.microsoft.com/office/drawing/2014/main" id="{C568892E-6739-4984-9F9B-B8E08FD1BB3D}"/>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graphicFrame>
        <p:nvGraphicFramePr>
          <p:cNvPr id="5" name="">
            <a:extLst xmlns:a="http://schemas.openxmlformats.org/drawingml/2006/main">
              <a:ext uri="{FF2B5EF4-FFF2-40B4-BE49-F238E27FC236}">
                <a16:creationId xmlns:a16="http://schemas.microsoft.com/office/drawing/2014/main" id="{C3DECE0E-55D8-41D4-9976-7E8C6A1C9FA5}"/>
              </a:ext>
            </a:extLst>
          </p:cNvPr>
          <p:cNvGraphicFramePr/>
          <p:nvPr/>
        </p:nvGraphicFramePr>
        <p:xfrm>
          <a:off xmlns:a="http://schemas.openxmlformats.org/drawingml/2006/main" x="619125" y="1952625"/>
          <a:ext xmlns:a="http://schemas.openxmlformats.org/drawingml/2006/main" cx="10953750" cy="3333750"/>
        </p:xfrm>
        <a:graphic xmlns:a="http://schemas.openxmlformats.org/drawingml/2006/main">
          <a:graphicData uri="http://schemas.openxmlformats.org/drawingml/2006/table">
            <a:tbl>
              <a:tblPr/>
              <a:tblGrid>
                <a:gridCol w="2952750"/>
                <a:gridCol w="2000250"/>
                <a:gridCol w="2000250"/>
                <a:gridCol w="2000250"/>
                <a:gridCol w="2000250"/>
              </a:tblGrid>
              <a:tr h="476250">
                <a:tc>
                  <a:txBody>
                    <a:bodyPr/>
                    <a:lstStyle/>
                    <a:p>
                      <a:r>
                        <a:rPr sz="1800" b="1">
                          <a:solidFill>
                            <a:srgbClr val="FFFFFF"/>
                          </a:solidFill>
                        </a:rPr>
                        <a:t>Lớp</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c>
                  <a:txBody>
                    <a:bodyPr/>
                    <a:lstStyle/>
                    <a:p>
                      <a:r>
                        <a:rPr sz="1800" b="1">
                          <a:solidFill>
                            <a:srgbClr val="FFFFFF"/>
                          </a:solidFill>
                        </a:rPr>
                        <a:t>Tổng</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c>
                  <a:txBody>
                    <a:bodyPr/>
                    <a:lstStyle/>
                    <a:p>
                      <a:r>
                        <a:rPr sz="1800" b="1">
                          <a:solidFill>
                            <a:srgbClr val="FFFFFF"/>
                          </a:solidFill>
                        </a:rPr>
                        <a:t>Train</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c>
                  <a:txBody>
                    <a:bodyPr/>
                    <a:lstStyle/>
                    <a:p>
                      <a:r>
                        <a:rPr sz="1800" b="1">
                          <a:solidFill>
                            <a:srgbClr val="FFFFFF"/>
                          </a:solidFill>
                        </a:rPr>
                        <a:t>Validation</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c>
                  <a:txBody>
                    <a:bodyPr/>
                    <a:lstStyle/>
                    <a:p>
                      <a:r>
                        <a:rPr sz="1800" b="1">
                          <a:solidFill>
                            <a:srgbClr val="FFFFFF"/>
                          </a:solidFill>
                        </a:rPr>
                        <a:t>Test</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r>
              <a:tr h="476250">
                <a:tc>
                  <a:txBody>
                    <a:bodyPr/>
                    <a:lstStyle/>
                    <a:p>
                      <a:r>
                        <a:rPr sz="1800" b="0">
                          <a:solidFill>
                            <a:srgbClr val="142C40"/>
                          </a:solidFill>
                        </a:rPr>
                        <a:t>daisy</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633</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445</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94</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94</a:t>
                      </a:r>
                    </a:p>
                  </a:txBody>
                  <a:tcPr marL="91440" marR="91440" marT="45720" marB="45720">
                    <a:lnR w="9525">
                      <a:solidFill>
                        <a:srgbClr val="D9D9D9"/>
                      </a:solidFill>
                      <a:prstDash val="solid"/>
                    </a:lnR>
                    <a:lnB w="9525">
                      <a:solidFill>
                        <a:srgbClr val="D9D9D9"/>
                      </a:solidFill>
                      <a:prstDash val="solid"/>
                    </a:lnB>
                    <a:solidFill>
                      <a:srgbClr val="FFFFFF"/>
                    </a:solidFill>
                  </a:tcPr>
                </a:tc>
              </a:tr>
              <a:tr h="476250">
                <a:tc>
                  <a:txBody>
                    <a:bodyPr/>
                    <a:lstStyle/>
                    <a:p>
                      <a:r>
                        <a:rPr sz="1800" b="0">
                          <a:solidFill>
                            <a:srgbClr val="142C40"/>
                          </a:solidFill>
                        </a:rPr>
                        <a:t>dandelion</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898</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628</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135</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135</a:t>
                      </a:r>
                    </a:p>
                  </a:txBody>
                  <a:tcPr marL="91440" marR="91440" marT="45720" marB="45720">
                    <a:lnR w="9525">
                      <a:solidFill>
                        <a:srgbClr val="D9D9D9"/>
                      </a:solidFill>
                      <a:prstDash val="solid"/>
                    </a:lnR>
                    <a:lnB w="9525">
                      <a:solidFill>
                        <a:srgbClr val="D9D9D9"/>
                      </a:solidFill>
                      <a:prstDash val="solid"/>
                    </a:lnB>
                    <a:solidFill>
                      <a:srgbClr val="EDF3F6"/>
                    </a:solidFill>
                  </a:tcPr>
                </a:tc>
              </a:tr>
              <a:tr h="476250">
                <a:tc>
                  <a:txBody>
                    <a:bodyPr/>
                    <a:lstStyle/>
                    <a:p>
                      <a:r>
                        <a:rPr sz="1800" b="0">
                          <a:solidFill>
                            <a:srgbClr val="142C40"/>
                          </a:solidFill>
                        </a:rPr>
                        <a:t>roses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641</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449</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96</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96</a:t>
                      </a:r>
                    </a:p>
                  </a:txBody>
                  <a:tcPr marL="91440" marR="91440" marT="45720" marB="45720">
                    <a:lnR w="9525">
                      <a:solidFill>
                        <a:srgbClr val="D9D9D9"/>
                      </a:solidFill>
                      <a:prstDash val="solid"/>
                    </a:lnR>
                    <a:lnB w="9525">
                      <a:solidFill>
                        <a:srgbClr val="D9D9D9"/>
                      </a:solidFill>
                      <a:prstDash val="solid"/>
                    </a:lnB>
                    <a:solidFill>
                      <a:srgbClr val="FFFFFF"/>
                    </a:solidFill>
                  </a:tcPr>
                </a:tc>
              </a:tr>
              <a:tr h="476250">
                <a:tc>
                  <a:txBody>
                    <a:bodyPr/>
                    <a:lstStyle/>
                    <a:p>
                      <a:r>
                        <a:rPr sz="1800" b="0">
                          <a:solidFill>
                            <a:srgbClr val="142C40"/>
                          </a:solidFill>
                        </a:rPr>
                        <a:t>sunflowers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699</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490</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104</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105</a:t>
                      </a:r>
                    </a:p>
                  </a:txBody>
                  <a:tcPr marL="91440" marR="91440" marT="45720" marB="45720">
                    <a:lnR w="9525">
                      <a:solidFill>
                        <a:srgbClr val="D9D9D9"/>
                      </a:solidFill>
                      <a:prstDash val="solid"/>
                    </a:lnR>
                    <a:lnB w="9525">
                      <a:solidFill>
                        <a:srgbClr val="D9D9D9"/>
                      </a:solidFill>
                      <a:prstDash val="solid"/>
                    </a:lnB>
                    <a:solidFill>
                      <a:srgbClr val="EDF3F6"/>
                    </a:solidFill>
                  </a:tcPr>
                </a:tc>
              </a:tr>
              <a:tr h="476250">
                <a:tc>
                  <a:txBody>
                    <a:bodyPr/>
                    <a:lstStyle/>
                    <a:p>
                      <a:r>
                        <a:rPr sz="1800" b="0">
                          <a:solidFill>
                            <a:srgbClr val="142C40"/>
                          </a:solidFill>
                        </a:rPr>
                        <a:t>tulips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799</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559</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120</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120</a:t>
                      </a:r>
                    </a:p>
                  </a:txBody>
                  <a:tcPr marL="91440" marR="91440" marT="45720" marB="45720">
                    <a:lnR w="9525">
                      <a:solidFill>
                        <a:srgbClr val="D9D9D9"/>
                      </a:solidFill>
                      <a:prstDash val="solid"/>
                    </a:lnR>
                    <a:lnB w="9525">
                      <a:solidFill>
                        <a:srgbClr val="D9D9D9"/>
                      </a:solidFill>
                      <a:prstDash val="solid"/>
                    </a:lnB>
                    <a:solidFill>
                      <a:srgbClr val="FFFFFF"/>
                    </a:solidFill>
                  </a:tcPr>
                </a:tc>
              </a:tr>
              <a:tr h="476250">
                <a:tc>
                  <a:txBody>
                    <a:bodyPr/>
                    <a:lstStyle/>
                    <a:p>
                      <a:r>
                        <a:rPr sz="1800" b="0">
                          <a:solidFill>
                            <a:srgbClr val="142C40"/>
                          </a:solidFill>
                        </a:rPr>
                        <a:t>Tổng</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3.670</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2.571</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549</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550</a:t>
                      </a:r>
                    </a:p>
                  </a:txBody>
                  <a:tcPr marL="91440" marR="91440" marT="45720" marB="45720">
                    <a:lnR w="9525">
                      <a:solidFill>
                        <a:srgbClr val="D9D9D9"/>
                      </a:solidFill>
                      <a:prstDash val="solid"/>
                    </a:lnR>
                    <a:lnB w="9525">
                      <a:solidFill>
                        <a:srgbClr val="D9D9D9"/>
                      </a:solidFill>
                      <a:prstDash val="solid"/>
                    </a:lnB>
                    <a:solidFill>
                      <a:srgbClr val="EDF3F6"/>
                    </a:solidFill>
                  </a:tcPr>
                </a:tc>
              </a:tr>
            </a:tbl>
          </a:graphicData>
        </a:graphic>
      </p:graphicFrame>
      <p:sp>
        <p:nvSpPr>
          <p:cNvPr id="6" name="">
            <a:extLst xmlns:a="http://schemas.openxmlformats.org/drawingml/2006/main">
              <a:ext uri="{FF2B5EF4-FFF2-40B4-BE49-F238E27FC236}">
                <a16:creationId xmlns:a16="http://schemas.microsoft.com/office/drawing/2014/main" id="{46EFEE9E-59B1-48A5-854B-D03907D7C016}"/>
              </a:ext>
            </a:extLst>
          </p:cNvPr>
          <p:cNvSpPr>
            <a:spLocks xmlns:a="http://schemas.openxmlformats.org/drawingml/2006/main" noGrp="1"/>
          </p:cNvSpPr>
          <p:nvPr/>
        </p:nvSpPr>
        <p:spPr>
          <a:xfrm xmlns:a="http://schemas.openxmlformats.org/drawingml/2006/main">
            <a:off x="619125" y="5619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6C64"/>
                </a:solidFill>
              </a:defRPr>
            </a:defPPr>
          </a:lstStyle>
          <a:p xmlns:a="http://schemas.openxmlformats.org/drawingml/2006/main">
            <a:pPr>
              <a:defRPr sz="1800" b="0">
                <a:solidFill>
                  <a:srgbClr val="146C64"/>
                </a:solidFill>
              </a:defRPr>
            </a:pPr>
            <a:r>
              <a:rPr sz="1800" b="0">
                <a:solidFill>
                  <a:srgbClr val="146C64"/>
                </a:solidFill>
              </a:rPr>
              <a:t>0 ảnh lỗi  ·  3 nhóm trùng hash  ·  1 nhóm chéo nhãn  ·  seed 42</a:t>
            </a:r>
          </a:p>
        </p:txBody>
      </p:sp>
    </p:spTree>
    <p:extLst>
      <p:ext uri="{BB962C8B-B14F-4D97-AF65-F5344CB8AC3E}">
        <p14:creationId xmlns:p14="http://schemas.microsoft.com/office/powerpoint/2010/main" val="16334620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052FC0-D141-46B0-92A8-A5EFD25A2FE3}"/>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Tiền xử lý và không gian màu</a:t>
            </a:r>
          </a:p>
        </p:txBody>
      </p:sp>
      <p:sp>
        <p:nvSpPr>
          <p:cNvPr id="2" name="">
            <a:extLst xmlns:a="http://schemas.openxmlformats.org/drawingml/2006/main">
              <a:ext uri="{FF2B5EF4-FFF2-40B4-BE49-F238E27FC236}">
                <a16:creationId xmlns:a16="http://schemas.microsoft.com/office/drawing/2014/main" id="{98B2FC95-78C5-496B-B6E3-13C0D3893294}"/>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3 và mục 4.1</a:t>
            </a:r>
          </a:p>
        </p:txBody>
      </p:sp>
      <p:sp>
        <p:nvSpPr>
          <p:cNvPr id="3" name="">
            <a:extLst xmlns:a="http://schemas.openxmlformats.org/drawingml/2006/main">
              <a:ext uri="{FF2B5EF4-FFF2-40B4-BE49-F238E27FC236}">
                <a16:creationId xmlns:a16="http://schemas.microsoft.com/office/drawing/2014/main" id="{C17D8A02-C350-4480-9F74-E586DFA2A302}"/>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06</a:t>
            </a:r>
          </a:p>
        </p:txBody>
      </p:sp>
      <p:sp>
        <p:nvSpPr>
          <p:cNvPr id="4" name="">
            <a:extLst xmlns:a="http://schemas.openxmlformats.org/drawingml/2006/main">
              <a:ext uri="{FF2B5EF4-FFF2-40B4-BE49-F238E27FC236}">
                <a16:creationId xmlns:a16="http://schemas.microsoft.com/office/drawing/2014/main" id="{AE3ED98B-387A-4348-BAC0-CD697B2E123F}"/>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89A06421-602A-404B-ADC6-FEBB33B53568}"/>
              </a:ext>
            </a:extLst>
          </p:cNvPr>
          <p:cNvSpPr>
            <a:spLocks xmlns:a="http://schemas.openxmlformats.org/drawingml/2006/main" noGrp="1"/>
          </p:cNvSpPr>
          <p:nvPr/>
        </p:nvSpPr>
        <p:spPr>
          <a:xfrm xmlns:a="http://schemas.openxmlformats.org/drawingml/2006/main">
            <a:off x="619125" y="2095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EXIF transpose → RGB → letterbox LANCZOS 224 × 224.</a:t>
            </a:r>
          </a:p>
        </p:txBody>
      </p:sp>
      <p:sp>
        <p:nvSpPr>
          <p:cNvPr id="6" name="">
            <a:extLst xmlns:a="http://schemas.openxmlformats.org/drawingml/2006/main">
              <a:ext uri="{FF2B5EF4-FFF2-40B4-BE49-F238E27FC236}">
                <a16:creationId xmlns:a16="http://schemas.microsoft.com/office/drawing/2014/main" id="{E6E7FD28-B4B6-4E70-8415-D8F30AB6F5A1}"/>
              </a:ext>
            </a:extLst>
          </p:cNvPr>
          <p:cNvSpPr>
            <a:spLocks xmlns:a="http://schemas.openxmlformats.org/drawingml/2006/main" noGrp="1"/>
          </p:cNvSpPr>
          <p:nvPr/>
        </p:nvSpPr>
        <p:spPr>
          <a:xfrm xmlns:a="http://schemas.openxmlformats.org/drawingml/2006/main">
            <a:off x="619125" y="2971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RGB uint8 0–255 cho xử lý; float32 0–255 theo graph model.</a:t>
            </a:r>
          </a:p>
        </p:txBody>
      </p:sp>
      <p:sp>
        <p:nvSpPr>
          <p:cNvPr id="7" name="">
            <a:extLst xmlns:a="http://schemas.openxmlformats.org/drawingml/2006/main">
              <a:ext uri="{FF2B5EF4-FFF2-40B4-BE49-F238E27FC236}">
                <a16:creationId xmlns:a16="http://schemas.microsoft.com/office/drawing/2014/main" id="{E9B54D1D-298F-49B6-A0C6-F3D0D7F829B0}"/>
              </a:ext>
            </a:extLst>
          </p:cNvPr>
          <p:cNvSpPr>
            <a:spLocks xmlns:a="http://schemas.openxmlformats.org/drawingml/2006/main" noGrp="1"/>
          </p:cNvSpPr>
          <p:nvPr/>
        </p:nvSpPr>
        <p:spPr>
          <a:xfrm xmlns:a="http://schemas.openxmlformats.org/drawingml/2006/main">
            <a:off x="619125" y="38481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RGB: gain kênh  ·  HSV: V và S  ·  Lab: L* và a*/b*.</a:t>
            </a:r>
          </a:p>
        </p:txBody>
      </p:sp>
      <p:sp>
        <p:nvSpPr>
          <p:cNvPr id="8" name="">
            <a:extLst xmlns:a="http://schemas.openxmlformats.org/drawingml/2006/main">
              <a:ext uri="{FF2B5EF4-FFF2-40B4-BE49-F238E27FC236}">
                <a16:creationId xmlns:a16="http://schemas.microsoft.com/office/drawing/2014/main" id="{C6EED533-B181-4FA2-99AA-A09D2D02B812}"/>
              </a:ext>
            </a:extLst>
          </p:cNvPr>
          <p:cNvSpPr>
            <a:spLocks xmlns:a="http://schemas.openxmlformats.org/drawingml/2006/main" noGrp="1"/>
          </p:cNvSpPr>
          <p:nvPr/>
        </p:nvSpPr>
        <p:spPr>
          <a:xfrm xmlns:a="http://schemas.openxmlformats.org/drawingml/2006/main">
            <a:off x="619125" y="47244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EDA sáng và tương phản: 450 mẫu 96 × 96, không phải toàn Test.</a:t>
            </a:r>
          </a:p>
        </p:txBody>
      </p:sp>
    </p:spTree>
    <p:extLst>
      <p:ext uri="{BB962C8B-B14F-4D97-AF65-F5344CB8AC3E}">
        <p14:creationId xmlns:p14="http://schemas.microsoft.com/office/powerpoint/2010/main" val="12391573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6B992F-44D6-47E1-8B73-6F29499672B1}"/>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Năm dạng suy giảm ở ba mức</a:t>
            </a:r>
          </a:p>
        </p:txBody>
      </p:sp>
      <p:sp>
        <p:nvSpPr>
          <p:cNvPr id="2" name="">
            <a:extLst xmlns:a="http://schemas.openxmlformats.org/drawingml/2006/main">
              <a:ext uri="{FF2B5EF4-FFF2-40B4-BE49-F238E27FC236}">
                <a16:creationId xmlns:a16="http://schemas.microsoft.com/office/drawing/2014/main" id="{D5CE542F-BE96-420E-8294-06727E13FF9E}"/>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Mục 4.1  Tiền xử lý và mô hình suy giảm</a:t>
            </a:r>
          </a:p>
        </p:txBody>
      </p:sp>
      <p:sp>
        <p:nvSpPr>
          <p:cNvPr id="3" name="">
            <a:extLst xmlns:a="http://schemas.openxmlformats.org/drawingml/2006/main">
              <a:ext uri="{FF2B5EF4-FFF2-40B4-BE49-F238E27FC236}">
                <a16:creationId xmlns:a16="http://schemas.microsoft.com/office/drawing/2014/main" id="{0CD21238-3F44-4CDE-BDEC-06EC0B7338E1}"/>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07</a:t>
            </a:r>
          </a:p>
        </p:txBody>
      </p:sp>
      <p:sp>
        <p:nvSpPr>
          <p:cNvPr id="4" name="">
            <a:extLst xmlns:a="http://schemas.openxmlformats.org/drawingml/2006/main">
              <a:ext uri="{FF2B5EF4-FFF2-40B4-BE49-F238E27FC236}">
                <a16:creationId xmlns:a16="http://schemas.microsoft.com/office/drawing/2014/main" id="{65502B95-9AAE-4E2C-BE27-9635EEE9C8FA}"/>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graphicFrame>
        <p:nvGraphicFramePr>
          <p:cNvPr id="5" name="">
            <a:extLst xmlns:a="http://schemas.openxmlformats.org/drawingml/2006/main">
              <a:ext uri="{FF2B5EF4-FFF2-40B4-BE49-F238E27FC236}">
                <a16:creationId xmlns:a16="http://schemas.microsoft.com/office/drawing/2014/main" id="{E036D443-8C9A-4259-AC8A-937C3214B62E}"/>
              </a:ext>
            </a:extLst>
          </p:cNvPr>
          <p:cNvGraphicFramePr/>
          <p:nvPr/>
        </p:nvGraphicFramePr>
        <p:xfrm>
          <a:off xmlns:a="http://schemas.openxmlformats.org/drawingml/2006/main" x="619125" y="2000250"/>
          <a:ext xmlns:a="http://schemas.openxmlformats.org/drawingml/2006/main" cx="10953750" cy="3429000"/>
        </p:xfrm>
        <a:graphic xmlns:a="http://schemas.openxmlformats.org/drawingml/2006/main">
          <a:graphicData uri="http://schemas.openxmlformats.org/drawingml/2006/table">
            <a:tbl>
              <a:tblPr/>
              <a:tblGrid>
                <a:gridCol w="3238500"/>
                <a:gridCol w="2571750"/>
                <a:gridCol w="2571750"/>
                <a:gridCol w="2571750"/>
              </a:tblGrid>
              <a:tr h="571500">
                <a:tc>
                  <a:txBody>
                    <a:bodyPr/>
                    <a:lstStyle/>
                    <a:p>
                      <a:r>
                        <a:rPr sz="1800" b="1">
                          <a:solidFill>
                            <a:srgbClr val="FFFFFF"/>
                          </a:solidFill>
                        </a:rPr>
                        <a:t>Suy giảm</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c>
                  <a:txBody>
                    <a:bodyPr/>
                    <a:lstStyle/>
                    <a:p>
                      <a:r>
                        <a:rPr sz="1800" b="1">
                          <a:solidFill>
                            <a:srgbClr val="FFFFFF"/>
                          </a:solidFill>
                        </a:rPr>
                        <a:t>Nhẹ</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c>
                  <a:txBody>
                    <a:bodyPr/>
                    <a:lstStyle/>
                    <a:p>
                      <a:r>
                        <a:rPr sz="1800" b="1">
                          <a:solidFill>
                            <a:srgbClr val="FFFFFF"/>
                          </a:solidFill>
                        </a:rPr>
                        <a:t>Vừa</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c>
                  <a:txBody>
                    <a:bodyPr/>
                    <a:lstStyle/>
                    <a:p>
                      <a:r>
                        <a:rPr sz="1800" b="1">
                          <a:solidFill>
                            <a:srgbClr val="FFFFFF"/>
                          </a:solidFill>
                        </a:rPr>
                        <a:t>Mạnh</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r>
              <a:tr h="571500">
                <a:tc>
                  <a:txBody>
                    <a:bodyPr/>
                    <a:lstStyle/>
                    <a:p>
                      <a:r>
                        <a:rPr sz="1800" b="0">
                          <a:solidFill>
                            <a:srgbClr val="142C40"/>
                          </a:solidFill>
                        </a:rPr>
                        <a:t>Thiếu sáng γ</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1,5</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2,5</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4,0</a:t>
                      </a:r>
                    </a:p>
                  </a:txBody>
                  <a:tcPr marL="91440" marR="91440" marT="45720" marB="45720">
                    <a:lnR w="9525">
                      <a:solidFill>
                        <a:srgbClr val="D9D9D9"/>
                      </a:solidFill>
                      <a:prstDash val="solid"/>
                    </a:lnR>
                    <a:lnB w="9525">
                      <a:solidFill>
                        <a:srgbClr val="D9D9D9"/>
                      </a:solidFill>
                      <a:prstDash val="solid"/>
                    </a:lnB>
                    <a:solidFill>
                      <a:srgbClr val="FFFFFF"/>
                    </a:solidFill>
                  </a:tcPr>
                </a:tc>
              </a:tr>
              <a:tr h="571500">
                <a:tc>
                  <a:txBody>
                    <a:bodyPr/>
                    <a:lstStyle/>
                    <a:p>
                      <a:r>
                        <a:rPr sz="1800" b="0">
                          <a:solidFill>
                            <a:srgbClr val="142C40"/>
                          </a:solidFill>
                        </a:rPr>
                        <a:t>Gaussian noise σ</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10</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25</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50</a:t>
                      </a:r>
                    </a:p>
                  </a:txBody>
                  <a:tcPr marL="91440" marR="91440" marT="45720" marB="45720">
                    <a:lnR w="9525">
                      <a:solidFill>
                        <a:srgbClr val="D9D9D9"/>
                      </a:solidFill>
                      <a:prstDash val="solid"/>
                    </a:lnR>
                    <a:lnB w="9525">
                      <a:solidFill>
                        <a:srgbClr val="D9D9D9"/>
                      </a:solidFill>
                      <a:prstDash val="solid"/>
                    </a:lnB>
                    <a:solidFill>
                      <a:srgbClr val="EDF3F6"/>
                    </a:solidFill>
                  </a:tcPr>
                </a:tc>
              </a:tr>
              <a:tr h="571500">
                <a:tc>
                  <a:txBody>
                    <a:bodyPr/>
                    <a:lstStyle/>
                    <a:p>
                      <a:r>
                        <a:rPr sz="1800" b="0">
                          <a:solidFill>
                            <a:srgbClr val="142C40"/>
                          </a:solidFill>
                        </a:rPr>
                        <a:t>Muối tiêu p</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0,01</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0,03</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0,07</a:t>
                      </a:r>
                    </a:p>
                  </a:txBody>
                  <a:tcPr marL="91440" marR="91440" marT="45720" marB="45720">
                    <a:lnR w="9525">
                      <a:solidFill>
                        <a:srgbClr val="D9D9D9"/>
                      </a:solidFill>
                      <a:prstDash val="solid"/>
                    </a:lnR>
                    <a:lnB w="9525">
                      <a:solidFill>
                        <a:srgbClr val="D9D9D9"/>
                      </a:solidFill>
                      <a:prstDash val="solid"/>
                    </a:lnB>
                    <a:solidFill>
                      <a:srgbClr val="FFFFFF"/>
                    </a:solidFill>
                  </a:tcPr>
                </a:tc>
              </a:tr>
              <a:tr h="571500">
                <a:tc>
                  <a:txBody>
                    <a:bodyPr/>
                    <a:lstStyle/>
                    <a:p>
                      <a:r>
                        <a:rPr sz="1800" b="0">
                          <a:solidFill>
                            <a:srgbClr val="142C40"/>
                          </a:solidFill>
                        </a:rPr>
                        <a:t>Mờ Gaussian σ</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0,8</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1,4</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2,6</a:t>
                      </a:r>
                    </a:p>
                  </a:txBody>
                  <a:tcPr marL="91440" marR="91440" marT="45720" marB="45720">
                    <a:lnR w="9525">
                      <a:solidFill>
                        <a:srgbClr val="D9D9D9"/>
                      </a:solidFill>
                      <a:prstDash val="solid"/>
                    </a:lnR>
                    <a:lnB w="9525">
                      <a:solidFill>
                        <a:srgbClr val="D9D9D9"/>
                      </a:solidFill>
                      <a:prstDash val="solid"/>
                    </a:lnB>
                    <a:solidFill>
                      <a:srgbClr val="EDF3F6"/>
                    </a:solidFill>
                  </a:tcPr>
                </a:tc>
              </a:tr>
              <a:tr h="571500">
                <a:tc>
                  <a:txBody>
                    <a:bodyPr/>
                    <a:lstStyle/>
                    <a:p>
                      <a:r>
                        <a:rPr sz="1800" b="0">
                          <a:solidFill>
                            <a:srgbClr val="142C40"/>
                          </a:solidFill>
                        </a:rPr>
                        <a:t>Gain RGB</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1,05 / 1 / 0,95</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1,15 / 1 / 0,85</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1,30 / 1 / 0,70</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F8B839-D510-4810-AEEF-B0322B2DECCF}"/>
              </a:ext>
            </a:extLst>
          </p:cNvPr>
          <p:cNvSpPr>
            <a:spLocks xmlns:a="http://schemas.openxmlformats.org/drawingml/2006/main" noGrp="1"/>
          </p:cNvSpPr>
          <p:nvPr/>
        </p:nvSpPr>
        <p:spPr>
          <a:xfrm xmlns:a="http://schemas.openxmlformats.org/drawingml/2006/main">
            <a:off x="619125" y="56673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6C64"/>
                </a:solidFill>
              </a:defRPr>
            </a:defPPr>
          </a:lstStyle>
          <a:p xmlns:a="http://schemas.openxmlformats.org/drawingml/2006/main">
            <a:pPr>
              <a:defRPr sz="1800" b="0">
                <a:solidFill>
                  <a:srgbClr val="146C64"/>
                </a:solidFill>
              </a:defRPr>
            </a:pPr>
            <a:r>
              <a:rPr sz="1800" b="0">
                <a:solidFill>
                  <a:srgbClr val="146C64"/>
                </a:solidFill>
              </a:rPr>
              <a:t>Loại và mức suy giảm đã biết; chưa tự ước lượng từ ảnh thực.</a:t>
            </a:r>
          </a:p>
        </p:txBody>
      </p:sp>
    </p:spTree>
    <p:extLst>
      <p:ext uri="{BB962C8B-B14F-4D97-AF65-F5344CB8AC3E}">
        <p14:creationId xmlns:p14="http://schemas.microsoft.com/office/powerpoint/2010/main" val="13347949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12BB87-3F4E-4F68-96CD-F35AC2F7A7BE}"/>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Gamma và CLAHE</a:t>
            </a:r>
          </a:p>
        </p:txBody>
      </p:sp>
      <p:sp>
        <p:nvSpPr>
          <p:cNvPr id="2" name="">
            <a:extLst xmlns:a="http://schemas.openxmlformats.org/drawingml/2006/main">
              <a:ext uri="{FF2B5EF4-FFF2-40B4-BE49-F238E27FC236}">
                <a16:creationId xmlns:a16="http://schemas.microsoft.com/office/drawing/2014/main" id="{32749E7F-4DD5-4DAF-A74E-4FF8D26536EA}"/>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Mục 4.2  Cải thiện độ sáng</a:t>
            </a:r>
          </a:p>
        </p:txBody>
      </p:sp>
      <p:sp>
        <p:nvSpPr>
          <p:cNvPr id="3" name="">
            <a:extLst xmlns:a="http://schemas.openxmlformats.org/drawingml/2006/main">
              <a:ext uri="{FF2B5EF4-FFF2-40B4-BE49-F238E27FC236}">
                <a16:creationId xmlns:a16="http://schemas.microsoft.com/office/drawing/2014/main" id="{867FEF46-30E5-4D83-9A1D-2A6E0A57F819}"/>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08</a:t>
            </a:r>
          </a:p>
        </p:txBody>
      </p:sp>
      <p:sp>
        <p:nvSpPr>
          <p:cNvPr id="4" name="">
            <a:extLst xmlns:a="http://schemas.openxmlformats.org/drawingml/2006/main">
              <a:ext uri="{FF2B5EF4-FFF2-40B4-BE49-F238E27FC236}">
                <a16:creationId xmlns:a16="http://schemas.microsoft.com/office/drawing/2014/main" id="{A005E9C3-0502-4B50-9073-2926B940CA88}"/>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6D4CD685-E77E-41BE-830C-33B518976BC4}"/>
              </a:ext>
            </a:extLst>
          </p:cNvPr>
          <p:cNvSpPr>
            <a:spLocks xmlns:a="http://schemas.openxmlformats.org/drawingml/2006/main" noGrp="1"/>
          </p:cNvSpPr>
          <p:nvPr/>
        </p:nvSpPr>
        <p:spPr>
          <a:xfrm xmlns:a="http://schemas.openxmlformats.org/drawingml/2006/main">
            <a:off x="619125" y="20955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6C64"/>
                </a:solidFill>
              </a:defRPr>
            </a:defPPr>
          </a:lstStyle>
          <a:p xmlns:a="http://schemas.openxmlformats.org/drawingml/2006/main">
            <a:pPr>
              <a:defRPr sz="2100" b="1">
                <a:solidFill>
                  <a:srgbClr val="146C64"/>
                </a:solidFill>
              </a:defRPr>
            </a:pPr>
            <a:r>
              <a:rPr sz="2100" b="1">
                <a:solidFill>
                  <a:srgbClr val="146C64"/>
                </a:solidFill>
              </a:rPr>
              <a:t>GAMMA</a:t>
            </a:r>
          </a:p>
        </p:txBody>
      </p:sp>
      <p:sp>
        <p:nvSpPr>
          <p:cNvPr id="6" name="">
            <a:extLst xmlns:a="http://schemas.openxmlformats.org/drawingml/2006/main">
              <a:ext uri="{FF2B5EF4-FFF2-40B4-BE49-F238E27FC236}">
                <a16:creationId xmlns:a16="http://schemas.microsoft.com/office/drawing/2014/main" id="{56277427-02DF-4809-B65E-48D45C76587C}"/>
              </a:ext>
            </a:extLst>
          </p:cNvPr>
          <p:cNvSpPr>
            <a:spLocks xmlns:a="http://schemas.openxmlformats.org/drawingml/2006/main" noGrp="1"/>
          </p:cNvSpPr>
          <p:nvPr/>
        </p:nvSpPr>
        <p:spPr>
          <a:xfrm xmlns:a="http://schemas.openxmlformats.org/drawingml/2006/main">
            <a:off x="619125" y="26670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0"/>
                </a:solidFill>
              </a:defRPr>
            </a:defPPr>
          </a:lstStyle>
          <a:p xmlns:a="http://schemas.openxmlformats.org/drawingml/2006/main">
            <a:pPr>
              <a:defRPr sz="2025" b="0">
                <a:solidFill>
                  <a:srgbClr val="142C40"/>
                </a:solidFill>
              </a:defRPr>
            </a:pPr>
            <a:r>
              <a:rPr sz="2025" b="0">
                <a:solidFill>
                  <a:srgbClr val="142C40"/>
                </a:solidFill>
              </a:rPr>
              <a:t>y = 255(x/255)^(1/γ)</a:t>
            </a:r>
          </a:p>
        </p:txBody>
      </p:sp>
      <p:sp>
        <p:nvSpPr>
          <p:cNvPr id="7" name="">
            <a:extLst xmlns:a="http://schemas.openxmlformats.org/drawingml/2006/main">
              <a:ext uri="{FF2B5EF4-FFF2-40B4-BE49-F238E27FC236}">
                <a16:creationId xmlns:a16="http://schemas.microsoft.com/office/drawing/2014/main" id="{B3795B9A-950C-424D-9870-184EF5E86DAD}"/>
              </a:ext>
            </a:extLst>
          </p:cNvPr>
          <p:cNvSpPr>
            <a:spLocks xmlns:a="http://schemas.openxmlformats.org/drawingml/2006/main" noGrp="1"/>
          </p:cNvSpPr>
          <p:nvPr/>
        </p:nvSpPr>
        <p:spPr>
          <a:xfrm xmlns:a="http://schemas.openxmlformats.org/drawingml/2006/main">
            <a:off x="619125" y="333375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0"/>
                </a:solidFill>
              </a:defRPr>
            </a:defPPr>
          </a:lstStyle>
          <a:p xmlns:a="http://schemas.openxmlformats.org/drawingml/2006/main">
            <a:pPr>
              <a:defRPr sz="2025" b="0">
                <a:solidFill>
                  <a:srgbClr val="142C40"/>
                </a:solidFill>
              </a:defRPr>
            </a:pPr>
            <a:r>
              <a:rPr sz="2025" b="0">
                <a:solidFill>
                  <a:srgbClr val="142C40"/>
                </a:solidFill>
              </a:rPr>
              <a:t>Ánh xạ toàn cục.</a:t>
            </a:r>
          </a:p>
        </p:txBody>
      </p:sp>
      <p:sp>
        <p:nvSpPr>
          <p:cNvPr id="8" name="">
            <a:extLst xmlns:a="http://schemas.openxmlformats.org/drawingml/2006/main">
              <a:ext uri="{FF2B5EF4-FFF2-40B4-BE49-F238E27FC236}">
                <a16:creationId xmlns:a16="http://schemas.microsoft.com/office/drawing/2014/main" id="{152122F6-26BE-4F53-8414-A3302F7AD8D4}"/>
              </a:ext>
            </a:extLst>
          </p:cNvPr>
          <p:cNvSpPr>
            <a:spLocks xmlns:a="http://schemas.openxmlformats.org/drawingml/2006/main" noGrp="1"/>
          </p:cNvSpPr>
          <p:nvPr/>
        </p:nvSpPr>
        <p:spPr>
          <a:xfrm xmlns:a="http://schemas.openxmlformats.org/drawingml/2006/main">
            <a:off x="619125" y="40005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0"/>
                </a:solidFill>
              </a:defRPr>
            </a:defPPr>
          </a:lstStyle>
          <a:p xmlns:a="http://schemas.openxmlformats.org/drawingml/2006/main">
            <a:pPr>
              <a:defRPr sz="2025" b="0">
                <a:solidFill>
                  <a:srgbClr val="142C40"/>
                </a:solidFill>
              </a:defRPr>
            </a:pPr>
            <a:r>
              <a:rPr sz="2025" b="0">
                <a:solidFill>
                  <a:srgbClr val="142C40"/>
                </a:solidFill>
              </a:rPr>
              <a:t>Dùng γ của suy giảm đã biết.</a:t>
            </a:r>
          </a:p>
        </p:txBody>
      </p:sp>
      <p:sp>
        <p:nvSpPr>
          <p:cNvPr id="9" name="">
            <a:extLst xmlns:a="http://schemas.openxmlformats.org/drawingml/2006/main">
              <a:ext uri="{FF2B5EF4-FFF2-40B4-BE49-F238E27FC236}">
                <a16:creationId xmlns:a16="http://schemas.microsoft.com/office/drawing/2014/main" id="{201A4EFF-B492-47E8-9CEC-0819EA031995}"/>
              </a:ext>
            </a:extLst>
          </p:cNvPr>
          <p:cNvSpPr>
            <a:spLocks xmlns:a="http://schemas.openxmlformats.org/drawingml/2006/main" noGrp="1"/>
          </p:cNvSpPr>
          <p:nvPr/>
        </p:nvSpPr>
        <p:spPr>
          <a:xfrm xmlns:a="http://schemas.openxmlformats.org/drawingml/2006/main">
            <a:off x="619125" y="466725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0"/>
                </a:solidFill>
              </a:defRPr>
            </a:defPPr>
          </a:lstStyle>
          <a:p xmlns:a="http://schemas.openxmlformats.org/drawingml/2006/main">
            <a:pPr>
              <a:defRPr sz="2025" b="0">
                <a:solidFill>
                  <a:srgbClr val="142C40"/>
                </a:solidFill>
              </a:defRPr>
            </a:pPr>
            <a:r>
              <a:rPr sz="2025" b="0">
                <a:solidFill>
                  <a:srgbClr val="142C40"/>
                </a:solidFill>
              </a:rPr>
              <a:t>Lượng tử hóa giới hạn nghịch đảo.</a:t>
            </a:r>
          </a:p>
        </p:txBody>
      </p:sp>
      <p:sp>
        <p:nvSpPr>
          <p:cNvPr id="10" name="">
            <a:extLst xmlns:a="http://schemas.openxmlformats.org/drawingml/2006/main">
              <a:ext uri="{FF2B5EF4-FFF2-40B4-BE49-F238E27FC236}">
                <a16:creationId xmlns:a16="http://schemas.microsoft.com/office/drawing/2014/main" id="{D00B087B-F121-40C7-AC82-F89D54767245}"/>
              </a:ext>
            </a:extLst>
          </p:cNvPr>
          <p:cNvSpPr>
            <a:spLocks xmlns:a="http://schemas.openxmlformats.org/drawingml/2006/main" noGrp="1"/>
          </p:cNvSpPr>
          <p:nvPr/>
        </p:nvSpPr>
        <p:spPr>
          <a:xfrm xmlns:a="http://schemas.openxmlformats.org/drawingml/2006/main">
            <a:off x="6429375" y="20955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6C64"/>
                </a:solidFill>
              </a:defRPr>
            </a:defPPr>
          </a:lstStyle>
          <a:p xmlns:a="http://schemas.openxmlformats.org/drawingml/2006/main">
            <a:pPr>
              <a:defRPr sz="2100" b="1">
                <a:solidFill>
                  <a:srgbClr val="146C64"/>
                </a:solidFill>
              </a:defRPr>
            </a:pPr>
            <a:r>
              <a:rPr sz="2100" b="1">
                <a:solidFill>
                  <a:srgbClr val="146C64"/>
                </a:solidFill>
              </a:rPr>
              <a:t>CLAHE TRÊN V CỦA HSV</a:t>
            </a:r>
          </a:p>
        </p:txBody>
      </p:sp>
      <p:sp>
        <p:nvSpPr>
          <p:cNvPr id="11" name="">
            <a:extLst xmlns:a="http://schemas.openxmlformats.org/drawingml/2006/main">
              <a:ext uri="{FF2B5EF4-FFF2-40B4-BE49-F238E27FC236}">
                <a16:creationId xmlns:a16="http://schemas.microsoft.com/office/drawing/2014/main" id="{196E8205-8DB5-4A70-91A0-D2045E305388}"/>
              </a:ext>
            </a:extLst>
          </p:cNvPr>
          <p:cNvSpPr>
            <a:spLocks xmlns:a="http://schemas.openxmlformats.org/drawingml/2006/main" noGrp="1"/>
          </p:cNvSpPr>
          <p:nvPr/>
        </p:nvSpPr>
        <p:spPr>
          <a:xfrm xmlns:a="http://schemas.openxmlformats.org/drawingml/2006/main">
            <a:off x="6429375" y="266700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0"/>
                </a:solidFill>
              </a:defRPr>
            </a:defPPr>
          </a:lstStyle>
          <a:p xmlns:a="http://schemas.openxmlformats.org/drawingml/2006/main">
            <a:pPr>
              <a:defRPr sz="2025" b="0">
                <a:solidFill>
                  <a:srgbClr val="142C40"/>
                </a:solidFill>
              </a:defRPr>
            </a:pPr>
            <a:r>
              <a:rPr sz="2025" b="0">
                <a:solidFill>
                  <a:srgbClr val="142C40"/>
                </a:solidFill>
              </a:rPr>
              <a:t>8 × 8 tile, histogram 256 bin.</a:t>
            </a:r>
          </a:p>
        </p:txBody>
      </p:sp>
      <p:sp>
        <p:nvSpPr>
          <p:cNvPr id="12" name="">
            <a:extLst xmlns:a="http://schemas.openxmlformats.org/drawingml/2006/main">
              <a:ext uri="{FF2B5EF4-FFF2-40B4-BE49-F238E27FC236}">
                <a16:creationId xmlns:a16="http://schemas.microsoft.com/office/drawing/2014/main" id="{46BCAA97-E630-423A-AB0A-12368A90A17C}"/>
              </a:ext>
            </a:extLst>
          </p:cNvPr>
          <p:cNvSpPr>
            <a:spLocks xmlns:a="http://schemas.openxmlformats.org/drawingml/2006/main" noGrp="1"/>
          </p:cNvSpPr>
          <p:nvPr/>
        </p:nvSpPr>
        <p:spPr>
          <a:xfrm xmlns:a="http://schemas.openxmlformats.org/drawingml/2006/main">
            <a:off x="6429375" y="333375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0"/>
                </a:solidFill>
              </a:defRPr>
            </a:defPPr>
          </a:lstStyle>
          <a:p xmlns:a="http://schemas.openxmlformats.org/drawingml/2006/main">
            <a:pPr>
              <a:defRPr sz="2025" b="0">
                <a:solidFill>
                  <a:srgbClr val="142C40"/>
                </a:solidFill>
              </a:defRPr>
            </a:pPr>
            <a:r>
              <a:rPr sz="2025" b="0">
                <a:solidFill>
                  <a:srgbClr val="142C40"/>
                </a:solidFill>
              </a:rPr>
              <a:t>Cắt histogram → CDF → LUT.</a:t>
            </a:r>
          </a:p>
        </p:txBody>
      </p:sp>
      <p:sp>
        <p:nvSpPr>
          <p:cNvPr id="13" name="">
            <a:extLst xmlns:a="http://schemas.openxmlformats.org/drawingml/2006/main">
              <a:ext uri="{FF2B5EF4-FFF2-40B4-BE49-F238E27FC236}">
                <a16:creationId xmlns:a16="http://schemas.microsoft.com/office/drawing/2014/main" id="{D3714500-CADC-49BC-8DBA-FB43BAD02DF7}"/>
              </a:ext>
            </a:extLst>
          </p:cNvPr>
          <p:cNvSpPr>
            <a:spLocks xmlns:a="http://schemas.openxmlformats.org/drawingml/2006/main" noGrp="1"/>
          </p:cNvSpPr>
          <p:nvPr/>
        </p:nvSpPr>
        <p:spPr>
          <a:xfrm xmlns:a="http://schemas.openxmlformats.org/drawingml/2006/main">
            <a:off x="6429375" y="400050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0"/>
                </a:solidFill>
              </a:defRPr>
            </a:defPPr>
          </a:lstStyle>
          <a:p xmlns:a="http://schemas.openxmlformats.org/drawingml/2006/main">
            <a:pPr>
              <a:defRPr sz="2025" b="0">
                <a:solidFill>
                  <a:srgbClr val="142C40"/>
                </a:solidFill>
              </a:defRPr>
            </a:pPr>
            <a:r>
              <a:rPr sz="2025" b="0">
                <a:solidFill>
                  <a:srgbClr val="142C40"/>
                </a:solidFill>
              </a:rPr>
              <a:t>Nội suy song tuyến tính giữa tile.</a:t>
            </a:r>
          </a:p>
        </p:txBody>
      </p:sp>
      <p:sp>
        <p:nvSpPr>
          <p:cNvPr id="14" name="">
            <a:extLst xmlns:a="http://schemas.openxmlformats.org/drawingml/2006/main">
              <a:ext uri="{FF2B5EF4-FFF2-40B4-BE49-F238E27FC236}">
                <a16:creationId xmlns:a16="http://schemas.microsoft.com/office/drawing/2014/main" id="{9634891A-EB22-476C-B6C4-0576F56FDA10}"/>
              </a:ext>
            </a:extLst>
          </p:cNvPr>
          <p:cNvSpPr>
            <a:spLocks xmlns:a="http://schemas.openxmlformats.org/drawingml/2006/main" noGrp="1"/>
          </p:cNvSpPr>
          <p:nvPr/>
        </p:nvSpPr>
        <p:spPr>
          <a:xfrm xmlns:a="http://schemas.openxmlformats.org/drawingml/2006/main">
            <a:off x="6429375" y="466725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0"/>
                </a:solidFill>
              </a:defRPr>
            </a:defPPr>
          </a:lstStyle>
          <a:p xmlns:a="http://schemas.openxmlformats.org/drawingml/2006/main">
            <a:pPr>
              <a:defRPr sz="2025" b="0">
                <a:solidFill>
                  <a:srgbClr val="142C40"/>
                </a:solidFill>
              </a:defRPr>
            </a:pPr>
            <a:r>
              <a:rPr sz="2025" b="0">
                <a:solidFill>
                  <a:srgbClr val="142C40"/>
                </a:solidFill>
              </a:rPr>
              <a:t>clip_limit: 1,5 / 2,0 / 2,5.</a:t>
            </a:r>
          </a:p>
        </p:txBody>
      </p:sp>
    </p:spTree>
    <p:extLst>
      <p:ext uri="{BB962C8B-B14F-4D97-AF65-F5344CB8AC3E}">
        <p14:creationId xmlns:p14="http://schemas.microsoft.com/office/powerpoint/2010/main" val="9774467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E12350-52FF-4DD3-B9F5-D65245DA3618}"/>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Gaussian và median</a:t>
            </a:r>
          </a:p>
        </p:txBody>
      </p:sp>
      <p:sp>
        <p:nvSpPr>
          <p:cNvPr id="2" name="">
            <a:extLst xmlns:a="http://schemas.openxmlformats.org/drawingml/2006/main">
              <a:ext uri="{FF2B5EF4-FFF2-40B4-BE49-F238E27FC236}">
                <a16:creationId xmlns:a16="http://schemas.microsoft.com/office/drawing/2014/main" id="{2F92DBDD-8B7B-4123-B89B-C7422EB5ECB3}"/>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Mục 4.3  Khử nhiễu</a:t>
            </a:r>
          </a:p>
        </p:txBody>
      </p:sp>
      <p:sp>
        <p:nvSpPr>
          <p:cNvPr id="3" name="">
            <a:extLst xmlns:a="http://schemas.openxmlformats.org/drawingml/2006/main">
              <a:ext uri="{FF2B5EF4-FFF2-40B4-BE49-F238E27FC236}">
                <a16:creationId xmlns:a16="http://schemas.microsoft.com/office/drawing/2014/main" id="{5AAE7CE3-27B8-466B-B82A-678C06E7C30D}"/>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09</a:t>
            </a:r>
          </a:p>
        </p:txBody>
      </p:sp>
      <p:sp>
        <p:nvSpPr>
          <p:cNvPr id="4" name="">
            <a:extLst xmlns:a="http://schemas.openxmlformats.org/drawingml/2006/main">
              <a:ext uri="{FF2B5EF4-FFF2-40B4-BE49-F238E27FC236}">
                <a16:creationId xmlns:a16="http://schemas.microsoft.com/office/drawing/2014/main" id="{76F733CE-1640-48E7-A69E-242649877291}"/>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E59AFF38-C883-4071-82D4-E2AB886B771F}"/>
              </a:ext>
            </a:extLst>
          </p:cNvPr>
          <p:cNvSpPr>
            <a:spLocks xmlns:a="http://schemas.openxmlformats.org/drawingml/2006/main" noGrp="1"/>
          </p:cNvSpPr>
          <p:nvPr/>
        </p:nvSpPr>
        <p:spPr>
          <a:xfrm xmlns:a="http://schemas.openxmlformats.org/drawingml/2006/main">
            <a:off x="619125" y="19526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Gaussian: tổng có trọng số; σ = 0,7 / 1,0 / 1,3.</a:t>
            </a:r>
          </a:p>
        </p:txBody>
      </p:sp>
      <p:sp>
        <p:nvSpPr>
          <p:cNvPr id="6" name="">
            <a:extLst xmlns:a="http://schemas.openxmlformats.org/drawingml/2006/main">
              <a:ext uri="{FF2B5EF4-FFF2-40B4-BE49-F238E27FC236}">
                <a16:creationId xmlns:a16="http://schemas.microsoft.com/office/drawing/2014/main" id="{DC5FEAF9-FBA6-458D-BB32-2F008DCF97BD}"/>
              </a:ext>
            </a:extLst>
          </p:cNvPr>
          <p:cNvSpPr>
            <a:spLocks xmlns:a="http://schemas.openxmlformats.org/drawingml/2006/main" noGrp="1"/>
          </p:cNvSpPr>
          <p:nvPr/>
        </p:nvSpPr>
        <p:spPr>
          <a:xfrm xmlns:a="http://schemas.openxmlformats.org/drawingml/2006/main">
            <a:off x="619125" y="27336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Median: trung vị cửa sổ 3 × 3 hoặc 5 × 5; biên reflect.</a:t>
            </a:r>
          </a:p>
        </p:txBody>
      </p:sp>
      <p:sp>
        <p:nvSpPr>
          <p:cNvPr id="7" name="">
            <a:extLst xmlns:a="http://schemas.openxmlformats.org/drawingml/2006/main">
              <a:ext uri="{FF2B5EF4-FFF2-40B4-BE49-F238E27FC236}">
                <a16:creationId xmlns:a16="http://schemas.microsoft.com/office/drawing/2014/main" id="{38BCCCAA-CDB0-419C-BE57-2A4E03F281ED}"/>
              </a:ext>
            </a:extLst>
          </p:cNvPr>
          <p:cNvSpPr>
            <a:spLocks xmlns:a="http://schemas.openxmlformats.org/drawingml/2006/main" noGrp="1"/>
          </p:cNvSpPr>
          <p:nvPr/>
        </p:nvSpPr>
        <p:spPr>
          <a:xfrm xmlns:a="http://schemas.openxmlformats.org/drawingml/2006/main">
            <a:off x="619125" y="35147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Ví dụ minh họa: tám pixel 10 và một pixel 255.</a:t>
            </a:r>
          </a:p>
        </p:txBody>
      </p:sp>
      <p:sp>
        <p:nvSpPr>
          <p:cNvPr id="8" name="">
            <a:extLst xmlns:a="http://schemas.openxmlformats.org/drawingml/2006/main">
              <a:ext uri="{FF2B5EF4-FFF2-40B4-BE49-F238E27FC236}">
                <a16:creationId xmlns:a16="http://schemas.microsoft.com/office/drawing/2014/main" id="{4426872F-C7D1-4ADB-ACB9-AF397034AF61}"/>
              </a:ext>
            </a:extLst>
          </p:cNvPr>
          <p:cNvSpPr>
            <a:spLocks xmlns:a="http://schemas.openxmlformats.org/drawingml/2006/main" noGrp="1"/>
          </p:cNvSpPr>
          <p:nvPr/>
        </p:nvSpPr>
        <p:spPr>
          <a:xfrm xmlns:a="http://schemas.openxmlformats.org/drawingml/2006/main">
            <a:off x="619125" y="42957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Median = 10; trung bình đều ≈ 37,22.</a:t>
            </a:r>
          </a:p>
        </p:txBody>
      </p:sp>
      <p:sp>
        <p:nvSpPr>
          <p:cNvPr id="9" name="">
            <a:extLst xmlns:a="http://schemas.openxmlformats.org/drawingml/2006/main">
              <a:ext uri="{FF2B5EF4-FFF2-40B4-BE49-F238E27FC236}">
                <a16:creationId xmlns:a16="http://schemas.microsoft.com/office/drawing/2014/main" id="{8E771A5F-4BED-4335-90B1-174D1B123D24}"/>
              </a:ext>
            </a:extLst>
          </p:cNvPr>
          <p:cNvSpPr>
            <a:spLocks xmlns:a="http://schemas.openxmlformats.org/drawingml/2006/main" noGrp="1"/>
          </p:cNvSpPr>
          <p:nvPr/>
        </p:nvSpPr>
        <p:spPr>
          <a:xfrm xmlns:a="http://schemas.openxmlformats.org/drawingml/2006/main">
            <a:off x="619125" y="50768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Cửa sổ quá lớn có thể xóa chi tiết nhỏ và texture.</a:t>
            </a:r>
          </a:p>
        </p:txBody>
      </p:sp>
    </p:spTree>
    <p:extLst>
      <p:ext uri="{BB962C8B-B14F-4D97-AF65-F5344CB8AC3E}">
        <p14:creationId xmlns:p14="http://schemas.microsoft.com/office/powerpoint/2010/main" val="20033584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08191E-408C-432D-AC38-8B8F3CFD5609}"/>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Bilateral giữ biên bằng khoảng cách màu</a:t>
            </a:r>
          </a:p>
        </p:txBody>
      </p:sp>
      <p:sp>
        <p:nvSpPr>
          <p:cNvPr id="2" name="">
            <a:extLst xmlns:a="http://schemas.openxmlformats.org/drawingml/2006/main">
              <a:ext uri="{FF2B5EF4-FFF2-40B4-BE49-F238E27FC236}">
                <a16:creationId xmlns:a16="http://schemas.microsoft.com/office/drawing/2014/main" id="{779FB2A2-B708-4D9D-B5A6-91F261C51A80}"/>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Mục 4.3  Khử nhiễu</a:t>
            </a:r>
          </a:p>
        </p:txBody>
      </p:sp>
      <p:sp>
        <p:nvSpPr>
          <p:cNvPr id="3" name="">
            <a:extLst xmlns:a="http://schemas.openxmlformats.org/drawingml/2006/main">
              <a:ext uri="{FF2B5EF4-FFF2-40B4-BE49-F238E27FC236}">
                <a16:creationId xmlns:a16="http://schemas.microsoft.com/office/drawing/2014/main" id="{3C320CD2-CDEB-4B31-AF8A-D2C00D28D798}"/>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10</a:t>
            </a:r>
          </a:p>
        </p:txBody>
      </p:sp>
      <p:sp>
        <p:nvSpPr>
          <p:cNvPr id="4" name="">
            <a:extLst xmlns:a="http://schemas.openxmlformats.org/drawingml/2006/main">
              <a:ext uri="{FF2B5EF4-FFF2-40B4-BE49-F238E27FC236}">
                <a16:creationId xmlns:a16="http://schemas.microsoft.com/office/drawing/2014/main" id="{428E8052-8AAF-4AAB-9E1D-1393648EB0D6}"/>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6F193BAE-7D90-4136-8C8F-48BD84FAF098}"/>
              </a:ext>
            </a:extLst>
          </p:cNvPr>
          <p:cNvSpPr>
            <a:spLocks xmlns:a="http://schemas.openxmlformats.org/drawingml/2006/main" noGrp="1"/>
          </p:cNvSpPr>
          <p:nvPr/>
        </p:nvSpPr>
        <p:spPr>
          <a:xfrm xmlns:a="http://schemas.openxmlformats.org/drawingml/2006/main">
            <a:off x="619125" y="19526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Trọng số = gần nhau trong không gian × gần nhau về màu.</a:t>
            </a:r>
          </a:p>
        </p:txBody>
      </p:sp>
      <p:sp>
        <p:nvSpPr>
          <p:cNvPr id="6" name="">
            <a:extLst xmlns:a="http://schemas.openxmlformats.org/drawingml/2006/main">
              <a:ext uri="{FF2B5EF4-FFF2-40B4-BE49-F238E27FC236}">
                <a16:creationId xmlns:a16="http://schemas.microsoft.com/office/drawing/2014/main" id="{F027EF04-74C5-432C-A032-6E4EE0CA5E54}"/>
              </a:ext>
            </a:extLst>
          </p:cNvPr>
          <p:cNvSpPr>
            <a:spLocks xmlns:a="http://schemas.openxmlformats.org/drawingml/2006/main" noGrp="1"/>
          </p:cNvSpPr>
          <p:nvPr/>
        </p:nvSpPr>
        <p:spPr>
          <a:xfrm xmlns:a="http://schemas.openxmlformats.org/drawingml/2006/main">
            <a:off x="619125" y="27336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Cửa sổ 5 × 5; σs = 1,6; σr = 25 / 40 / 60.</a:t>
            </a:r>
          </a:p>
        </p:txBody>
      </p:sp>
      <p:sp>
        <p:nvSpPr>
          <p:cNvPr id="7" name="">
            <a:extLst xmlns:a="http://schemas.openxmlformats.org/drawingml/2006/main">
              <a:ext uri="{FF2B5EF4-FFF2-40B4-BE49-F238E27FC236}">
                <a16:creationId xmlns:a16="http://schemas.microsoft.com/office/drawing/2014/main" id="{78C83DBA-198F-4EDF-9C9B-47DE79B1C67D}"/>
              </a:ext>
            </a:extLst>
          </p:cNvPr>
          <p:cNvSpPr>
            <a:spLocks xmlns:a="http://schemas.openxmlformats.org/drawingml/2006/main" noGrp="1"/>
          </p:cNvSpPr>
          <p:nvPr/>
        </p:nvSpPr>
        <p:spPr>
          <a:xfrm xmlns:a="http://schemas.openxmlformats.org/drawingml/2006/main">
            <a:off x="619125" y="35147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σr nhỏ: hạn chế trộn qua biên nhưng có thể giữ nhiễu.</a:t>
            </a:r>
          </a:p>
        </p:txBody>
      </p:sp>
      <p:sp>
        <p:nvSpPr>
          <p:cNvPr id="8" name="">
            <a:extLst xmlns:a="http://schemas.openxmlformats.org/drawingml/2006/main">
              <a:ext uri="{FF2B5EF4-FFF2-40B4-BE49-F238E27FC236}">
                <a16:creationId xmlns:a16="http://schemas.microsoft.com/office/drawing/2014/main" id="{1310172F-7ED4-49C4-92FA-44D16D0E5E64}"/>
              </a:ext>
            </a:extLst>
          </p:cNvPr>
          <p:cNvSpPr>
            <a:spLocks xmlns:a="http://schemas.openxmlformats.org/drawingml/2006/main" noGrp="1"/>
          </p:cNvSpPr>
          <p:nvPr/>
        </p:nvSpPr>
        <p:spPr>
          <a:xfrm xmlns:a="http://schemas.openxmlformats.org/drawingml/2006/main">
            <a:off x="619125" y="42957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σr lớn: làm mượt mạnh hơn, giảm khả năng phân biệt qua biên.</a:t>
            </a:r>
          </a:p>
        </p:txBody>
      </p:sp>
      <p:sp>
        <p:nvSpPr>
          <p:cNvPr id="9" name="">
            <a:extLst xmlns:a="http://schemas.openxmlformats.org/drawingml/2006/main">
              <a:ext uri="{FF2B5EF4-FFF2-40B4-BE49-F238E27FC236}">
                <a16:creationId xmlns:a16="http://schemas.microsoft.com/office/drawing/2014/main" id="{24A07668-2613-4EB4-9E77-3EB333648C9B}"/>
              </a:ext>
            </a:extLst>
          </p:cNvPr>
          <p:cNvSpPr>
            <a:spLocks xmlns:a="http://schemas.openxmlformats.org/drawingml/2006/main" noGrp="1"/>
          </p:cNvSpPr>
          <p:nvPr/>
        </p:nvSpPr>
        <p:spPr>
          <a:xfrm xmlns:a="http://schemas.openxmlformats.org/drawingml/2006/main">
            <a:off x="619125" y="50768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Không mặc định bilateral luôn tốt hơn Gaussian.</a:t>
            </a:r>
          </a:p>
        </p:txBody>
      </p:sp>
    </p:spTree>
    <p:extLst>
      <p:ext uri="{BB962C8B-B14F-4D97-AF65-F5344CB8AC3E}">
        <p14:creationId xmlns:p14="http://schemas.microsoft.com/office/powerpoint/2010/main" val="17863857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0B7637-241D-462E-A741-F90D77937086}"/>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Unsharp mask và sharpening</a:t>
            </a:r>
          </a:p>
        </p:txBody>
      </p:sp>
      <p:sp>
        <p:nvSpPr>
          <p:cNvPr id="2" name="">
            <a:extLst xmlns:a="http://schemas.openxmlformats.org/drawingml/2006/main">
              <a:ext uri="{FF2B5EF4-FFF2-40B4-BE49-F238E27FC236}">
                <a16:creationId xmlns:a16="http://schemas.microsoft.com/office/drawing/2014/main" id="{87A1E981-859E-4443-8735-6BD1CA9B93CA}"/>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Mục 4.4  Làm sắc nét</a:t>
            </a:r>
          </a:p>
        </p:txBody>
      </p:sp>
      <p:sp>
        <p:nvSpPr>
          <p:cNvPr id="3" name="">
            <a:extLst xmlns:a="http://schemas.openxmlformats.org/drawingml/2006/main">
              <a:ext uri="{FF2B5EF4-FFF2-40B4-BE49-F238E27FC236}">
                <a16:creationId xmlns:a16="http://schemas.microsoft.com/office/drawing/2014/main" id="{55898A82-EE4C-4821-8DAC-A44CA40C66AE}"/>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11</a:t>
            </a:r>
          </a:p>
        </p:txBody>
      </p:sp>
      <p:sp>
        <p:nvSpPr>
          <p:cNvPr id="4" name="">
            <a:extLst xmlns:a="http://schemas.openxmlformats.org/drawingml/2006/main">
              <a:ext uri="{FF2B5EF4-FFF2-40B4-BE49-F238E27FC236}">
                <a16:creationId xmlns:a16="http://schemas.microsoft.com/office/drawing/2014/main" id="{5CC05E07-E6B0-4FE5-A3BF-A41139B27F4F}"/>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5CBBEF47-1567-444B-BEBE-E31110DBD2BA}"/>
              </a:ext>
            </a:extLst>
          </p:cNvPr>
          <p:cNvSpPr>
            <a:spLocks xmlns:a="http://schemas.openxmlformats.org/drawingml/2006/main" noGrp="1"/>
          </p:cNvSpPr>
          <p:nvPr/>
        </p:nvSpPr>
        <p:spPr>
          <a:xfrm xmlns:a="http://schemas.openxmlformats.org/drawingml/2006/main">
            <a:off x="619125" y="2238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5676"/>
                </a:solidFill>
              </a:defRPr>
            </a:defPPr>
          </a:lstStyle>
          <a:p xmlns:a="http://schemas.openxmlformats.org/drawingml/2006/main">
            <a:pPr>
              <a:defRPr sz="2550" b="1">
                <a:solidFill>
                  <a:srgbClr val="175676"/>
                </a:solidFill>
              </a:defRPr>
            </a:pPr>
            <a:r>
              <a:rPr sz="2550" b="1">
                <a:solidFill>
                  <a:srgbClr val="175676"/>
                </a:solidFill>
              </a:rPr>
              <a:t>B = Gσ * I       D = I − B       Iout = clip(I + aD)</a:t>
            </a:r>
          </a:p>
        </p:txBody>
      </p:sp>
      <p:sp>
        <p:nvSpPr>
          <p:cNvPr id="6" name="">
            <a:extLst xmlns:a="http://schemas.openxmlformats.org/drawingml/2006/main">
              <a:ext uri="{FF2B5EF4-FFF2-40B4-BE49-F238E27FC236}">
                <a16:creationId xmlns:a16="http://schemas.microsoft.com/office/drawing/2014/main" id="{E3153FF6-C826-4E11-B736-321CCA227637}"/>
              </a:ext>
            </a:extLst>
          </p:cNvPr>
          <p:cNvSpPr>
            <a:spLocks xmlns:a="http://schemas.openxmlformats.org/drawingml/2006/main" noGrp="1"/>
          </p:cNvSpPr>
          <p:nvPr/>
        </p:nvSpPr>
        <p:spPr>
          <a:xfrm xmlns:a="http://schemas.openxmlformats.org/drawingml/2006/main">
            <a:off x="619125" y="33813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(radius, amount): (1,0; 0,7), (1,5; 1,0), (2,0; 1,2).</a:t>
            </a:r>
          </a:p>
        </p:txBody>
      </p:sp>
      <p:sp>
        <p:nvSpPr>
          <p:cNvPr id="7" name="">
            <a:extLst xmlns:a="http://schemas.openxmlformats.org/drawingml/2006/main">
              <a:ext uri="{FF2B5EF4-FFF2-40B4-BE49-F238E27FC236}">
                <a16:creationId xmlns:a16="http://schemas.microsoft.com/office/drawing/2014/main" id="{E11E7C81-FC72-4A58-B200-2BBAAC3F56EC}"/>
              </a:ext>
            </a:extLst>
          </p:cNvPr>
          <p:cNvSpPr>
            <a:spLocks xmlns:a="http://schemas.openxmlformats.org/drawingml/2006/main" noGrp="1"/>
          </p:cNvSpPr>
          <p:nvPr/>
        </p:nvSpPr>
        <p:spPr>
          <a:xfrm xmlns:a="http://schemas.openxmlformats.org/drawingml/2006/main">
            <a:off x="619125" y="42386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Sharpening: bộ lọc PIL SHARPEN cố định.</a:t>
            </a:r>
          </a:p>
        </p:txBody>
      </p:sp>
      <p:sp>
        <p:nvSpPr>
          <p:cNvPr id="8" name="">
            <a:extLst xmlns:a="http://schemas.openxmlformats.org/drawingml/2006/main">
              <a:ext uri="{FF2B5EF4-FFF2-40B4-BE49-F238E27FC236}">
                <a16:creationId xmlns:a16="http://schemas.microsoft.com/office/drawing/2014/main" id="{51196524-0C08-4545-8BD5-D492E5F9A379}"/>
              </a:ext>
            </a:extLst>
          </p:cNvPr>
          <p:cNvSpPr>
            <a:spLocks xmlns:a="http://schemas.openxmlformats.org/drawingml/2006/main" noGrp="1"/>
          </p:cNvSpPr>
          <p:nvPr/>
        </p:nvSpPr>
        <p:spPr>
          <a:xfrm xmlns:a="http://schemas.openxmlformats.org/drawingml/2006/main">
            <a:off x="619125" y="5095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Tăng tương phản phần chi tiết còn lại; có thể tăng nhiễu và halo.</a:t>
            </a:r>
          </a:p>
        </p:txBody>
      </p:sp>
    </p:spTree>
    <p:extLst>
      <p:ext uri="{BB962C8B-B14F-4D97-AF65-F5344CB8AC3E}">
        <p14:creationId xmlns:p14="http://schemas.microsoft.com/office/powerpoint/2010/main" val="14747360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B20E34-9A40-4D2D-894A-333B0C904CDE}"/>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Hiệu chỉnh màu và giả định trung tính</a:t>
            </a:r>
          </a:p>
        </p:txBody>
      </p:sp>
      <p:sp>
        <p:nvSpPr>
          <p:cNvPr id="2" name="">
            <a:extLst xmlns:a="http://schemas.openxmlformats.org/drawingml/2006/main">
              <a:ext uri="{FF2B5EF4-FFF2-40B4-BE49-F238E27FC236}">
                <a16:creationId xmlns:a16="http://schemas.microsoft.com/office/drawing/2014/main" id="{A95A3AA4-A355-4D81-8DB6-EB56C80A5C47}"/>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Mục 4.5  Hiệu chỉnh màu</a:t>
            </a:r>
          </a:p>
        </p:txBody>
      </p:sp>
      <p:sp>
        <p:nvSpPr>
          <p:cNvPr id="3" name="">
            <a:extLst xmlns:a="http://schemas.openxmlformats.org/drawingml/2006/main">
              <a:ext uri="{FF2B5EF4-FFF2-40B4-BE49-F238E27FC236}">
                <a16:creationId xmlns:a16="http://schemas.microsoft.com/office/drawing/2014/main" id="{E5344EA6-E006-4938-A92D-B1C2547577F1}"/>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12</a:t>
            </a:r>
          </a:p>
        </p:txBody>
      </p:sp>
      <p:sp>
        <p:nvSpPr>
          <p:cNvPr id="4" name="">
            <a:extLst xmlns:a="http://schemas.openxmlformats.org/drawingml/2006/main">
              <a:ext uri="{FF2B5EF4-FFF2-40B4-BE49-F238E27FC236}">
                <a16:creationId xmlns:a16="http://schemas.microsoft.com/office/drawing/2014/main" id="{B571A493-1415-4E07-A980-894323C12FF3}"/>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graphicFrame>
        <p:nvGraphicFramePr>
          <p:cNvPr id="5" name="">
            <a:extLst xmlns:a="http://schemas.openxmlformats.org/drawingml/2006/main">
              <a:ext uri="{FF2B5EF4-FFF2-40B4-BE49-F238E27FC236}">
                <a16:creationId xmlns:a16="http://schemas.microsoft.com/office/drawing/2014/main" id="{8054B5D2-6C20-4E02-88EA-33262026F8EB}"/>
              </a:ext>
            </a:extLst>
          </p:cNvPr>
          <p:cNvGraphicFramePr/>
          <p:nvPr/>
        </p:nvGraphicFramePr>
        <p:xfrm>
          <a:off xmlns:a="http://schemas.openxmlformats.org/drawingml/2006/main" x="619125" y="2190750"/>
          <a:ext xmlns:a="http://schemas.openxmlformats.org/drawingml/2006/main" cx="10953750" cy="2952750"/>
        </p:xfrm>
        <a:graphic xmlns:a="http://schemas.openxmlformats.org/drawingml/2006/main">
          <a:graphicData uri="http://schemas.openxmlformats.org/drawingml/2006/table">
            <a:tbl>
              <a:tblPr/>
              <a:tblGrid>
                <a:gridCol w="2476500"/>
                <a:gridCol w="5143500"/>
                <a:gridCol w="3333750"/>
              </a:tblGrid>
              <a:tr h="738188">
                <a:tc>
                  <a:txBody>
                    <a:bodyPr/>
                    <a:lstStyle/>
                    <a:p>
                      <a:r>
                        <a:rPr sz="1800" b="1">
                          <a:solidFill>
                            <a:srgbClr val="FFFFFF"/>
                          </a:solidFill>
                        </a:rPr>
                        <a:t>Phương pháp</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c>
                  <a:txBody>
                    <a:bodyPr/>
                    <a:lstStyle/>
                    <a:p>
                      <a:r>
                        <a:rPr sz="1800" b="1">
                          <a:solidFill>
                            <a:srgbClr val="FFFFFF"/>
                          </a:solidFill>
                        </a:rPr>
                        <a:t>Phép biến đổi thực dùng</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c>
                  <a:txBody>
                    <a:bodyPr/>
                    <a:lstStyle/>
                    <a:p>
                      <a:r>
                        <a:rPr sz="1800" b="1">
                          <a:solidFill>
                            <a:srgbClr val="FFFFFF"/>
                          </a:solidFill>
                        </a:rPr>
                        <a:t>Rủi ro</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75676"/>
                    </a:solidFill>
                  </a:tcPr>
                </a:tc>
              </a:tr>
              <a:tr h="738188">
                <a:tc>
                  <a:txBody>
                    <a:bodyPr/>
                    <a:lstStyle/>
                    <a:p>
                      <a:r>
                        <a:rPr sz="1800" b="0">
                          <a:solidFill>
                            <a:srgbClr val="142C40"/>
                          </a:solidFill>
                        </a:rPr>
                        <a:t>RGB balance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Gain = mean chung / mean kênh</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Hoa màu trội sai gray-world</a:t>
                      </a:r>
                    </a:p>
                  </a:txBody>
                  <a:tcPr marL="91440" marR="91440" marT="45720" marB="45720">
                    <a:lnR w="9525">
                      <a:solidFill>
                        <a:srgbClr val="D9D9D9"/>
                      </a:solidFill>
                      <a:prstDash val="solid"/>
                    </a:lnR>
                    <a:lnB w="9525">
                      <a:solidFill>
                        <a:srgbClr val="D9D9D9"/>
                      </a:solidFill>
                      <a:prstDash val="solid"/>
                    </a:lnB>
                    <a:solidFill>
                      <a:srgbClr val="FFFFFF"/>
                    </a:solidFill>
                  </a:tcPr>
                </a:tc>
              </a:tr>
              <a:tr h="738188">
                <a:tc>
                  <a:txBody>
                    <a:bodyPr/>
                    <a:lstStyle/>
                    <a:p>
                      <a:r>
                        <a:rPr sz="1800" b="0">
                          <a:solidFill>
                            <a:srgbClr val="142C40"/>
                          </a:solidFill>
                        </a:rPr>
                        <a:t>HSV correction</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S × 0,92; equalize V có clipping</a:t>
                      </a:r>
                    </a:p>
                  </a:txBody>
                  <a:tcPr marL="91440" marR="91440" marT="45720" marB="45720">
                    <a:lnR w="9525">
                      <a:solidFill>
                        <a:srgbClr val="D9D9D9"/>
                      </a:solidFill>
                      <a:prstDash val="solid"/>
                    </a:lnR>
                    <a:lnB w="9525">
                      <a:solidFill>
                        <a:srgbClr val="D9D9D9"/>
                      </a:solidFill>
                      <a:prstDash val="solid"/>
                    </a:lnB>
                    <a:solidFill>
                      <a:srgbClr val="EDF3F6"/>
                    </a:solidFill>
                  </a:tcPr>
                </a:tc>
                <a:tc>
                  <a:txBody>
                    <a:bodyPr/>
                    <a:lstStyle/>
                    <a:p>
                      <a:r>
                        <a:rPr sz="1800" b="0">
                          <a:solidFill>
                            <a:srgbClr val="142C40"/>
                          </a:solidFill>
                        </a:rPr>
                        <a:t>Đổi màu và tương phản toàn ảnh</a:t>
                      </a:r>
                    </a:p>
                  </a:txBody>
                  <a:tcPr marL="91440" marR="91440" marT="45720" marB="45720">
                    <a:lnR w="9525">
                      <a:solidFill>
                        <a:srgbClr val="D9D9D9"/>
                      </a:solidFill>
                      <a:prstDash val="solid"/>
                    </a:lnR>
                    <a:lnB w="9525">
                      <a:solidFill>
                        <a:srgbClr val="D9D9D9"/>
                      </a:solidFill>
                      <a:prstDash val="solid"/>
                    </a:lnB>
                    <a:solidFill>
                      <a:srgbClr val="EDF3F6"/>
                    </a:solidFill>
                  </a:tcPr>
                </a:tc>
              </a:tr>
              <a:tr h="738188">
                <a:tc>
                  <a:txBody>
                    <a:bodyPr/>
                    <a:lstStyle/>
                    <a:p>
                      <a:r>
                        <a:rPr sz="1800" b="0">
                          <a:solidFill>
                            <a:srgbClr val="142C40"/>
                          </a:solidFill>
                        </a:rPr>
                        <a:t>Lab correction</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Trừ mean a*/b*; L* theo P1–P99</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00" b="0">
                          <a:solidFill>
                            <a:srgbClr val="142C40"/>
                          </a:solidFill>
                        </a:rPr>
                        <a:t>Cắt vùng sáng/tối; lệch màu hoa</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DED3446-B258-41EE-9877-D90577E94AE8}"/>
              </a:ext>
            </a:extLst>
          </p:cNvPr>
          <p:cNvSpPr>
            <a:spLocks xmlns:a="http://schemas.openxmlformats.org/drawingml/2006/main" noGrp="1"/>
          </p:cNvSpPr>
          <p:nvPr/>
        </p:nvSpPr>
        <p:spPr>
          <a:xfrm xmlns:a="http://schemas.openxmlformats.org/drawingml/2006/main">
            <a:off x="619125" y="5572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6C64"/>
                </a:solidFill>
              </a:defRPr>
            </a:defPPr>
          </a:lstStyle>
          <a:p xmlns:a="http://schemas.openxmlformats.org/drawingml/2006/main">
            <a:pPr>
              <a:defRPr sz="1950" b="0">
                <a:solidFill>
                  <a:srgbClr val="146C64"/>
                </a:solidFill>
              </a:defRPr>
            </a:pPr>
            <a:r>
              <a:rPr sz="1950" b="0">
                <a:solidFill>
                  <a:srgbClr val="146C64"/>
                </a:solidFill>
              </a:rPr>
              <a:t>HSV correction dùng histogram toàn ảnh; khác CLAHE theo tile.</a:t>
            </a:r>
          </a:p>
        </p:txBody>
      </p:sp>
    </p:spTree>
    <p:extLst>
      <p:ext uri="{BB962C8B-B14F-4D97-AF65-F5344CB8AC3E}">
        <p14:creationId xmlns:p14="http://schemas.microsoft.com/office/powerpoint/2010/main" val="5987249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2E3A92-3D79-43D0-984C-2C4FE59737AD}"/>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Đọc đồng thời nhiễu biên chi tiết và màu</a:t>
            </a:r>
          </a:p>
        </p:txBody>
      </p:sp>
      <p:sp>
        <p:nvSpPr>
          <p:cNvPr id="2" name="">
            <a:extLst xmlns:a="http://schemas.openxmlformats.org/drawingml/2006/main">
              <a:ext uri="{FF2B5EF4-FFF2-40B4-BE49-F238E27FC236}">
                <a16:creationId xmlns:a16="http://schemas.microsoft.com/office/drawing/2014/main" id="{79AC1EAB-355D-4F03-9865-748285644842}"/>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Mục 4.6  Đánh đổi của xử lý ảnh</a:t>
            </a:r>
          </a:p>
        </p:txBody>
      </p:sp>
      <p:sp>
        <p:nvSpPr>
          <p:cNvPr id="3" name="">
            <a:extLst xmlns:a="http://schemas.openxmlformats.org/drawingml/2006/main">
              <a:ext uri="{FF2B5EF4-FFF2-40B4-BE49-F238E27FC236}">
                <a16:creationId xmlns:a16="http://schemas.microsoft.com/office/drawing/2014/main" id="{69FC294A-8545-4598-BD42-F2BD0AB9075A}"/>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13</a:t>
            </a:r>
          </a:p>
        </p:txBody>
      </p:sp>
      <p:sp>
        <p:nvSpPr>
          <p:cNvPr id="4" name="">
            <a:extLst xmlns:a="http://schemas.openxmlformats.org/drawingml/2006/main">
              <a:ext uri="{FF2B5EF4-FFF2-40B4-BE49-F238E27FC236}">
                <a16:creationId xmlns:a16="http://schemas.microsoft.com/office/drawing/2014/main" id="{511A8DCC-7576-4188-8C3E-986E13D87F94}"/>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59AFF230-72D1-4DDF-A6CA-397AC1B94314}"/>
              </a:ext>
            </a:extLst>
          </p:cNvPr>
          <p:cNvSpPr>
            <a:spLocks xmlns:a="http://schemas.openxmlformats.org/drawingml/2006/main" noGrp="1"/>
          </p:cNvSpPr>
          <p:nvPr/>
        </p:nvSpPr>
        <p:spPr>
          <a:xfrm xmlns:a="http://schemas.openxmlformats.org/drawingml/2006/main">
            <a:off x="619125" y="21431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0"/>
                </a:solidFill>
              </a:defRPr>
            </a:defPPr>
          </a:lstStyle>
          <a:p xmlns:a="http://schemas.openxmlformats.org/drawingml/2006/main">
            <a:pPr>
              <a:defRPr sz="2250" b="0">
                <a:solidFill>
                  <a:srgbClr val="142C40"/>
                </a:solidFill>
              </a:defRPr>
            </a:pPr>
            <a:r>
              <a:rPr sz="2250" b="0">
                <a:solidFill>
                  <a:srgbClr val="142C40"/>
                </a:solidFill>
              </a:rPr>
              <a:t>Lọc mạnh: ít nhiễu hơn nhưng có thể mất cấu trúc mảnh.</a:t>
            </a:r>
          </a:p>
        </p:txBody>
      </p:sp>
      <p:sp>
        <p:nvSpPr>
          <p:cNvPr id="6" name="">
            <a:extLst xmlns:a="http://schemas.openxmlformats.org/drawingml/2006/main">
              <a:ext uri="{FF2B5EF4-FFF2-40B4-BE49-F238E27FC236}">
                <a16:creationId xmlns:a16="http://schemas.microsoft.com/office/drawing/2014/main" id="{C1F0FA36-90C3-40F2-AFA3-871BBAA70947}"/>
              </a:ext>
            </a:extLst>
          </p:cNvPr>
          <p:cNvSpPr>
            <a:spLocks xmlns:a="http://schemas.openxmlformats.org/drawingml/2006/main" noGrp="1"/>
          </p:cNvSpPr>
          <p:nvPr/>
        </p:nvSpPr>
        <p:spPr>
          <a:xfrm xmlns:a="http://schemas.openxmlformats.org/drawingml/2006/main">
            <a:off x="619125" y="30194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0"/>
                </a:solidFill>
              </a:defRPr>
            </a:defPPr>
          </a:lstStyle>
          <a:p xmlns:a="http://schemas.openxmlformats.org/drawingml/2006/main">
            <a:pPr>
              <a:defRPr sz="2250" b="0">
                <a:solidFill>
                  <a:srgbClr val="142C40"/>
                </a:solidFill>
              </a:defRPr>
            </a:pPr>
            <a:r>
              <a:rPr sz="2250" b="0">
                <a:solidFill>
                  <a:srgbClr val="142C40"/>
                </a:solidFill>
              </a:rPr>
              <a:t>Gradient tăng: có thể là biên, nhiễu hoặc halo.</a:t>
            </a:r>
          </a:p>
        </p:txBody>
      </p:sp>
      <p:sp>
        <p:nvSpPr>
          <p:cNvPr id="7" name="">
            <a:extLst xmlns:a="http://schemas.openxmlformats.org/drawingml/2006/main">
              <a:ext uri="{FF2B5EF4-FFF2-40B4-BE49-F238E27FC236}">
                <a16:creationId xmlns:a16="http://schemas.microsoft.com/office/drawing/2014/main" id="{F0299523-2536-4863-8547-5C6577E2703C}"/>
              </a:ext>
            </a:extLst>
          </p:cNvPr>
          <p:cNvSpPr>
            <a:spLocks xmlns:a="http://schemas.openxmlformats.org/drawingml/2006/main" noGrp="1"/>
          </p:cNvSpPr>
          <p:nvPr/>
        </p:nvSpPr>
        <p:spPr>
          <a:xfrm xmlns:a="http://schemas.openxmlformats.org/drawingml/2006/main">
            <a:off x="619125" y="38957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0"/>
                </a:solidFill>
              </a:defRPr>
            </a:defPPr>
          </a:lstStyle>
          <a:p xmlns:a="http://schemas.openxmlformats.org/drawingml/2006/main">
            <a:pPr>
              <a:defRPr sz="2250" b="0">
                <a:solidFill>
                  <a:srgbClr val="142C40"/>
                </a:solidFill>
              </a:defRPr>
            </a:pPr>
            <a:r>
              <a:rPr sz="2250" b="0">
                <a:solidFill>
                  <a:srgbClr val="142C40"/>
                </a:solidFill>
              </a:rPr>
              <a:t>Histogram rộng: chưa chứng minh giữ đúng cấu trúc và màu.</a:t>
            </a:r>
          </a:p>
        </p:txBody>
      </p:sp>
      <p:sp>
        <p:nvSpPr>
          <p:cNvPr id="8" name="">
            <a:extLst xmlns:a="http://schemas.openxmlformats.org/drawingml/2006/main">
              <a:ext uri="{FF2B5EF4-FFF2-40B4-BE49-F238E27FC236}">
                <a16:creationId xmlns:a16="http://schemas.microsoft.com/office/drawing/2014/main" id="{773D8AF4-6334-4E47-9988-F52E1D168871}"/>
              </a:ext>
            </a:extLst>
          </p:cNvPr>
          <p:cNvSpPr>
            <a:spLocks xmlns:a="http://schemas.openxmlformats.org/drawingml/2006/main" noGrp="1"/>
          </p:cNvSpPr>
          <p:nvPr/>
        </p:nvSpPr>
        <p:spPr>
          <a:xfrm xmlns:a="http://schemas.openxmlformats.org/drawingml/2006/main">
            <a:off x="619125" y="47720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0"/>
                </a:solidFill>
              </a:defRPr>
            </a:defPPr>
          </a:lstStyle>
          <a:p xmlns:a="http://schemas.openxmlformats.org/drawingml/2006/main">
            <a:pPr>
              <a:defRPr sz="2250" b="0">
                <a:solidFill>
                  <a:srgbClr val="142C40"/>
                </a:solidFill>
              </a:defRPr>
            </a:pPr>
            <a:r>
              <a:rPr sz="2250" b="0">
                <a:solidFill>
                  <a:srgbClr val="142C40"/>
                </a:solidFill>
              </a:rPr>
              <a:t>So ảnh sạch – suy giảm – xử lý, rồi đối chiếu các metric.</a:t>
            </a:r>
          </a:p>
        </p:txBody>
      </p:sp>
    </p:spTree>
    <p:extLst>
      <p:ext uri="{BB962C8B-B14F-4D97-AF65-F5344CB8AC3E}">
        <p14:creationId xmlns:p14="http://schemas.microsoft.com/office/powerpoint/2010/main" val="6228822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B639B0-A3AE-49CB-A8B2-059AC30E25EA}"/>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49 điều kiện với tham số khóa trên Validation</a:t>
            </a:r>
          </a:p>
        </p:txBody>
      </p:sp>
      <p:sp>
        <p:nvSpPr>
          <p:cNvPr id="2" name="">
            <a:extLst xmlns:a="http://schemas.openxmlformats.org/drawingml/2006/main">
              <a:ext uri="{FF2B5EF4-FFF2-40B4-BE49-F238E27FC236}">
                <a16:creationId xmlns:a16="http://schemas.microsoft.com/office/drawing/2014/main" id="{D0240C7D-0DF8-4BAF-B692-ADDD91C966D6}"/>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5  Thiết kế thực nghiệm</a:t>
            </a:r>
          </a:p>
        </p:txBody>
      </p:sp>
      <p:sp>
        <p:nvSpPr>
          <p:cNvPr id="3" name="">
            <a:extLst xmlns:a="http://schemas.openxmlformats.org/drawingml/2006/main">
              <a:ext uri="{FF2B5EF4-FFF2-40B4-BE49-F238E27FC236}">
                <a16:creationId xmlns:a16="http://schemas.microsoft.com/office/drawing/2014/main" id="{8C1C3696-69C5-440A-BEF4-3B67A122E947}"/>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14</a:t>
            </a:r>
          </a:p>
        </p:txBody>
      </p:sp>
      <p:sp>
        <p:nvSpPr>
          <p:cNvPr id="4" name="">
            <a:extLst xmlns:a="http://schemas.openxmlformats.org/drawingml/2006/main">
              <a:ext uri="{FF2B5EF4-FFF2-40B4-BE49-F238E27FC236}">
                <a16:creationId xmlns:a16="http://schemas.microsoft.com/office/drawing/2014/main" id="{DC2EE576-F08A-47BA-97AE-D3AFDD77A3B3}"/>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762F0EF1-B410-49F6-B771-E8B2812B4530}"/>
              </a:ext>
            </a:extLst>
          </p:cNvPr>
          <p:cNvSpPr>
            <a:spLocks xmlns:a="http://schemas.openxmlformats.org/drawingml/2006/main" noGrp="1"/>
          </p:cNvSpPr>
          <p:nvPr/>
        </p:nvSpPr>
        <p:spPr>
          <a:xfrm xmlns:a="http://schemas.openxmlformats.org/drawingml/2006/main">
            <a:off x="619125" y="21907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5676"/>
                </a:solidFill>
              </a:defRPr>
            </a:defPPr>
          </a:lstStyle>
          <a:p xmlns:a="http://schemas.openxmlformats.org/drawingml/2006/main">
            <a:pPr>
              <a:defRPr sz="2925" b="1">
                <a:solidFill>
                  <a:srgbClr val="175676"/>
                </a:solidFill>
              </a:defRPr>
            </a:pPr>
            <a:r>
              <a:rPr sz="2925" b="1">
                <a:solidFill>
                  <a:srgbClr val="175676"/>
                </a:solidFill>
              </a:rPr>
              <a:t>1 clean  +  15 degraded  +  33 enhanced  =  49</a:t>
            </a:r>
          </a:p>
        </p:txBody>
      </p:sp>
      <p:sp>
        <p:nvSpPr>
          <p:cNvPr id="6" name="">
            <a:extLst xmlns:a="http://schemas.openxmlformats.org/drawingml/2006/main">
              <a:ext uri="{FF2B5EF4-FFF2-40B4-BE49-F238E27FC236}">
                <a16:creationId xmlns:a16="http://schemas.microsoft.com/office/drawing/2014/main" id="{1FE16CF7-0E0B-4C59-A207-2FED6DA8EC60}"/>
              </a:ext>
            </a:extLst>
          </p:cNvPr>
          <p:cNvSpPr>
            <a:spLocks xmlns:a="http://schemas.openxmlformats.org/drawingml/2006/main" noGrp="1"/>
          </p:cNvSpPr>
          <p:nvPr/>
        </p:nvSpPr>
        <p:spPr>
          <a:xfrm xmlns:a="http://schemas.openxmlformats.org/drawingml/2006/main">
            <a:off x="619125" y="33813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550 ảnh Test mỗi điều kiện → 26.950 dự đoán.</a:t>
            </a:r>
          </a:p>
        </p:txBody>
      </p:sp>
      <p:sp>
        <p:nvSpPr>
          <p:cNvPr id="7" name="">
            <a:extLst xmlns:a="http://schemas.openxmlformats.org/drawingml/2006/main">
              <a:ext uri="{FF2B5EF4-FFF2-40B4-BE49-F238E27FC236}">
                <a16:creationId xmlns:a16="http://schemas.microsoft.com/office/drawing/2014/main" id="{D3679B09-79F6-44EE-95C5-C3DCD02C4799}"/>
              </a:ext>
            </a:extLst>
          </p:cNvPr>
          <p:cNvSpPr>
            <a:spLocks xmlns:a="http://schemas.openxmlformats.org/drawingml/2006/main" noGrp="1"/>
          </p:cNvSpPr>
          <p:nvPr/>
        </p:nvSpPr>
        <p:spPr>
          <a:xfrm xmlns:a="http://schemas.openxmlformats.org/drawingml/2006/main">
            <a:off x="619125" y="42386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Tuning thực tế: Macro F1 → SSIM → thời gian enhancement.</a:t>
            </a:r>
          </a:p>
        </p:txBody>
      </p:sp>
      <p:sp>
        <p:nvSpPr>
          <p:cNvPr id="8" name="">
            <a:extLst xmlns:a="http://schemas.openxmlformats.org/drawingml/2006/main">
              <a:ext uri="{FF2B5EF4-FFF2-40B4-BE49-F238E27FC236}">
                <a16:creationId xmlns:a16="http://schemas.microsoft.com/office/drawing/2014/main" id="{11EB5A66-A290-4B74-B307-745A58B69DE1}"/>
              </a:ext>
            </a:extLst>
          </p:cNvPr>
          <p:cNvSpPr>
            <a:spLocks xmlns:a="http://schemas.openxmlformats.org/drawingml/2006/main" noGrp="1"/>
          </p:cNvSpPr>
          <p:nvPr/>
        </p:nvSpPr>
        <p:spPr>
          <a:xfrm xmlns:a="http://schemas.openxmlformats.org/drawingml/2006/main">
            <a:off x="619125" y="5095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0"/>
                </a:solidFill>
              </a:defRPr>
            </a:defPPr>
          </a:lstStyle>
          <a:p xmlns:a="http://schemas.openxmlformats.org/drawingml/2006/main">
            <a:pPr>
              <a:defRPr sz="2175" b="0">
                <a:solidFill>
                  <a:srgbClr val="142C40"/>
                </a:solidFill>
              </a:defRPr>
            </a:pPr>
            <a:r>
              <a:rPr sz="2175" b="0">
                <a:solidFill>
                  <a:srgbClr val="142C40"/>
                </a:solidFill>
              </a:rPr>
              <a:t>Không tối ưu tham số theo Test hoặc sửa protocol theo kết quả.</a:t>
            </a:r>
          </a:p>
        </p:txBody>
      </p:sp>
    </p:spTree>
    <p:extLst>
      <p:ext uri="{BB962C8B-B14F-4D97-AF65-F5344CB8AC3E}">
        <p14:creationId xmlns:p14="http://schemas.microsoft.com/office/powerpoint/2010/main" val="10246047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7324F9F-2A26-48B5-8E70-2B2EE0D98A8E}"/>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Metric chất lượng ảnh và cách diễn giải</a:t>
            </a:r>
          </a:p>
        </p:txBody>
      </p:sp>
      <p:sp>
        <p:nvSpPr>
          <p:cNvPr id="2" name="">
            <a:extLst xmlns:a="http://schemas.openxmlformats.org/drawingml/2006/main">
              <a:ext uri="{FF2B5EF4-FFF2-40B4-BE49-F238E27FC236}">
                <a16:creationId xmlns:a16="http://schemas.microsoft.com/office/drawing/2014/main" id="{3FA0ABAB-B3B3-4A73-BA2A-B7CE38FBBBFC}"/>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5 và mục 6.1</a:t>
            </a:r>
          </a:p>
        </p:txBody>
      </p:sp>
      <p:sp>
        <p:nvSpPr>
          <p:cNvPr id="3" name="">
            <a:extLst xmlns:a="http://schemas.openxmlformats.org/drawingml/2006/main">
              <a:ext uri="{FF2B5EF4-FFF2-40B4-BE49-F238E27FC236}">
                <a16:creationId xmlns:a16="http://schemas.microsoft.com/office/drawing/2014/main" id="{8AF4F806-14F7-4314-9742-3C3F9A719DCE}"/>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15</a:t>
            </a:r>
          </a:p>
        </p:txBody>
      </p:sp>
      <p:sp>
        <p:nvSpPr>
          <p:cNvPr id="4" name="">
            <a:extLst xmlns:a="http://schemas.openxmlformats.org/drawingml/2006/main">
              <a:ext uri="{FF2B5EF4-FFF2-40B4-BE49-F238E27FC236}">
                <a16:creationId xmlns:a16="http://schemas.microsoft.com/office/drawing/2014/main" id="{EB64559C-E494-42DE-BE1A-A6FD0CADB780}"/>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C9C47602-AA64-4269-B03B-778363FE3573}"/>
              </a:ext>
            </a:extLst>
          </p:cNvPr>
          <p:cNvSpPr>
            <a:spLocks xmlns:a="http://schemas.openxmlformats.org/drawingml/2006/main" noGrp="1"/>
          </p:cNvSpPr>
          <p:nvPr/>
        </p:nvSpPr>
        <p:spPr>
          <a:xfrm xmlns:a="http://schemas.openxmlformats.org/drawingml/2006/main">
            <a:off x="619125" y="19526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PSNR: sai số pixel so với ảnh sạch; cao hơn thường tốt hơn.</a:t>
            </a:r>
          </a:p>
        </p:txBody>
      </p:sp>
      <p:sp>
        <p:nvSpPr>
          <p:cNvPr id="6" name="">
            <a:extLst xmlns:a="http://schemas.openxmlformats.org/drawingml/2006/main">
              <a:ext uri="{FF2B5EF4-FFF2-40B4-BE49-F238E27FC236}">
                <a16:creationId xmlns:a16="http://schemas.microsoft.com/office/drawing/2014/main" id="{08E15813-4158-4A09-A1BD-45E11CEC7D8E}"/>
              </a:ext>
            </a:extLst>
          </p:cNvPr>
          <p:cNvSpPr>
            <a:spLocks xmlns:a="http://schemas.openxmlformats.org/drawingml/2006/main" noGrp="1"/>
          </p:cNvSpPr>
          <p:nvPr/>
        </p:nvSpPr>
        <p:spPr>
          <a:xfrm xmlns:a="http://schemas.openxmlformats.org/drawingml/2006/main">
            <a:off x="619125" y="27336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SSIM: độ sáng, tương phản và cấu trúc cục bộ.</a:t>
            </a:r>
          </a:p>
        </p:txBody>
      </p:sp>
      <p:sp>
        <p:nvSpPr>
          <p:cNvPr id="7" name="">
            <a:extLst xmlns:a="http://schemas.openxmlformats.org/drawingml/2006/main">
              <a:ext uri="{FF2B5EF4-FFF2-40B4-BE49-F238E27FC236}">
                <a16:creationId xmlns:a16="http://schemas.microsoft.com/office/drawing/2014/main" id="{35232963-CD41-40EB-BA67-BEF934BB58DE}"/>
              </a:ext>
            </a:extLst>
          </p:cNvPr>
          <p:cNvSpPr>
            <a:spLocks xmlns:a="http://schemas.openxmlformats.org/drawingml/2006/main" noGrp="1"/>
          </p:cNvSpPr>
          <p:nvPr/>
        </p:nvSpPr>
        <p:spPr>
          <a:xfrm xmlns:a="http://schemas.openxmlformats.org/drawingml/2006/main">
            <a:off x="619125" y="35147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ΔE2000: sai khác màu trong Lab; thấp hơn thường tốt hơn.</a:t>
            </a:r>
          </a:p>
        </p:txBody>
      </p:sp>
      <p:sp>
        <p:nvSpPr>
          <p:cNvPr id="8" name="">
            <a:extLst xmlns:a="http://schemas.openxmlformats.org/drawingml/2006/main">
              <a:ext uri="{FF2B5EF4-FFF2-40B4-BE49-F238E27FC236}">
                <a16:creationId xmlns:a16="http://schemas.microsoft.com/office/drawing/2014/main" id="{D2F17738-AD17-4042-8F54-7948B51D81A2}"/>
              </a:ext>
            </a:extLst>
          </p:cNvPr>
          <p:cNvSpPr>
            <a:spLocks xmlns:a="http://schemas.openxmlformats.org/drawingml/2006/main" noGrp="1"/>
          </p:cNvSpPr>
          <p:nvPr/>
        </p:nvSpPr>
        <p:spPr>
          <a:xfrm xmlns:a="http://schemas.openxmlformats.org/drawingml/2006/main">
            <a:off x="619125" y="42957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Toàn bộ 550 ảnh, lấy mẫu stride 4 → lưới 56 × 56.</a:t>
            </a:r>
          </a:p>
        </p:txBody>
      </p:sp>
      <p:sp>
        <p:nvSpPr>
          <p:cNvPr id="9" name="">
            <a:extLst xmlns:a="http://schemas.openxmlformats.org/drawingml/2006/main">
              <a:ext uri="{FF2B5EF4-FFF2-40B4-BE49-F238E27FC236}">
                <a16:creationId xmlns:a16="http://schemas.microsoft.com/office/drawing/2014/main" id="{2672B678-B932-4519-BCD1-A3370CB03421}"/>
              </a:ext>
            </a:extLst>
          </p:cNvPr>
          <p:cNvSpPr>
            <a:spLocks xmlns:a="http://schemas.openxmlformats.org/drawingml/2006/main" noGrp="1"/>
          </p:cNvSpPr>
          <p:nvPr/>
        </p:nvSpPr>
        <p:spPr>
          <a:xfrm xmlns:a="http://schemas.openxmlformats.org/drawingml/2006/main">
            <a:off x="619125" y="50768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Không dùng một metric ảnh để thay kết luận về nhận diện.</a:t>
            </a:r>
          </a:p>
        </p:txBody>
      </p:sp>
    </p:spTree>
    <p:extLst>
      <p:ext uri="{BB962C8B-B14F-4D97-AF65-F5344CB8AC3E}">
        <p14:creationId xmlns:p14="http://schemas.microsoft.com/office/powerpoint/2010/main" val="18540054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09EE4A-0A3B-4763-B0B0-C4A574E2551A}"/>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Thiếu sáng và giới hạn của nghịch đảo Gamma</a:t>
            </a:r>
          </a:p>
        </p:txBody>
      </p:sp>
      <p:sp>
        <p:nvSpPr>
          <p:cNvPr id="2" name="">
            <a:extLst xmlns:a="http://schemas.openxmlformats.org/drawingml/2006/main">
              <a:ext uri="{FF2B5EF4-FFF2-40B4-BE49-F238E27FC236}">
                <a16:creationId xmlns:a16="http://schemas.microsoft.com/office/drawing/2014/main" id="{59DBB93D-C85B-4EE5-94FC-6E34163A3860}"/>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6  Mục 6.2</a:t>
            </a:r>
          </a:p>
        </p:txBody>
      </p:sp>
      <p:sp>
        <p:nvSpPr>
          <p:cNvPr id="3" name="">
            <a:extLst xmlns:a="http://schemas.openxmlformats.org/drawingml/2006/main">
              <a:ext uri="{FF2B5EF4-FFF2-40B4-BE49-F238E27FC236}">
                <a16:creationId xmlns:a16="http://schemas.microsoft.com/office/drawing/2014/main" id="{5F002A34-6FCC-4AEF-A9B0-AF0F194A7BFC}"/>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16</a:t>
            </a:r>
          </a:p>
        </p:txBody>
      </p:sp>
      <p:sp>
        <p:nvSpPr>
          <p:cNvPr id="4" name="">
            <a:extLst xmlns:a="http://schemas.openxmlformats.org/drawingml/2006/main">
              <a:ext uri="{FF2B5EF4-FFF2-40B4-BE49-F238E27FC236}">
                <a16:creationId xmlns:a16="http://schemas.microsoft.com/office/drawing/2014/main" id="{70EA0D1C-7506-4853-887D-41AD5E659314}"/>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pic>
        <p:nvPicPr>
          <p:cNvPr id="5" name="">
            <a:extLst xmlns:a="http://schemas.openxmlformats.org/drawingml/2006/main">
              <a:ext uri="{FF2B5EF4-FFF2-40B4-BE49-F238E27FC236}">
                <a16:creationId xmlns:a16="http://schemas.microsoft.com/office/drawing/2014/main" id="{089A1D98-38D4-4396-B201-924EE360EADE}"/>
              </a:ext>
            </a:extLst>
          </p:cNvPr>
          <p:cNvPicPr>
            <a:picLocks xmlns:a="http://schemas.openxmlformats.org/drawingml/2006/main" noChangeAspect="1"/>
          </p:cNvPicPr>
          <p:nvPr/>
        </p:nvPicPr>
        <p:blipFill>
          <a:blip xmlns:r="http://schemas.openxmlformats.org/officeDocument/2006/relationships" xmlns:a="http://schemas.openxmlformats.org/drawingml/2006/main" r:embed="R3772c6ce0406433c"/>
          <a:stretch xmlns:a="http://schemas.openxmlformats.org/drawingml/2006/main"/>
        </p:blipFill>
        <p:spPr>
          <a:xfrm xmlns:a="http://schemas.openxmlformats.org/drawingml/2006/main">
            <a:off x="1940837" y="1828800"/>
            <a:ext cx="8262702"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88CD5A0-DB1D-4D32-B59F-0F56ECA4379A}"/>
              </a:ext>
            </a:extLst>
          </p:cNvPr>
          <p:cNvSpPr>
            <a:spLocks xmlns:a="http://schemas.openxmlformats.org/drawingml/2006/main" noGrp="1"/>
          </p:cNvSpPr>
          <p:nvPr/>
        </p:nvSpPr>
        <p:spPr>
          <a:xfrm xmlns:a="http://schemas.openxmlformats.org/drawingml/2006/main">
            <a:off x="619125" y="51625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5676"/>
                </a:solidFill>
              </a:defRPr>
            </a:defPPr>
          </a:lstStyle>
          <a:p xmlns:a="http://schemas.openxmlformats.org/drawingml/2006/main">
            <a:pPr>
              <a:defRPr sz="1875" b="1">
                <a:solidFill>
                  <a:srgbClr val="175676"/>
                </a:solidFill>
              </a:defRPr>
            </a:pPr>
            <a:r>
              <a:rPr sz="1875" b="1">
                <a:solidFill>
                  <a:srgbClr val="175676"/>
                </a:solidFill>
              </a:rPr>
              <a:t>Gamma nhẹ: PSNR 21,06 → 46,22 dB; SSIM 0,8650 → 0,9924.</a:t>
            </a:r>
          </a:p>
        </p:txBody>
      </p:sp>
      <p:sp>
        <p:nvSpPr>
          <p:cNvPr id="7" name="">
            <a:extLst xmlns:a="http://schemas.openxmlformats.org/drawingml/2006/main">
              <a:ext uri="{FF2B5EF4-FFF2-40B4-BE49-F238E27FC236}">
                <a16:creationId xmlns:a16="http://schemas.microsoft.com/office/drawing/2014/main" id="{0D22B077-A3D1-4E28-BDEE-FAA87D70C026}"/>
              </a:ext>
            </a:extLst>
          </p:cNvPr>
          <p:cNvSpPr>
            <a:spLocks xmlns:a="http://schemas.openxmlformats.org/drawingml/2006/main" noGrp="1"/>
          </p:cNvSpPr>
          <p:nvPr/>
        </p:nvSpPr>
        <p:spPr>
          <a:xfrm xmlns:a="http://schemas.openxmlformats.org/drawingml/2006/main">
            <a:off x="619125" y="5715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C40"/>
                </a:solidFill>
              </a:defRPr>
            </a:defPPr>
          </a:lstStyle>
          <a:p xmlns:a="http://schemas.openxmlformats.org/drawingml/2006/main">
            <a:pPr>
              <a:defRPr sz="1725" b="0">
                <a:solidFill>
                  <a:srgbClr val="142C40"/>
                </a:solidFill>
              </a:defRPr>
            </a:pPr>
            <a:r>
              <a:rPr sz="1725" b="0">
                <a:solidFill>
                  <a:srgbClr val="142C40"/>
                </a:solidFill>
              </a:rPr>
              <a:t>Biết γ tạo lợi thế; lượng tử hóa vùng tối vẫn làm mất thông tin.</a:t>
            </a:r>
          </a:p>
        </p:txBody>
      </p:sp>
    </p:spTree>
    <p:extLst>
      <p:ext uri="{BB962C8B-B14F-4D97-AF65-F5344CB8AC3E}">
        <p14:creationId xmlns:p14="http://schemas.microsoft.com/office/powerpoint/2010/main" val="2771228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7277EB-7704-4B92-AE81-845C7B7E3351}"/>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Khử nhiễu Gaussian và mức làm mượt</a:t>
            </a:r>
          </a:p>
        </p:txBody>
      </p:sp>
      <p:sp>
        <p:nvSpPr>
          <p:cNvPr id="2" name="">
            <a:extLst xmlns:a="http://schemas.openxmlformats.org/drawingml/2006/main">
              <a:ext uri="{FF2B5EF4-FFF2-40B4-BE49-F238E27FC236}">
                <a16:creationId xmlns:a16="http://schemas.microsoft.com/office/drawing/2014/main" id="{89CA9760-07B1-4ED6-8503-F07F5043E246}"/>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6  Mục 6.3</a:t>
            </a:r>
          </a:p>
        </p:txBody>
      </p:sp>
      <p:sp>
        <p:nvSpPr>
          <p:cNvPr id="3" name="">
            <a:extLst xmlns:a="http://schemas.openxmlformats.org/drawingml/2006/main">
              <a:ext uri="{FF2B5EF4-FFF2-40B4-BE49-F238E27FC236}">
                <a16:creationId xmlns:a16="http://schemas.microsoft.com/office/drawing/2014/main" id="{C60BA2B4-2299-4055-857C-C92C51420782}"/>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17</a:t>
            </a:r>
          </a:p>
        </p:txBody>
      </p:sp>
      <p:sp>
        <p:nvSpPr>
          <p:cNvPr id="4" name="">
            <a:extLst xmlns:a="http://schemas.openxmlformats.org/drawingml/2006/main">
              <a:ext uri="{FF2B5EF4-FFF2-40B4-BE49-F238E27FC236}">
                <a16:creationId xmlns:a16="http://schemas.microsoft.com/office/drawing/2014/main" id="{DA96D1C2-8765-43A3-924E-9D91DB025204}"/>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pic>
        <p:nvPicPr>
          <p:cNvPr id="5" name="">
            <a:extLst xmlns:a="http://schemas.openxmlformats.org/drawingml/2006/main">
              <a:ext uri="{FF2B5EF4-FFF2-40B4-BE49-F238E27FC236}">
                <a16:creationId xmlns:a16="http://schemas.microsoft.com/office/drawing/2014/main" id="{C8B557DF-BB65-48DD-B1B5-9C8559E4A6EF}"/>
              </a:ext>
            </a:extLst>
          </p:cNvPr>
          <p:cNvPicPr>
            <a:picLocks xmlns:a="http://schemas.openxmlformats.org/drawingml/2006/main" noChangeAspect="1"/>
          </p:cNvPicPr>
          <p:nvPr/>
        </p:nvPicPr>
        <p:blipFill>
          <a:blip xmlns:r="http://schemas.openxmlformats.org/officeDocument/2006/relationships" xmlns:a="http://schemas.openxmlformats.org/drawingml/2006/main" r:embed="R6c1ee13a98cf469b"/>
          <a:stretch xmlns:a="http://schemas.openxmlformats.org/drawingml/2006/main"/>
        </p:blipFill>
        <p:spPr>
          <a:xfrm xmlns:a="http://schemas.openxmlformats.org/drawingml/2006/main">
            <a:off x="2041522" y="1828800"/>
            <a:ext cx="8061330"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F773EE3-353F-4C84-AA21-D769A4C25FEA}"/>
              </a:ext>
            </a:extLst>
          </p:cNvPr>
          <p:cNvSpPr>
            <a:spLocks xmlns:a="http://schemas.openxmlformats.org/drawingml/2006/main" noGrp="1"/>
          </p:cNvSpPr>
          <p:nvPr/>
        </p:nvSpPr>
        <p:spPr>
          <a:xfrm xmlns:a="http://schemas.openxmlformats.org/drawingml/2006/main">
            <a:off x="619125" y="51625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5676"/>
                </a:solidFill>
              </a:defRPr>
            </a:defPPr>
          </a:lstStyle>
          <a:p xmlns:a="http://schemas.openxmlformats.org/drawingml/2006/main">
            <a:pPr>
              <a:defRPr sz="1875" b="1">
                <a:solidFill>
                  <a:srgbClr val="175676"/>
                </a:solidFill>
              </a:defRPr>
            </a:pPr>
            <a:r>
              <a:rPr sz="1875" b="1">
                <a:solidFill>
                  <a:srgbClr val="175676"/>
                </a:solidFill>
              </a:rPr>
              <a:t>So Gaussian và bilateral ở cùng loại, mức và mẫu nhiễu.</a:t>
            </a:r>
          </a:p>
        </p:txBody>
      </p:sp>
      <p:sp>
        <p:nvSpPr>
          <p:cNvPr id="7" name="">
            <a:extLst xmlns:a="http://schemas.openxmlformats.org/drawingml/2006/main">
              <a:ext uri="{FF2B5EF4-FFF2-40B4-BE49-F238E27FC236}">
                <a16:creationId xmlns:a16="http://schemas.microsoft.com/office/drawing/2014/main" id="{97474808-AD7A-4AF1-817C-CD55C059BB34}"/>
              </a:ext>
            </a:extLst>
          </p:cNvPr>
          <p:cNvSpPr>
            <a:spLocks xmlns:a="http://schemas.openxmlformats.org/drawingml/2006/main" noGrp="1"/>
          </p:cNvSpPr>
          <p:nvPr/>
        </p:nvSpPr>
        <p:spPr>
          <a:xfrm xmlns:a="http://schemas.openxmlformats.org/drawingml/2006/main">
            <a:off x="619125" y="5715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C40"/>
                </a:solidFill>
              </a:defRPr>
            </a:defPPr>
          </a:lstStyle>
          <a:p xmlns:a="http://schemas.openxmlformats.org/drawingml/2006/main">
            <a:pPr>
              <a:defRPr sz="1725" b="0">
                <a:solidFill>
                  <a:srgbClr val="142C40"/>
                </a:solidFill>
              </a:defRPr>
            </a:pPr>
            <a:r>
              <a:rPr sz="1725" b="0">
                <a:solidFill>
                  <a:srgbClr val="142C40"/>
                </a:solidFill>
              </a:rPr>
              <a:t>σr nhỏ có thể giữ nhiễu mạnh; không suy rộng ngoài cấu hình đã thử.</a:t>
            </a:r>
          </a:p>
        </p:txBody>
      </p:sp>
    </p:spTree>
    <p:extLst>
      <p:ext uri="{BB962C8B-B14F-4D97-AF65-F5344CB8AC3E}">
        <p14:creationId xmlns:p14="http://schemas.microsoft.com/office/powerpoint/2010/main" val="18660673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7FDC6F-7027-4346-93C8-693C87E251D4}"/>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Khử nhiễu xung bằng bộ lọc trung vị</a:t>
            </a:r>
          </a:p>
        </p:txBody>
      </p:sp>
      <p:sp>
        <p:nvSpPr>
          <p:cNvPr id="2" name="">
            <a:extLst xmlns:a="http://schemas.openxmlformats.org/drawingml/2006/main">
              <a:ext uri="{FF2B5EF4-FFF2-40B4-BE49-F238E27FC236}">
                <a16:creationId xmlns:a16="http://schemas.microsoft.com/office/drawing/2014/main" id="{4166B2FA-4F2B-49F2-A117-BDF122492145}"/>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6  Mục 6.4</a:t>
            </a:r>
          </a:p>
        </p:txBody>
      </p:sp>
      <p:sp>
        <p:nvSpPr>
          <p:cNvPr id="3" name="">
            <a:extLst xmlns:a="http://schemas.openxmlformats.org/drawingml/2006/main">
              <a:ext uri="{FF2B5EF4-FFF2-40B4-BE49-F238E27FC236}">
                <a16:creationId xmlns:a16="http://schemas.microsoft.com/office/drawing/2014/main" id="{DD13B732-D797-4449-B0EE-0D3D1364FA5E}"/>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18</a:t>
            </a:r>
          </a:p>
        </p:txBody>
      </p:sp>
      <p:sp>
        <p:nvSpPr>
          <p:cNvPr id="4" name="">
            <a:extLst xmlns:a="http://schemas.openxmlformats.org/drawingml/2006/main">
              <a:ext uri="{FF2B5EF4-FFF2-40B4-BE49-F238E27FC236}">
                <a16:creationId xmlns:a16="http://schemas.microsoft.com/office/drawing/2014/main" id="{C23297CA-DB41-4AC6-9B1B-20AD825D9AFF}"/>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pic>
        <p:nvPicPr>
          <p:cNvPr id="5" name="">
            <a:extLst xmlns:a="http://schemas.openxmlformats.org/drawingml/2006/main">
              <a:ext uri="{FF2B5EF4-FFF2-40B4-BE49-F238E27FC236}">
                <a16:creationId xmlns:a16="http://schemas.microsoft.com/office/drawing/2014/main" id="{7933A301-AC96-4F93-8EFE-FE421918C995}"/>
              </a:ext>
            </a:extLst>
          </p:cNvPr>
          <p:cNvPicPr>
            <a:picLocks xmlns:a="http://schemas.openxmlformats.org/drawingml/2006/main" noChangeAspect="1"/>
          </p:cNvPicPr>
          <p:nvPr/>
        </p:nvPicPr>
        <p:blipFill>
          <a:blip xmlns:r="http://schemas.openxmlformats.org/officeDocument/2006/relationships" xmlns:a="http://schemas.openxmlformats.org/drawingml/2006/main" r:embed="Rcd2cb94a46d9437f"/>
          <a:stretch xmlns:a="http://schemas.openxmlformats.org/drawingml/2006/main"/>
        </p:blipFill>
        <p:spPr>
          <a:xfrm xmlns:a="http://schemas.openxmlformats.org/drawingml/2006/main">
            <a:off x="1940837" y="1828800"/>
            <a:ext cx="8262702"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4DE3C20-E866-4819-9642-A8A298372D3F}"/>
              </a:ext>
            </a:extLst>
          </p:cNvPr>
          <p:cNvSpPr>
            <a:spLocks xmlns:a="http://schemas.openxmlformats.org/drawingml/2006/main" noGrp="1"/>
          </p:cNvSpPr>
          <p:nvPr/>
        </p:nvSpPr>
        <p:spPr>
          <a:xfrm xmlns:a="http://schemas.openxmlformats.org/drawingml/2006/main">
            <a:off x="619125" y="51625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5676"/>
                </a:solidFill>
              </a:defRPr>
            </a:defPPr>
          </a:lstStyle>
          <a:p xmlns:a="http://schemas.openxmlformats.org/drawingml/2006/main">
            <a:pPr>
              <a:defRPr sz="1875" b="1">
                <a:solidFill>
                  <a:srgbClr val="175676"/>
                </a:solidFill>
              </a:defRPr>
            </a:pPr>
            <a:r>
              <a:rPr sz="1875" b="1">
                <a:solidFill>
                  <a:srgbClr val="175676"/>
                </a:solidFill>
              </a:rPr>
              <a:t>Median loại outlier khi lân cận còn đủ tín hiệu hợp lệ.</a:t>
            </a:r>
          </a:p>
        </p:txBody>
      </p:sp>
      <p:sp>
        <p:nvSpPr>
          <p:cNvPr id="7" name="">
            <a:extLst xmlns:a="http://schemas.openxmlformats.org/drawingml/2006/main">
              <a:ext uri="{FF2B5EF4-FFF2-40B4-BE49-F238E27FC236}">
                <a16:creationId xmlns:a16="http://schemas.microsoft.com/office/drawing/2014/main" id="{EE1CD7CF-4FB3-49F6-92E4-A741DEB63262}"/>
              </a:ext>
            </a:extLst>
          </p:cNvPr>
          <p:cNvSpPr>
            <a:spLocks xmlns:a="http://schemas.openxmlformats.org/drawingml/2006/main" noGrp="1"/>
          </p:cNvSpPr>
          <p:nvPr/>
        </p:nvSpPr>
        <p:spPr>
          <a:xfrm xmlns:a="http://schemas.openxmlformats.org/drawingml/2006/main">
            <a:off x="619125" y="5715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C40"/>
                </a:solidFill>
              </a:defRPr>
            </a:defPPr>
          </a:lstStyle>
          <a:p xmlns:a="http://schemas.openxmlformats.org/drawingml/2006/main">
            <a:pPr>
              <a:defRPr sz="1725" b="0">
                <a:solidFill>
                  <a:srgbClr val="142C40"/>
                </a:solidFill>
              </a:defRPr>
            </a:pPr>
            <a:r>
              <a:rPr sz="1725" b="0">
                <a:solidFill>
                  <a:srgbClr val="142C40"/>
                </a:solidFill>
              </a:rPr>
              <a:t>Đọc PSNR và SSIM cùng chi tiết cánh hoa, không chỉ độ sạch nền.</a:t>
            </a:r>
          </a:p>
        </p:txBody>
      </p:sp>
    </p:spTree>
    <p:extLst>
      <p:ext uri="{BB962C8B-B14F-4D97-AF65-F5344CB8AC3E}">
        <p14:creationId xmlns:p14="http://schemas.microsoft.com/office/powerpoint/2010/main" val="34163759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8383E5-C67B-41C2-94FB-1B7722068D1E}"/>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Làm sắc nét sau mờ Gaussian</a:t>
            </a:r>
          </a:p>
        </p:txBody>
      </p:sp>
      <p:sp>
        <p:nvSpPr>
          <p:cNvPr id="2" name="">
            <a:extLst xmlns:a="http://schemas.openxmlformats.org/drawingml/2006/main">
              <a:ext uri="{FF2B5EF4-FFF2-40B4-BE49-F238E27FC236}">
                <a16:creationId xmlns:a16="http://schemas.microsoft.com/office/drawing/2014/main" id="{EBF70D48-BAB5-4488-BA9D-7C178B8CBD68}"/>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6  Mục 6.5</a:t>
            </a:r>
          </a:p>
        </p:txBody>
      </p:sp>
      <p:sp>
        <p:nvSpPr>
          <p:cNvPr id="3" name="">
            <a:extLst xmlns:a="http://schemas.openxmlformats.org/drawingml/2006/main">
              <a:ext uri="{FF2B5EF4-FFF2-40B4-BE49-F238E27FC236}">
                <a16:creationId xmlns:a16="http://schemas.microsoft.com/office/drawing/2014/main" id="{69FD3146-6257-4DDF-A85E-0DC3F2AFA08B}"/>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19</a:t>
            </a:r>
          </a:p>
        </p:txBody>
      </p:sp>
      <p:sp>
        <p:nvSpPr>
          <p:cNvPr id="4" name="">
            <a:extLst xmlns:a="http://schemas.openxmlformats.org/drawingml/2006/main">
              <a:ext uri="{FF2B5EF4-FFF2-40B4-BE49-F238E27FC236}">
                <a16:creationId xmlns:a16="http://schemas.microsoft.com/office/drawing/2014/main" id="{9A71052B-B248-49D1-83D9-52A8D0752977}"/>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pic>
        <p:nvPicPr>
          <p:cNvPr id="5" name="">
            <a:extLst xmlns:a="http://schemas.openxmlformats.org/drawingml/2006/main">
              <a:ext uri="{FF2B5EF4-FFF2-40B4-BE49-F238E27FC236}">
                <a16:creationId xmlns:a16="http://schemas.microsoft.com/office/drawing/2014/main" id="{0C82FB30-5B11-4386-9D8E-E4BB084C48D3}"/>
              </a:ext>
            </a:extLst>
          </p:cNvPr>
          <p:cNvPicPr>
            <a:picLocks xmlns:a="http://schemas.openxmlformats.org/drawingml/2006/main" noChangeAspect="1"/>
          </p:cNvPicPr>
          <p:nvPr/>
        </p:nvPicPr>
        <p:blipFill>
          <a:blip xmlns:r="http://schemas.openxmlformats.org/officeDocument/2006/relationships" xmlns:a="http://schemas.openxmlformats.org/drawingml/2006/main" r:embed="R58a3cdc873c642dc"/>
          <a:stretch xmlns:a="http://schemas.openxmlformats.org/drawingml/2006/main"/>
        </p:blipFill>
        <p:spPr>
          <a:xfrm xmlns:a="http://schemas.openxmlformats.org/drawingml/2006/main">
            <a:off x="1940837" y="1828800"/>
            <a:ext cx="8262702"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9BD04CC-69C7-40C5-AF5E-93FCFF70676F}"/>
              </a:ext>
            </a:extLst>
          </p:cNvPr>
          <p:cNvSpPr>
            <a:spLocks xmlns:a="http://schemas.openxmlformats.org/drawingml/2006/main" noGrp="1"/>
          </p:cNvSpPr>
          <p:nvPr/>
        </p:nvSpPr>
        <p:spPr>
          <a:xfrm xmlns:a="http://schemas.openxmlformats.org/drawingml/2006/main">
            <a:off x="619125" y="51625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5676"/>
                </a:solidFill>
              </a:defRPr>
            </a:defPPr>
          </a:lstStyle>
          <a:p xmlns:a="http://schemas.openxmlformats.org/drawingml/2006/main">
            <a:pPr>
              <a:defRPr sz="1875" b="1">
                <a:solidFill>
                  <a:srgbClr val="175676"/>
                </a:solidFill>
              </a:defRPr>
            </a:pPr>
            <a:r>
              <a:rPr sz="1875" b="1">
                <a:solidFill>
                  <a:srgbClr val="175676"/>
                </a:solidFill>
              </a:rPr>
              <a:t>Unsharp và SHARPEN khuếch đại phần chi tiết còn lại.</a:t>
            </a:r>
          </a:p>
        </p:txBody>
      </p:sp>
      <p:sp>
        <p:nvSpPr>
          <p:cNvPr id="7" name="">
            <a:extLst xmlns:a="http://schemas.openxmlformats.org/drawingml/2006/main">
              <a:ext uri="{FF2B5EF4-FFF2-40B4-BE49-F238E27FC236}">
                <a16:creationId xmlns:a16="http://schemas.microsoft.com/office/drawing/2014/main" id="{240C0964-F90F-4F11-B825-ABDCEBF0E507}"/>
              </a:ext>
            </a:extLst>
          </p:cNvPr>
          <p:cNvSpPr>
            <a:spLocks xmlns:a="http://schemas.openxmlformats.org/drawingml/2006/main" noGrp="1"/>
          </p:cNvSpPr>
          <p:nvPr/>
        </p:nvSpPr>
        <p:spPr>
          <a:xfrm xmlns:a="http://schemas.openxmlformats.org/drawingml/2006/main">
            <a:off x="619125" y="5715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C40"/>
                </a:solidFill>
              </a:defRPr>
            </a:defPPr>
          </a:lstStyle>
          <a:p xmlns:a="http://schemas.openxmlformats.org/drawingml/2006/main">
            <a:pPr>
              <a:defRPr sz="1725" b="0">
                <a:solidFill>
                  <a:srgbClr val="142C40"/>
                </a:solidFill>
              </a:defRPr>
            </a:pPr>
            <a:r>
              <a:rPr sz="1725" b="0">
                <a:solidFill>
                  <a:srgbClr val="142C40"/>
                </a:solidFill>
              </a:rPr>
              <a:t>Không coi ảnh nét hơn là đã khôi phục toàn bộ thông tin bị mất.</a:t>
            </a:r>
          </a:p>
        </p:txBody>
      </p:sp>
    </p:spTree>
    <p:extLst>
      <p:ext uri="{BB962C8B-B14F-4D97-AF65-F5344CB8AC3E}">
        <p14:creationId xmlns:p14="http://schemas.microsoft.com/office/powerpoint/2010/main" val="154391508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0410EA-097A-4631-B58C-28A9FA866527}"/>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Ám màu và sai khác sau hiệu chỉnh</a:t>
            </a:r>
          </a:p>
        </p:txBody>
      </p:sp>
      <p:sp>
        <p:nvSpPr>
          <p:cNvPr id="2" name="">
            <a:extLst xmlns:a="http://schemas.openxmlformats.org/drawingml/2006/main">
              <a:ext uri="{FF2B5EF4-FFF2-40B4-BE49-F238E27FC236}">
                <a16:creationId xmlns:a16="http://schemas.microsoft.com/office/drawing/2014/main" id="{17B3E901-778B-40B3-A340-FA369643A0A4}"/>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6  Mục 6.6 và 6.7</a:t>
            </a:r>
          </a:p>
        </p:txBody>
      </p:sp>
      <p:sp>
        <p:nvSpPr>
          <p:cNvPr id="3" name="">
            <a:extLst xmlns:a="http://schemas.openxmlformats.org/drawingml/2006/main">
              <a:ext uri="{FF2B5EF4-FFF2-40B4-BE49-F238E27FC236}">
                <a16:creationId xmlns:a16="http://schemas.microsoft.com/office/drawing/2014/main" id="{36E172B7-9527-433E-931C-A7AEA25CD8A6}"/>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20</a:t>
            </a:r>
          </a:p>
        </p:txBody>
      </p:sp>
      <p:sp>
        <p:nvSpPr>
          <p:cNvPr id="4" name="">
            <a:extLst xmlns:a="http://schemas.openxmlformats.org/drawingml/2006/main">
              <a:ext uri="{FF2B5EF4-FFF2-40B4-BE49-F238E27FC236}">
                <a16:creationId xmlns:a16="http://schemas.microsoft.com/office/drawing/2014/main" id="{374FA57F-86F7-4DF9-A33B-72A28146CF04}"/>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pic>
        <p:nvPicPr>
          <p:cNvPr id="5" name="">
            <a:extLst xmlns:a="http://schemas.openxmlformats.org/drawingml/2006/main">
              <a:ext uri="{FF2B5EF4-FFF2-40B4-BE49-F238E27FC236}">
                <a16:creationId xmlns:a16="http://schemas.microsoft.com/office/drawing/2014/main" id="{2E7360DF-F51B-4879-A3F4-31753E5BEF16}"/>
              </a:ext>
            </a:extLst>
          </p:cNvPr>
          <p:cNvPicPr>
            <a:picLocks xmlns:a="http://schemas.openxmlformats.org/drawingml/2006/main" noChangeAspect="1"/>
          </p:cNvPicPr>
          <p:nvPr/>
        </p:nvPicPr>
        <p:blipFill>
          <a:blip xmlns:r="http://schemas.openxmlformats.org/officeDocument/2006/relationships" xmlns:a="http://schemas.openxmlformats.org/drawingml/2006/main" r:embed="R577833d5421c4693"/>
          <a:stretch xmlns:a="http://schemas.openxmlformats.org/drawingml/2006/main"/>
        </p:blipFill>
        <p:spPr>
          <a:xfrm xmlns:a="http://schemas.openxmlformats.org/drawingml/2006/main">
            <a:off x="1938243" y="1828800"/>
            <a:ext cx="8267889"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1CDFB6-1524-4D08-B249-C0D4EEA471A9}"/>
              </a:ext>
            </a:extLst>
          </p:cNvPr>
          <p:cNvSpPr>
            <a:spLocks xmlns:a="http://schemas.openxmlformats.org/drawingml/2006/main" noGrp="1"/>
          </p:cNvSpPr>
          <p:nvPr/>
        </p:nvSpPr>
        <p:spPr>
          <a:xfrm xmlns:a="http://schemas.openxmlformats.org/drawingml/2006/main">
            <a:off x="619125" y="51625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5676"/>
                </a:solidFill>
              </a:defRPr>
            </a:defPPr>
          </a:lstStyle>
          <a:p xmlns:a="http://schemas.openxmlformats.org/drawingml/2006/main">
            <a:pPr>
              <a:defRPr sz="1875" b="1">
                <a:solidFill>
                  <a:srgbClr val="175676"/>
                </a:solidFill>
              </a:defRPr>
            </a:pPr>
            <a:r>
              <a:rPr sz="1875" b="1">
                <a:solidFill>
                  <a:srgbClr val="175676"/>
                </a:solidFill>
              </a:rPr>
              <a:t>RGB, HSV và Lab dựa trên các giả định màu khác nhau.</a:t>
            </a:r>
          </a:p>
        </p:txBody>
      </p:sp>
      <p:sp>
        <p:nvSpPr>
          <p:cNvPr id="7" name="">
            <a:extLst xmlns:a="http://schemas.openxmlformats.org/drawingml/2006/main">
              <a:ext uri="{FF2B5EF4-FFF2-40B4-BE49-F238E27FC236}">
                <a16:creationId xmlns:a16="http://schemas.microsoft.com/office/drawing/2014/main" id="{8D7CFE46-41AE-41F7-84D0-796E27059B8E}"/>
              </a:ext>
            </a:extLst>
          </p:cNvPr>
          <p:cNvSpPr>
            <a:spLocks xmlns:a="http://schemas.openxmlformats.org/drawingml/2006/main" noGrp="1"/>
          </p:cNvSpPr>
          <p:nvPr/>
        </p:nvSpPr>
        <p:spPr>
          <a:xfrm xmlns:a="http://schemas.openxmlformats.org/drawingml/2006/main">
            <a:off x="619125" y="5715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C40"/>
                </a:solidFill>
              </a:defRPr>
            </a:defPPr>
          </a:lstStyle>
          <a:p xmlns:a="http://schemas.openxmlformats.org/drawingml/2006/main">
            <a:pPr>
              <a:defRPr sz="1725" b="0">
                <a:solidFill>
                  <a:srgbClr val="142C40"/>
                </a:solidFill>
              </a:defRPr>
            </a:pPr>
            <a:r>
              <a:rPr sz="1725" b="0">
                <a:solidFill>
                  <a:srgbClr val="142C40"/>
                </a:solidFill>
              </a:rPr>
              <a:t>Hiệu chỉnh màu có thể làm lệch màu hoa; xem thêm ΔE trong báo cáo.</a:t>
            </a:r>
          </a:p>
        </p:txBody>
      </p:sp>
    </p:spTree>
    <p:extLst>
      <p:ext uri="{BB962C8B-B14F-4D97-AF65-F5344CB8AC3E}">
        <p14:creationId xmlns:p14="http://schemas.microsoft.com/office/powerpoint/2010/main" val="30262494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8E3590-90F5-4CAA-9CE9-2DA545A64209}"/>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Tác động xử lý ảnh đến nhận diện</a:t>
            </a:r>
          </a:p>
        </p:txBody>
      </p:sp>
      <p:sp>
        <p:nvSpPr>
          <p:cNvPr id="2" name="">
            <a:extLst xmlns:a="http://schemas.openxmlformats.org/drawingml/2006/main">
              <a:ext uri="{FF2B5EF4-FFF2-40B4-BE49-F238E27FC236}">
                <a16:creationId xmlns:a16="http://schemas.microsoft.com/office/drawing/2014/main" id="{5888CEF8-7E8B-40A8-ACBA-024F6B66B30B}"/>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7  MobileNetV2 cố định</a:t>
            </a:r>
          </a:p>
        </p:txBody>
      </p:sp>
      <p:sp>
        <p:nvSpPr>
          <p:cNvPr id="3" name="">
            <a:extLst xmlns:a="http://schemas.openxmlformats.org/drawingml/2006/main">
              <a:ext uri="{FF2B5EF4-FFF2-40B4-BE49-F238E27FC236}">
                <a16:creationId xmlns:a16="http://schemas.microsoft.com/office/drawing/2014/main" id="{7C8EA21F-EA24-419C-B47D-E83E2770C122}"/>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21</a:t>
            </a:r>
          </a:p>
        </p:txBody>
      </p:sp>
      <p:sp>
        <p:nvSpPr>
          <p:cNvPr id="4" name="">
            <a:extLst xmlns:a="http://schemas.openxmlformats.org/drawingml/2006/main">
              <a:ext uri="{FF2B5EF4-FFF2-40B4-BE49-F238E27FC236}">
                <a16:creationId xmlns:a16="http://schemas.microsoft.com/office/drawing/2014/main" id="{B3D32AC6-1F80-4459-B85F-74742DBE8FD8}"/>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graphicFrame>
        <p:nvGraphicFramePr>
          <p:cNvPr id="5" name="Chart">
            <a:extLst xmlns:a="http://schemas.openxmlformats.org/drawingml/2006/main">
              <a:ext uri="{FF2B5EF4-FFF2-40B4-BE49-F238E27FC236}">
                <a16:creationId xmlns:a16="http://schemas.microsoft.com/office/drawing/2014/main" id="{C7B59C30-F9B8-4049-A748-BC2056CD7578}"/>
              </a:ext>
            </a:extLst>
          </p:cNvPr>
          <p:cNvGraphicFramePr/>
          <p:nvPr/>
        </p:nvGraphicFramePr>
        <p:xfrm>
          <a:off xmlns:a="http://schemas.openxmlformats.org/drawingml/2006/main" x="619125" y="2095500"/>
          <a:ext xmlns:a="http://schemas.openxmlformats.org/drawingml/2006/main" cx="10953750" cy="3238500"/>
        </p:xfrm>
        <a:graphic xmlns:a="http://schemas.openxmlformats.org/drawingml/2006/main">
          <a:graphicData uri="http://schemas.openxmlformats.org/drawingml/2006/chart">
            <c:chart xmlns:r="http://schemas.openxmlformats.org/officeDocument/2006/relationships" xmlns:c="http://schemas.openxmlformats.org/drawingml/2006/chart" r:id="Re1532df1d1d24960"/>
          </a:graphicData>
        </a:graphic>
      </p:graphicFrame>
      <p:sp>
        <p:nvSpPr>
          <p:cNvPr id="6" name="">
            <a:extLst xmlns:a="http://schemas.openxmlformats.org/drawingml/2006/main">
              <a:ext uri="{FF2B5EF4-FFF2-40B4-BE49-F238E27FC236}">
                <a16:creationId xmlns:a16="http://schemas.microsoft.com/office/drawing/2014/main" id="{E430EEFD-7AB2-4CE1-AA2E-EA249C699103}"/>
              </a:ext>
            </a:extLst>
          </p:cNvPr>
          <p:cNvSpPr>
            <a:spLocks xmlns:a="http://schemas.openxmlformats.org/drawingml/2006/main" noGrp="1"/>
          </p:cNvSpPr>
          <p:nvPr/>
        </p:nvSpPr>
        <p:spPr>
          <a:xfrm xmlns:a="http://schemas.openxmlformats.org/drawingml/2006/main">
            <a:off x="619125" y="5619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6C64"/>
                </a:solidFill>
              </a:defRPr>
            </a:defPPr>
          </a:lstStyle>
          <a:p xmlns:a="http://schemas.openxmlformats.org/drawingml/2006/main">
            <a:pPr>
              <a:defRPr sz="1950" b="0">
                <a:solidFill>
                  <a:srgbClr val="146C64"/>
                </a:solidFill>
              </a:defRPr>
            </a:pPr>
            <a:r>
              <a:rPr sz="1950" b="0">
                <a:solidFill>
                  <a:srgbClr val="146C64"/>
                </a:solidFill>
              </a:rPr>
              <a:t>Clean Macro F1 = 0,9020. Một số xử lý cải thiện; một số gây hại.</a:t>
            </a:r>
          </a:p>
        </p:txBody>
      </p:sp>
    </p:spTree>
    <p:extLst>
      <p:ext uri="{BB962C8B-B14F-4D97-AF65-F5344CB8AC3E}">
        <p14:creationId xmlns:p14="http://schemas.microsoft.com/office/powerpoint/2010/main" val="137423187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17A1FA-5B4A-4BE4-9F30-7CF2641B5B1A}"/>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SSIM tăng không bảo đảm nhận diện tăng</a:t>
            </a:r>
          </a:p>
        </p:txBody>
      </p:sp>
      <p:sp>
        <p:nvSpPr>
          <p:cNvPr id="2" name="">
            <a:extLst xmlns:a="http://schemas.openxmlformats.org/drawingml/2006/main">
              <a:ext uri="{FF2B5EF4-FFF2-40B4-BE49-F238E27FC236}">
                <a16:creationId xmlns:a16="http://schemas.microsoft.com/office/drawing/2014/main" id="{5CE018E0-67F2-4539-B9C8-BEC38B64AB3F}"/>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8  Phân tích và thảo luận</a:t>
            </a:r>
          </a:p>
        </p:txBody>
      </p:sp>
      <p:sp>
        <p:nvSpPr>
          <p:cNvPr id="3" name="">
            <a:extLst xmlns:a="http://schemas.openxmlformats.org/drawingml/2006/main">
              <a:ext uri="{FF2B5EF4-FFF2-40B4-BE49-F238E27FC236}">
                <a16:creationId xmlns:a16="http://schemas.microsoft.com/office/drawing/2014/main" id="{B5D3FC60-AD85-45BA-B63C-92E695A95903}"/>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22</a:t>
            </a:r>
          </a:p>
        </p:txBody>
      </p:sp>
      <p:sp>
        <p:nvSpPr>
          <p:cNvPr id="4" name="">
            <a:extLst xmlns:a="http://schemas.openxmlformats.org/drawingml/2006/main">
              <a:ext uri="{FF2B5EF4-FFF2-40B4-BE49-F238E27FC236}">
                <a16:creationId xmlns:a16="http://schemas.microsoft.com/office/drawing/2014/main" id="{E1605804-7320-4F94-8612-E48275F283D1}"/>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pic>
        <p:nvPicPr>
          <p:cNvPr id="5" name="">
            <a:extLst xmlns:a="http://schemas.openxmlformats.org/drawingml/2006/main">
              <a:ext uri="{FF2B5EF4-FFF2-40B4-BE49-F238E27FC236}">
                <a16:creationId xmlns:a16="http://schemas.microsoft.com/office/drawing/2014/main" id="{70B41D49-8ECD-4685-997B-CE180741D62F}"/>
              </a:ext>
            </a:extLst>
          </p:cNvPr>
          <p:cNvPicPr>
            <a:picLocks xmlns:a="http://schemas.openxmlformats.org/drawingml/2006/main" noChangeAspect="1"/>
          </p:cNvPicPr>
          <p:nvPr/>
        </p:nvPicPr>
        <p:blipFill>
          <a:blip xmlns:r="http://schemas.openxmlformats.org/officeDocument/2006/relationships" xmlns:a="http://schemas.openxmlformats.org/drawingml/2006/main" r:embed="R433d37874dcb46dd"/>
          <a:stretch xmlns:a="http://schemas.openxmlformats.org/drawingml/2006/main"/>
        </p:blipFill>
        <p:spPr>
          <a:xfrm xmlns:a="http://schemas.openxmlformats.org/drawingml/2006/main">
            <a:off x="619125" y="2466154"/>
            <a:ext cx="6191250" cy="287819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E8CBAC7-7ADC-4650-BE9B-74494141D776}"/>
              </a:ext>
            </a:extLst>
          </p:cNvPr>
          <p:cNvSpPr>
            <a:spLocks xmlns:a="http://schemas.openxmlformats.org/drawingml/2006/main" noGrp="1"/>
          </p:cNvSpPr>
          <p:nvPr/>
        </p:nvSpPr>
        <p:spPr>
          <a:xfrm xmlns:a="http://schemas.openxmlformats.org/drawingml/2006/main">
            <a:off x="7239000" y="2238375"/>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C40"/>
                </a:solidFill>
              </a:defRPr>
            </a:defPPr>
          </a:lstStyle>
          <a:p xmlns:a="http://schemas.openxmlformats.org/drawingml/2006/main">
            <a:pPr>
              <a:defRPr sz="1950" b="0">
                <a:solidFill>
                  <a:srgbClr val="142C40"/>
                </a:solidFill>
              </a:defRPr>
            </a:pPr>
            <a:r>
              <a:rPr sz="1950" b="0">
                <a:solidFill>
                  <a:srgbClr val="142C40"/>
                </a:solidFill>
              </a:rPr>
              <a:t>33 cặp enhanced–degraded.</a:t>
            </a:r>
          </a:p>
        </p:txBody>
      </p:sp>
      <p:sp>
        <p:nvSpPr>
          <p:cNvPr id="7" name="">
            <a:extLst xmlns:a="http://schemas.openxmlformats.org/drawingml/2006/main">
              <a:ext uri="{FF2B5EF4-FFF2-40B4-BE49-F238E27FC236}">
                <a16:creationId xmlns:a16="http://schemas.microsoft.com/office/drawing/2014/main" id="{0E3F68BC-B161-4E14-8AE5-D8E1B5182CD9}"/>
              </a:ext>
            </a:extLst>
          </p:cNvPr>
          <p:cNvSpPr>
            <a:spLocks xmlns:a="http://schemas.openxmlformats.org/drawingml/2006/main" noGrp="1"/>
          </p:cNvSpPr>
          <p:nvPr/>
        </p:nvSpPr>
        <p:spPr>
          <a:xfrm xmlns:a="http://schemas.openxmlformats.org/drawingml/2006/main">
            <a:off x="7239000" y="3038475"/>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C40"/>
                </a:solidFill>
              </a:defRPr>
            </a:defPPr>
          </a:lstStyle>
          <a:p xmlns:a="http://schemas.openxmlformats.org/drawingml/2006/main">
            <a:pPr>
              <a:defRPr sz="1950" b="0">
                <a:solidFill>
                  <a:srgbClr val="142C40"/>
                </a:solidFill>
              </a:defRPr>
            </a:pPr>
            <a:r>
              <a:rPr sz="1950" b="0">
                <a:solidFill>
                  <a:srgbClr val="142C40"/>
                </a:solidFill>
              </a:rPr>
              <a:t>Pearson 0,710; Spearman 0,702.</a:t>
            </a:r>
          </a:p>
        </p:txBody>
      </p:sp>
      <p:sp>
        <p:nvSpPr>
          <p:cNvPr id="8" name="">
            <a:extLst xmlns:a="http://schemas.openxmlformats.org/drawingml/2006/main">
              <a:ext uri="{FF2B5EF4-FFF2-40B4-BE49-F238E27FC236}">
                <a16:creationId xmlns:a16="http://schemas.microsoft.com/office/drawing/2014/main" id="{936F8704-8D04-4AA2-95BA-8D834204571D}"/>
              </a:ext>
            </a:extLst>
          </p:cNvPr>
          <p:cNvSpPr>
            <a:spLocks xmlns:a="http://schemas.openxmlformats.org/drawingml/2006/main" noGrp="1"/>
          </p:cNvSpPr>
          <p:nvPr/>
        </p:nvSpPr>
        <p:spPr>
          <a:xfrm xmlns:a="http://schemas.openxmlformats.org/drawingml/2006/main">
            <a:off x="7239000" y="3838575"/>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C40"/>
                </a:solidFill>
              </a:defRPr>
            </a:defPPr>
          </a:lstStyle>
          <a:p xmlns:a="http://schemas.openxmlformats.org/drawingml/2006/main">
            <a:pPr>
              <a:defRPr sz="1950" b="0">
                <a:solidFill>
                  <a:srgbClr val="142C40"/>
                </a:solidFill>
              </a:defRPr>
            </a:pPr>
            <a:r>
              <a:rPr sz="1950" b="0">
                <a:solidFill>
                  <a:srgbClr val="142C40"/>
                </a:solidFill>
              </a:rPr>
              <a:t>Gamma ở thiếu sáng nhẹ:</a:t>
            </a:r>
          </a:p>
        </p:txBody>
      </p:sp>
      <p:sp>
        <p:nvSpPr>
          <p:cNvPr id="9" name="">
            <a:extLst xmlns:a="http://schemas.openxmlformats.org/drawingml/2006/main">
              <a:ext uri="{FF2B5EF4-FFF2-40B4-BE49-F238E27FC236}">
                <a16:creationId xmlns:a16="http://schemas.microsoft.com/office/drawing/2014/main" id="{30A51206-C789-4097-9A64-FF299BAB7840}"/>
              </a:ext>
            </a:extLst>
          </p:cNvPr>
          <p:cNvSpPr>
            <a:spLocks xmlns:a="http://schemas.openxmlformats.org/drawingml/2006/main" noGrp="1"/>
          </p:cNvSpPr>
          <p:nvPr/>
        </p:nvSpPr>
        <p:spPr>
          <a:xfrm xmlns:a="http://schemas.openxmlformats.org/drawingml/2006/main">
            <a:off x="7239000" y="4638675"/>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C40"/>
                </a:solidFill>
              </a:defRPr>
            </a:defPPr>
          </a:lstStyle>
          <a:p xmlns:a="http://schemas.openxmlformats.org/drawingml/2006/main">
            <a:pPr>
              <a:defRPr sz="1950" b="0">
                <a:solidFill>
                  <a:srgbClr val="142C40"/>
                </a:solidFill>
              </a:defRPr>
            </a:pPr>
            <a:r>
              <a:rPr sz="1950" b="0">
                <a:solidFill>
                  <a:srgbClr val="142C40"/>
                </a:solidFill>
              </a:rPr>
              <a:t>SSIM tăng, F1 0,9127 → 0,9002.</a:t>
            </a:r>
          </a:p>
        </p:txBody>
      </p:sp>
    </p:spTree>
    <p:extLst>
      <p:ext uri="{BB962C8B-B14F-4D97-AF65-F5344CB8AC3E}">
        <p14:creationId xmlns:p14="http://schemas.microsoft.com/office/powerpoint/2010/main" val="63468026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F08D7C-6EE4-4E5B-BB6A-91C98B752795}"/>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Median giúp sửa một ca nhiễu xung</a:t>
            </a:r>
          </a:p>
        </p:txBody>
      </p:sp>
      <p:sp>
        <p:nvSpPr>
          <p:cNvPr id="2" name="">
            <a:extLst xmlns:a="http://schemas.openxmlformats.org/drawingml/2006/main">
              <a:ext uri="{FF2B5EF4-FFF2-40B4-BE49-F238E27FC236}">
                <a16:creationId xmlns:a16="http://schemas.microsoft.com/office/drawing/2014/main" id="{5A34A461-8DF8-4001-AE20-8E5CBBC31F80}"/>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9  Phân tích lỗi</a:t>
            </a:r>
          </a:p>
        </p:txBody>
      </p:sp>
      <p:sp>
        <p:nvSpPr>
          <p:cNvPr id="3" name="">
            <a:extLst xmlns:a="http://schemas.openxmlformats.org/drawingml/2006/main">
              <a:ext uri="{FF2B5EF4-FFF2-40B4-BE49-F238E27FC236}">
                <a16:creationId xmlns:a16="http://schemas.microsoft.com/office/drawing/2014/main" id="{300E08E8-5CEE-457B-802B-BDB7DABD2D78}"/>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23</a:t>
            </a:r>
          </a:p>
        </p:txBody>
      </p:sp>
      <p:sp>
        <p:nvSpPr>
          <p:cNvPr id="4" name="">
            <a:extLst xmlns:a="http://schemas.openxmlformats.org/drawingml/2006/main">
              <a:ext uri="{FF2B5EF4-FFF2-40B4-BE49-F238E27FC236}">
                <a16:creationId xmlns:a16="http://schemas.microsoft.com/office/drawing/2014/main" id="{AB59345B-A7B9-4938-BB70-4D8F90CADBD6}"/>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pic>
        <p:nvPicPr>
          <p:cNvPr id="5" name="">
            <a:extLst xmlns:a="http://schemas.openxmlformats.org/drawingml/2006/main">
              <a:ext uri="{FF2B5EF4-FFF2-40B4-BE49-F238E27FC236}">
                <a16:creationId xmlns:a16="http://schemas.microsoft.com/office/drawing/2014/main" id="{1183612A-78BB-44FD-BEBD-825DFF4AE0FF}"/>
              </a:ext>
            </a:extLst>
          </p:cNvPr>
          <p:cNvPicPr>
            <a:picLocks xmlns:a="http://schemas.openxmlformats.org/drawingml/2006/main" noChangeAspect="1"/>
          </p:cNvPicPr>
          <p:nvPr/>
        </p:nvPicPr>
        <p:blipFill>
          <a:blip xmlns:r="http://schemas.openxmlformats.org/officeDocument/2006/relationships" xmlns:a="http://schemas.openxmlformats.org/drawingml/2006/main" r:embed="Rd9564578591f4eaa"/>
          <a:stretch xmlns:a="http://schemas.openxmlformats.org/drawingml/2006/main"/>
        </p:blipFill>
        <p:spPr>
          <a:xfrm xmlns:a="http://schemas.openxmlformats.org/drawingml/2006/main">
            <a:off x="1670461" y="1905000"/>
            <a:ext cx="8851077" cy="3333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1CE8DED-B6E5-4474-AFDA-FCDD3FD764DE}"/>
              </a:ext>
            </a:extLst>
          </p:cNvPr>
          <p:cNvSpPr>
            <a:spLocks xmlns:a="http://schemas.openxmlformats.org/drawingml/2006/main" noGrp="1"/>
          </p:cNvSpPr>
          <p:nvPr/>
        </p:nvSpPr>
        <p:spPr>
          <a:xfrm xmlns:a="http://schemas.openxmlformats.org/drawingml/2006/main">
            <a:off x="619125"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6C64"/>
                </a:solidFill>
              </a:defRPr>
            </a:defPPr>
          </a:lstStyle>
          <a:p xmlns:a="http://schemas.openxmlformats.org/drawingml/2006/main">
            <a:pPr>
              <a:defRPr sz="2025" b="0">
                <a:solidFill>
                  <a:srgbClr val="146C64"/>
                </a:solidFill>
              </a:defRPr>
            </a:pPr>
            <a:r>
              <a:rPr sz="2025" b="0">
                <a:solidFill>
                  <a:srgbClr val="146C64"/>
                </a:solidFill>
              </a:rPr>
              <a:t>Loại chấm nhiễu giúp nhãn trở về đúng; đây là một ví dụ, không bảo đảm cho mọi ảnh.</a:t>
            </a:r>
          </a:p>
        </p:txBody>
      </p:sp>
    </p:spTree>
    <p:extLst>
      <p:ext uri="{BB962C8B-B14F-4D97-AF65-F5344CB8AC3E}">
        <p14:creationId xmlns:p14="http://schemas.microsoft.com/office/powerpoint/2010/main" val="12344957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FAE2C4-DA9F-4104-B2B3-421938D5C529}"/>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Hiệu chỉnh màu có thể làm nhận diện sai</a:t>
            </a:r>
          </a:p>
        </p:txBody>
      </p:sp>
      <p:sp>
        <p:nvSpPr>
          <p:cNvPr id="2" name="">
            <a:extLst xmlns:a="http://schemas.openxmlformats.org/drawingml/2006/main">
              <a:ext uri="{FF2B5EF4-FFF2-40B4-BE49-F238E27FC236}">
                <a16:creationId xmlns:a16="http://schemas.microsoft.com/office/drawing/2014/main" id="{0723C883-16DE-4850-B246-6BAE07139424}"/>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9  Phân tích lỗi</a:t>
            </a:r>
          </a:p>
        </p:txBody>
      </p:sp>
      <p:sp>
        <p:nvSpPr>
          <p:cNvPr id="3" name="">
            <a:extLst xmlns:a="http://schemas.openxmlformats.org/drawingml/2006/main">
              <a:ext uri="{FF2B5EF4-FFF2-40B4-BE49-F238E27FC236}">
                <a16:creationId xmlns:a16="http://schemas.microsoft.com/office/drawing/2014/main" id="{592ACE08-5F82-4AE5-85BF-56B634DCD676}"/>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24</a:t>
            </a:r>
          </a:p>
        </p:txBody>
      </p:sp>
      <p:sp>
        <p:nvSpPr>
          <p:cNvPr id="4" name="">
            <a:extLst xmlns:a="http://schemas.openxmlformats.org/drawingml/2006/main">
              <a:ext uri="{FF2B5EF4-FFF2-40B4-BE49-F238E27FC236}">
                <a16:creationId xmlns:a16="http://schemas.microsoft.com/office/drawing/2014/main" id="{404C3AC0-BBA3-483D-BBB8-32940D07FAC2}"/>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pic>
        <p:nvPicPr>
          <p:cNvPr id="5" name="">
            <a:extLst xmlns:a="http://schemas.openxmlformats.org/drawingml/2006/main">
              <a:ext uri="{FF2B5EF4-FFF2-40B4-BE49-F238E27FC236}">
                <a16:creationId xmlns:a16="http://schemas.microsoft.com/office/drawing/2014/main" id="{D3D1E5DB-399A-4FE6-8135-9A8425C37296}"/>
              </a:ext>
            </a:extLst>
          </p:cNvPr>
          <p:cNvPicPr>
            <a:picLocks xmlns:a="http://schemas.openxmlformats.org/drawingml/2006/main" noChangeAspect="1"/>
          </p:cNvPicPr>
          <p:nvPr/>
        </p:nvPicPr>
        <p:blipFill>
          <a:blip xmlns:r="http://schemas.openxmlformats.org/officeDocument/2006/relationships" xmlns:a="http://schemas.openxmlformats.org/drawingml/2006/main" r:embed="Rdb9d03aec28149f0"/>
          <a:stretch xmlns:a="http://schemas.openxmlformats.org/drawingml/2006/main"/>
        </p:blipFill>
        <p:spPr>
          <a:xfrm xmlns:a="http://schemas.openxmlformats.org/drawingml/2006/main">
            <a:off x="1670461" y="1905000"/>
            <a:ext cx="8851077" cy="3333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511D22-CE1F-4D89-8960-4A5A6106DD2B}"/>
              </a:ext>
            </a:extLst>
          </p:cNvPr>
          <p:cNvSpPr>
            <a:spLocks xmlns:a="http://schemas.openxmlformats.org/drawingml/2006/main" noGrp="1"/>
          </p:cNvSpPr>
          <p:nvPr/>
        </p:nvSpPr>
        <p:spPr>
          <a:xfrm xmlns:a="http://schemas.openxmlformats.org/drawingml/2006/main">
            <a:off x="619125"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44516"/>
                </a:solidFill>
              </a:defRPr>
            </a:defPPr>
          </a:lstStyle>
          <a:p xmlns:a="http://schemas.openxmlformats.org/drawingml/2006/main">
            <a:pPr>
              <a:defRPr sz="2100" b="1">
                <a:solidFill>
                  <a:srgbClr val="A44516"/>
                </a:solidFill>
              </a:defRPr>
            </a:pPr>
            <a:r>
              <a:rPr sz="2100" b="1">
                <a:solidFill>
                  <a:srgbClr val="A44516"/>
                </a:solidFill>
              </a:rPr>
              <a:t>Daisy → dandelion sau HSV correction. Giữ đối chứng không xử lý.</a:t>
            </a:r>
          </a:p>
        </p:txBody>
      </p:sp>
    </p:spTree>
    <p:extLst>
      <p:ext uri="{BB962C8B-B14F-4D97-AF65-F5344CB8AC3E}">
        <p14:creationId xmlns:p14="http://schemas.microsoft.com/office/powerpoint/2010/main" val="14946808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FBE074-2749-4528-A90C-EEAC3884EA8A}"/>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Ứng dụng minh họa pipeline xử lý ảnh</a:t>
            </a:r>
          </a:p>
        </p:txBody>
      </p:sp>
      <p:sp>
        <p:nvSpPr>
          <p:cNvPr id="2" name="">
            <a:extLst xmlns:a="http://schemas.openxmlformats.org/drawingml/2006/main">
              <a:ext uri="{FF2B5EF4-FFF2-40B4-BE49-F238E27FC236}">
                <a16:creationId xmlns:a16="http://schemas.microsoft.com/office/drawing/2014/main" id="{59DBA2F8-8C8D-48C3-99E7-9966A2AFA0F0}"/>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10  Ứng dụng và triển khai</a:t>
            </a:r>
          </a:p>
        </p:txBody>
      </p:sp>
      <p:sp>
        <p:nvSpPr>
          <p:cNvPr id="3" name="">
            <a:extLst xmlns:a="http://schemas.openxmlformats.org/drawingml/2006/main">
              <a:ext uri="{FF2B5EF4-FFF2-40B4-BE49-F238E27FC236}">
                <a16:creationId xmlns:a16="http://schemas.microsoft.com/office/drawing/2014/main" id="{915375F3-9AA8-4EB4-AE44-6428069BC9C8}"/>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25</a:t>
            </a:r>
          </a:p>
        </p:txBody>
      </p:sp>
      <p:sp>
        <p:nvSpPr>
          <p:cNvPr id="4" name="">
            <a:extLst xmlns:a="http://schemas.openxmlformats.org/drawingml/2006/main">
              <a:ext uri="{FF2B5EF4-FFF2-40B4-BE49-F238E27FC236}">
                <a16:creationId xmlns:a16="http://schemas.microsoft.com/office/drawing/2014/main" id="{D952540F-4203-4ED6-AF64-905B04C69EE0}"/>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AB903E92-6942-433C-BBB5-5BFD44A7B97B}"/>
              </a:ext>
            </a:extLst>
          </p:cNvPr>
          <p:cNvSpPr>
            <a:spLocks xmlns:a="http://schemas.openxmlformats.org/drawingml/2006/main" noGrp="1"/>
          </p:cNvSpPr>
          <p:nvPr/>
        </p:nvSpPr>
        <p:spPr>
          <a:xfrm xmlns:a="http://schemas.openxmlformats.org/drawingml/2006/main">
            <a:off x="619125" y="20002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Upload → chọn suy giảm và xử lý → so ảnh và dự đoán.</a:t>
            </a:r>
          </a:p>
        </p:txBody>
      </p:sp>
      <p:sp>
        <p:nvSpPr>
          <p:cNvPr id="6" name="">
            <a:extLst xmlns:a="http://schemas.openxmlformats.org/drawingml/2006/main">
              <a:ext uri="{FF2B5EF4-FFF2-40B4-BE49-F238E27FC236}">
                <a16:creationId xmlns:a16="http://schemas.microsoft.com/office/drawing/2014/main" id="{DD291A85-9DAC-4659-903C-3597E01D7453}"/>
              </a:ext>
            </a:extLst>
          </p:cNvPr>
          <p:cNvSpPr>
            <a:spLocks xmlns:a="http://schemas.openxmlformats.org/drawingml/2006/main" noGrp="1"/>
          </p:cNvSpPr>
          <p:nvPr/>
        </p:nvSpPr>
        <p:spPr>
          <a:xfrm xmlns:a="http://schemas.openxmlformats.org/drawingml/2006/main">
            <a:off x="619125" y="28384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Streamlit standalone gọi trực tiếp pipeline Python.</a:t>
            </a:r>
          </a:p>
        </p:txBody>
      </p:sp>
      <p:sp>
        <p:nvSpPr>
          <p:cNvPr id="7" name="">
            <a:extLst xmlns:a="http://schemas.openxmlformats.org/drawingml/2006/main">
              <a:ext uri="{FF2B5EF4-FFF2-40B4-BE49-F238E27FC236}">
                <a16:creationId xmlns:a16="http://schemas.microsoft.com/office/drawing/2014/main" id="{19059CB5-3A0C-4446-ABD1-B74BDB29DD8F}"/>
              </a:ext>
            </a:extLst>
          </p:cNvPr>
          <p:cNvSpPr>
            <a:spLocks xmlns:a="http://schemas.openxmlformats.org/drawingml/2006/main" noGrp="1"/>
          </p:cNvSpPr>
          <p:nvPr/>
        </p:nvSpPr>
        <p:spPr>
          <a:xfrm xmlns:a="http://schemas.openxmlformats.org/drawingml/2006/main">
            <a:off x="619125" y="36766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URL do chủ dự án xác nhận; HTTP 200 kiểm tra ngày 05/10/2026.</a:t>
            </a:r>
          </a:p>
        </p:txBody>
      </p:sp>
      <p:sp>
        <p:nvSpPr>
          <p:cNvPr id="8" name="">
            <a:extLst xmlns:a="http://schemas.openxmlformats.org/drawingml/2006/main">
              <a:ext uri="{FF2B5EF4-FFF2-40B4-BE49-F238E27FC236}">
                <a16:creationId xmlns:a16="http://schemas.microsoft.com/office/drawing/2014/main" id="{87AC33D0-FF30-4EAF-B322-A44EBFE00E87}"/>
              </a:ext>
            </a:extLst>
          </p:cNvPr>
          <p:cNvSpPr>
            <a:spLocks xmlns:a="http://schemas.openxmlformats.org/drawingml/2006/main" noGrp="1"/>
          </p:cNvSpPr>
          <p:nvPr/>
        </p:nvSpPr>
        <p:spPr>
          <a:xfrm xmlns:a="http://schemas.openxmlformats.org/drawingml/2006/main">
            <a:off x="619125" y="4514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0"/>
                </a:solidFill>
              </a:defRPr>
            </a:defPPr>
          </a:lstStyle>
          <a:p xmlns:a="http://schemas.openxmlformats.org/drawingml/2006/main">
            <a:pPr>
              <a:defRPr sz="2100" b="0">
                <a:solidFill>
                  <a:srgbClr val="142C40"/>
                </a:solidFill>
              </a:defRPr>
            </a:pPr>
            <a:r>
              <a:rPr sz="2100" b="0">
                <a:solidFill>
                  <a:srgbClr val="142C40"/>
                </a:solidFill>
              </a:rPr>
              <a:t>Chưa kiểm thử suy luận đầy đủ hoặc đối chiếu checkpoint cloud.</a:t>
            </a:r>
          </a:p>
        </p:txBody>
      </p:sp>
      <p:sp>
        <p:nvSpPr>
          <p:cNvPr id="9" name="">
            <a:extLst xmlns:a="http://schemas.openxmlformats.org/drawingml/2006/main">
              <a:ext uri="{FF2B5EF4-FFF2-40B4-BE49-F238E27FC236}">
                <a16:creationId xmlns:a16="http://schemas.microsoft.com/office/drawing/2014/main" id="{D42B4D4B-CC2C-4715-A4A8-697FABEC935C}"/>
              </a:ext>
            </a:extLst>
          </p:cNvPr>
          <p:cNvSpPr>
            <a:spLocks xmlns:a="http://schemas.openxmlformats.org/drawingml/2006/main" noGrp="1"/>
          </p:cNvSpPr>
          <p:nvPr/>
        </p:nvSpPr>
        <p:spPr>
          <a:xfrm xmlns:a="http://schemas.openxmlformats.org/drawingml/2006/main">
            <a:off x="619125" y="5619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5676"/>
                </a:solidFill>
              </a:defRPr>
            </a:defPPr>
          </a:lstStyle>
          <a:p xmlns:a="http://schemas.openxmlformats.org/drawingml/2006/main">
            <a:pPr>
              <a:defRPr sz="2175" b="1">
                <a:solidFill>
                  <a:srgbClr val="175676"/>
                </a:solidFill>
              </a:defRPr>
            </a:pPr>
            <a:r>
              <a:rPr sz="2175" b="1">
                <a:solidFill>
                  <a:srgbClr val="175676"/>
                </a:solidFill>
              </a:rPr>
              <a:t>flower-image-restoration-cnn-td.streamlit.app</a:t>
            </a:r>
          </a:p>
        </p:txBody>
      </p:sp>
    </p:spTree>
    <p:extLst>
      <p:ext uri="{BB962C8B-B14F-4D97-AF65-F5344CB8AC3E}">
        <p14:creationId xmlns:p14="http://schemas.microsoft.com/office/powerpoint/2010/main" val="194283145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914C40-522F-4063-AF3D-EEC3641623A3}"/>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Kết luận về tăng cường và phục hồi ảnh</a:t>
            </a:r>
          </a:p>
        </p:txBody>
      </p:sp>
      <p:sp>
        <p:nvSpPr>
          <p:cNvPr id="2" name="">
            <a:extLst xmlns:a="http://schemas.openxmlformats.org/drawingml/2006/main">
              <a:ext uri="{FF2B5EF4-FFF2-40B4-BE49-F238E27FC236}">
                <a16:creationId xmlns:a16="http://schemas.microsoft.com/office/drawing/2014/main" id="{0DD35D98-49BE-436A-BF6D-2A3AB37BF67F}"/>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11  Kết luận</a:t>
            </a:r>
          </a:p>
        </p:txBody>
      </p:sp>
      <p:sp>
        <p:nvSpPr>
          <p:cNvPr id="3" name="">
            <a:extLst xmlns:a="http://schemas.openxmlformats.org/drawingml/2006/main">
              <a:ext uri="{FF2B5EF4-FFF2-40B4-BE49-F238E27FC236}">
                <a16:creationId xmlns:a16="http://schemas.microsoft.com/office/drawing/2014/main" id="{DB98107E-F156-47E0-813C-F72BED1915E5}"/>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26</a:t>
            </a:r>
          </a:p>
        </p:txBody>
      </p:sp>
      <p:sp>
        <p:nvSpPr>
          <p:cNvPr id="4" name="">
            <a:extLst xmlns:a="http://schemas.openxmlformats.org/drawingml/2006/main">
              <a:ext uri="{FF2B5EF4-FFF2-40B4-BE49-F238E27FC236}">
                <a16:creationId xmlns:a16="http://schemas.microsoft.com/office/drawing/2014/main" id="{5D012117-6329-45C4-B2CD-7F07C0BC05E4}"/>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F445224E-0119-4706-96E3-35C397C4D100}"/>
              </a:ext>
            </a:extLst>
          </p:cNvPr>
          <p:cNvSpPr>
            <a:spLocks xmlns:a="http://schemas.openxmlformats.org/drawingml/2006/main" noGrp="1"/>
          </p:cNvSpPr>
          <p:nvPr/>
        </p:nvSpPr>
        <p:spPr>
          <a:xfrm xmlns:a="http://schemas.openxmlformats.org/drawingml/2006/main">
            <a:off x="619125" y="2095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C40"/>
                </a:solidFill>
              </a:defRPr>
            </a:defPPr>
          </a:lstStyle>
          <a:p xmlns:a="http://schemas.openxmlformats.org/drawingml/2006/main">
            <a:pPr>
              <a:defRPr sz="2325" b="0">
                <a:solidFill>
                  <a:srgbClr val="142C40"/>
                </a:solidFill>
              </a:defRPr>
            </a:pPr>
            <a:r>
              <a:rPr sz="2325" b="0">
                <a:solidFill>
                  <a:srgbClr val="142C40"/>
                </a:solidFill>
              </a:rPr>
              <a:t>Hiệu quả phụ thuộc cơ chế suy giảm, mức và tham số.</a:t>
            </a:r>
          </a:p>
        </p:txBody>
      </p:sp>
      <p:sp>
        <p:nvSpPr>
          <p:cNvPr id="6" name="">
            <a:extLst xmlns:a="http://schemas.openxmlformats.org/drawingml/2006/main">
              <a:ext uri="{FF2B5EF4-FFF2-40B4-BE49-F238E27FC236}">
                <a16:creationId xmlns:a16="http://schemas.microsoft.com/office/drawing/2014/main" id="{F0B31E55-F0A6-4066-B27D-691FB6EB5794}"/>
              </a:ext>
            </a:extLst>
          </p:cNvPr>
          <p:cNvSpPr>
            <a:spLocks xmlns:a="http://schemas.openxmlformats.org/drawingml/2006/main" noGrp="1"/>
          </p:cNvSpPr>
          <p:nvPr/>
        </p:nvSpPr>
        <p:spPr>
          <a:xfrm xmlns:a="http://schemas.openxmlformats.org/drawingml/2006/main">
            <a:off x="619125" y="2971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C40"/>
                </a:solidFill>
              </a:defRPr>
            </a:defPPr>
          </a:lstStyle>
          <a:p xmlns:a="http://schemas.openxmlformats.org/drawingml/2006/main">
            <a:pPr>
              <a:defRPr sz="2325" b="0">
                <a:solidFill>
                  <a:srgbClr val="142C40"/>
                </a:solidFill>
              </a:defRPr>
            </a:pPr>
            <a:r>
              <a:rPr sz="2325" b="0">
                <a:solidFill>
                  <a:srgbClr val="142C40"/>
                </a:solidFill>
              </a:rPr>
              <a:t>Khử nhiễu cần cân bằng với giữ biên và chi tiết.</a:t>
            </a:r>
          </a:p>
        </p:txBody>
      </p:sp>
      <p:sp>
        <p:nvSpPr>
          <p:cNvPr id="7" name="">
            <a:extLst xmlns:a="http://schemas.openxmlformats.org/drawingml/2006/main">
              <a:ext uri="{FF2B5EF4-FFF2-40B4-BE49-F238E27FC236}">
                <a16:creationId xmlns:a16="http://schemas.microsoft.com/office/drawing/2014/main" id="{540EBD2B-E951-4E98-8B80-7AF0E4763816}"/>
              </a:ext>
            </a:extLst>
          </p:cNvPr>
          <p:cNvSpPr>
            <a:spLocks xmlns:a="http://schemas.openxmlformats.org/drawingml/2006/main" noGrp="1"/>
          </p:cNvSpPr>
          <p:nvPr/>
        </p:nvSpPr>
        <p:spPr>
          <a:xfrm xmlns:a="http://schemas.openxmlformats.org/drawingml/2006/main">
            <a:off x="619125" y="38481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C40"/>
                </a:solidFill>
              </a:defRPr>
            </a:defPPr>
          </a:lstStyle>
          <a:p xmlns:a="http://schemas.openxmlformats.org/drawingml/2006/main">
            <a:pPr>
              <a:defRPr sz="2325" b="0">
                <a:solidFill>
                  <a:srgbClr val="142C40"/>
                </a:solidFill>
              </a:defRPr>
            </a:pPr>
            <a:r>
              <a:rPr sz="2325" b="0">
                <a:solidFill>
                  <a:srgbClr val="142C40"/>
                </a:solidFill>
              </a:rPr>
              <a:t>Giả định trung tính màu có thể sai trên cảnh hoa màu trội.</a:t>
            </a:r>
          </a:p>
        </p:txBody>
      </p:sp>
      <p:sp>
        <p:nvSpPr>
          <p:cNvPr id="8" name="">
            <a:extLst xmlns:a="http://schemas.openxmlformats.org/drawingml/2006/main">
              <a:ext uri="{FF2B5EF4-FFF2-40B4-BE49-F238E27FC236}">
                <a16:creationId xmlns:a16="http://schemas.microsoft.com/office/drawing/2014/main" id="{8F685272-1D72-49DA-A6EA-A8BEC90CC2CD}"/>
              </a:ext>
            </a:extLst>
          </p:cNvPr>
          <p:cNvSpPr>
            <a:spLocks xmlns:a="http://schemas.openxmlformats.org/drawingml/2006/main" noGrp="1"/>
          </p:cNvSpPr>
          <p:nvPr/>
        </p:nvSpPr>
        <p:spPr>
          <a:xfrm xmlns:a="http://schemas.openxmlformats.org/drawingml/2006/main">
            <a:off x="619125" y="47244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C40"/>
                </a:solidFill>
              </a:defRPr>
            </a:defPPr>
          </a:lstStyle>
          <a:p xmlns:a="http://schemas.openxmlformats.org/drawingml/2006/main">
            <a:pPr>
              <a:defRPr sz="2325" b="0">
                <a:solidFill>
                  <a:srgbClr val="142C40"/>
                </a:solidFill>
              </a:defRPr>
            </a:pPr>
            <a:r>
              <a:rPr sz="2325" b="0">
                <a:solidFill>
                  <a:srgbClr val="142C40"/>
                </a:solidFill>
              </a:rPr>
              <a:t>Đo chất lượng ảnh và nhận diện như hai kết quả riêng.</a:t>
            </a:r>
          </a:p>
        </p:txBody>
      </p:sp>
    </p:spTree>
    <p:extLst>
      <p:ext uri="{BB962C8B-B14F-4D97-AF65-F5344CB8AC3E}">
        <p14:creationId xmlns:p14="http://schemas.microsoft.com/office/powerpoint/2010/main" val="47113098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C4EE89-31D1-4071-BD69-1245856BC05C}"/>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C40"/>
                </a:solidFill>
              </a:defRPr>
            </a:defPPr>
          </a:lstStyle>
          <a:p xmlns:a="http://schemas.openxmlformats.org/drawingml/2006/main">
            <a:pPr>
              <a:defRPr sz="2850" b="1">
                <a:solidFill>
                  <a:srgbClr val="142C40"/>
                </a:solidFill>
              </a:defRPr>
            </a:pPr>
            <a:r>
              <a:rPr sz="2850" b="1">
                <a:solidFill>
                  <a:srgbClr val="142C40"/>
                </a:solidFill>
              </a:rPr>
              <a:t>Hạn chế và hướng phát triển</a:t>
            </a:r>
          </a:p>
        </p:txBody>
      </p:sp>
      <p:sp>
        <p:nvSpPr>
          <p:cNvPr id="2" name="">
            <a:extLst xmlns:a="http://schemas.openxmlformats.org/drawingml/2006/main">
              <a:ext uri="{FF2B5EF4-FFF2-40B4-BE49-F238E27FC236}">
                <a16:creationId xmlns:a16="http://schemas.microsoft.com/office/drawing/2014/main" id="{EC129255-1AA6-469C-AA01-53B6DD1C9BB8}"/>
              </a:ext>
            </a:extLst>
          </p:cNvPr>
          <p:cNvSpPr>
            <a:spLocks xmlns:a="http://schemas.openxmlformats.org/drawingml/2006/main" noGrp="1"/>
          </p:cNvSpPr>
          <p:nvPr/>
        </p:nvSpPr>
        <p:spPr>
          <a:xfrm xmlns:a="http://schemas.openxmlformats.org/drawingml/2006/main">
            <a:off x="571500" y="1352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46C64"/>
                </a:solidFill>
              </a:defRPr>
            </a:defPPr>
          </a:lstStyle>
          <a:p xmlns:a="http://schemas.openxmlformats.org/drawingml/2006/main">
            <a:pPr>
              <a:defRPr sz="1425" b="0">
                <a:solidFill>
                  <a:srgbClr val="146C64"/>
                </a:solidFill>
              </a:defRPr>
            </a:pPr>
            <a:r>
              <a:rPr sz="1425" b="0">
                <a:solidFill>
                  <a:srgbClr val="146C64"/>
                </a:solidFill>
              </a:rPr>
              <a:t>Chương 12  Hạn chế và hướng phát triển</a:t>
            </a:r>
          </a:p>
        </p:txBody>
      </p:sp>
      <p:sp>
        <p:nvSpPr>
          <p:cNvPr id="3" name="">
            <a:extLst xmlns:a="http://schemas.openxmlformats.org/drawingml/2006/main">
              <a:ext uri="{FF2B5EF4-FFF2-40B4-BE49-F238E27FC236}">
                <a16:creationId xmlns:a16="http://schemas.microsoft.com/office/drawing/2014/main" id="{7F948592-C685-4207-A69C-53E5CC5016D7}"/>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16D"/>
                </a:solidFill>
              </a:defRPr>
            </a:defPPr>
          </a:lstStyle>
          <a:p xmlns:a="http://schemas.openxmlformats.org/drawingml/2006/main">
            <a:pPr>
              <a:defRPr sz="1275" b="0">
                <a:solidFill>
                  <a:srgbClr val="50616D"/>
                </a:solidFill>
              </a:defRPr>
            </a:pPr>
            <a:r>
              <a:rPr sz="1275" b="0">
                <a:solidFill>
                  <a:srgbClr val="50616D"/>
                </a:solidFill>
              </a:rPr>
              <a:t>27</a:t>
            </a:r>
          </a:p>
        </p:txBody>
      </p:sp>
      <p:sp>
        <p:nvSpPr>
          <p:cNvPr id="4" name="">
            <a:extLst xmlns:a="http://schemas.openxmlformats.org/drawingml/2006/main">
              <a:ext uri="{FF2B5EF4-FFF2-40B4-BE49-F238E27FC236}">
                <a16:creationId xmlns:a16="http://schemas.microsoft.com/office/drawing/2014/main" id="{4EC6855E-016B-4DDA-AB54-81A1917E53A8}"/>
              </a:ext>
            </a:extLst>
          </p:cNvPr>
          <p:cNvSpPr>
            <a:spLocks xmlns:a="http://schemas.openxmlformats.org/drawingml/2006/main" noGrp="1"/>
          </p:cNvSpPr>
          <p:nvPr/>
        </p:nvSpPr>
        <p:spPr>
          <a:xfrm xmlns:a="http://schemas.openxmlformats.org/drawingml/2006/main">
            <a:off x="571500" y="63817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0616D"/>
                </a:solidFill>
              </a:defRPr>
            </a:defPPr>
          </a:lstStyle>
          <a:p xmlns:a="http://schemas.openxmlformats.org/drawingml/2006/main">
            <a:pPr>
              <a:defRPr sz="1125" b="0">
                <a:solidFill>
                  <a:srgbClr val="50616D"/>
                </a:solidFill>
              </a:defRPr>
            </a:pPr>
            <a:r>
              <a:rPr sz="1125" b="0">
                <a:solidFill>
                  <a:srgbClr val="50616D"/>
                </a:solidFill>
              </a:rPr>
              <a:t>XỬ LÝ ẢNH  ·  TĂNG CƯỜNG VÀ PHỤC HỒI ẢNH HOA</a:t>
            </a:r>
          </a:p>
        </p:txBody>
      </p:sp>
      <p:sp>
        <p:nvSpPr>
          <p:cNvPr id="5" name="">
            <a:extLst xmlns:a="http://schemas.openxmlformats.org/drawingml/2006/main">
              <a:ext uri="{FF2B5EF4-FFF2-40B4-BE49-F238E27FC236}">
                <a16:creationId xmlns:a16="http://schemas.microsoft.com/office/drawing/2014/main" id="{9DED66E1-F5C0-4EDA-B2AE-66A3EB8C4C8A}"/>
              </a:ext>
            </a:extLst>
          </p:cNvPr>
          <p:cNvSpPr>
            <a:spLocks xmlns:a="http://schemas.openxmlformats.org/drawingml/2006/main" noGrp="1"/>
          </p:cNvSpPr>
          <p:nvPr/>
        </p:nvSpPr>
        <p:spPr>
          <a:xfrm xmlns:a="http://schemas.openxmlformats.org/drawingml/2006/main">
            <a:off x="619125" y="2095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0"/>
                </a:solidFill>
              </a:defRPr>
            </a:defPPr>
          </a:lstStyle>
          <a:p xmlns:a="http://schemas.openxmlformats.org/drawingml/2006/main">
            <a:pPr>
              <a:defRPr sz="2250" b="0">
                <a:solidFill>
                  <a:srgbClr val="142C40"/>
                </a:solidFill>
              </a:defRPr>
            </a:pPr>
            <a:r>
              <a:rPr sz="2250" b="0">
                <a:solidFill>
                  <a:srgbClr val="142C40"/>
                </a:solidFill>
              </a:rPr>
              <a:t>Một split, một checkpoint; 5 lớp và nhiễu tổng hợp đã biết mức.</a:t>
            </a:r>
          </a:p>
        </p:txBody>
      </p:sp>
      <p:sp>
        <p:nvSpPr>
          <p:cNvPr id="6" name="">
            <a:extLst xmlns:a="http://schemas.openxmlformats.org/drawingml/2006/main">
              <a:ext uri="{FF2B5EF4-FFF2-40B4-BE49-F238E27FC236}">
                <a16:creationId xmlns:a16="http://schemas.microsoft.com/office/drawing/2014/main" id="{D1A5B103-DC65-4949-94F0-1B5340DA942D}"/>
              </a:ext>
            </a:extLst>
          </p:cNvPr>
          <p:cNvSpPr>
            <a:spLocks xmlns:a="http://schemas.openxmlformats.org/drawingml/2006/main" noGrp="1"/>
          </p:cNvSpPr>
          <p:nvPr/>
        </p:nvSpPr>
        <p:spPr>
          <a:xfrm xmlns:a="http://schemas.openxmlformats.org/drawingml/2006/main">
            <a:off x="619125" y="2971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0"/>
                </a:solidFill>
              </a:defRPr>
            </a:defPPr>
          </a:lstStyle>
          <a:p xmlns:a="http://schemas.openxmlformats.org/drawingml/2006/main">
            <a:pPr>
              <a:defRPr sz="2250" b="0">
                <a:solidFill>
                  <a:srgbClr val="142C40"/>
                </a:solidFill>
              </a:defRPr>
            </a:pPr>
            <a:r>
              <a:rPr sz="2250" b="0">
                <a:solidFill>
                  <a:srgbClr val="142C40"/>
                </a:solidFill>
              </a:rPr>
              <a:t>Metric stride 4; một nhóm trùng chéo nhãn cần xác minh.</a:t>
            </a:r>
          </a:p>
        </p:txBody>
      </p:sp>
      <p:sp>
        <p:nvSpPr>
          <p:cNvPr id="7" name="">
            <a:extLst xmlns:a="http://schemas.openxmlformats.org/drawingml/2006/main">
              <a:ext uri="{FF2B5EF4-FFF2-40B4-BE49-F238E27FC236}">
                <a16:creationId xmlns:a16="http://schemas.microsoft.com/office/drawing/2014/main" id="{744DA2FF-4B9A-4816-9886-13A2BFAB2BDD}"/>
              </a:ext>
            </a:extLst>
          </p:cNvPr>
          <p:cNvSpPr>
            <a:spLocks xmlns:a="http://schemas.openxmlformats.org/drawingml/2006/main" noGrp="1"/>
          </p:cNvSpPr>
          <p:nvPr/>
        </p:nvSpPr>
        <p:spPr>
          <a:xfrm xmlns:a="http://schemas.openxmlformats.org/drawingml/2006/main">
            <a:off x="619125" y="38481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0"/>
                </a:solidFill>
              </a:defRPr>
            </a:defPPr>
          </a:lstStyle>
          <a:p xmlns:a="http://schemas.openxmlformats.org/drawingml/2006/main">
            <a:pPr>
              <a:defRPr sz="2250" b="0">
                <a:solidFill>
                  <a:srgbClr val="142C40"/>
                </a:solidFill>
              </a:defRPr>
            </a:pPr>
            <a:r>
              <a:rPr sz="2250" b="0">
                <a:solidFill>
                  <a:srgbClr val="142C40"/>
                </a:solidFill>
              </a:rPr>
              <a:t>Tuning ưu tiên F1, không phải nghiệm tối ưu chất lượng ảnh.</a:t>
            </a:r>
          </a:p>
        </p:txBody>
      </p:sp>
      <p:sp>
        <p:nvSpPr>
          <p:cNvPr id="8" name="">
            <a:extLst xmlns:a="http://schemas.openxmlformats.org/drawingml/2006/main">
              <a:ext uri="{FF2B5EF4-FFF2-40B4-BE49-F238E27FC236}">
                <a16:creationId xmlns:a16="http://schemas.microsoft.com/office/drawing/2014/main" id="{BD56A46F-1133-40A4-8F29-F0851607BAD7}"/>
              </a:ext>
            </a:extLst>
          </p:cNvPr>
          <p:cNvSpPr>
            <a:spLocks xmlns:a="http://schemas.openxmlformats.org/drawingml/2006/main" noGrp="1"/>
          </p:cNvSpPr>
          <p:nvPr/>
        </p:nvSpPr>
        <p:spPr>
          <a:xfrm xmlns:a="http://schemas.openxmlformats.org/drawingml/2006/main">
            <a:off x="619125" y="47244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0"/>
                </a:solidFill>
              </a:defRPr>
            </a:defPPr>
          </a:lstStyle>
          <a:p xmlns:a="http://schemas.openxmlformats.org/drawingml/2006/main">
            <a:pPr>
              <a:defRPr sz="2250" b="0">
                <a:solidFill>
                  <a:srgbClr val="142C40"/>
                </a:solidFill>
              </a:defRPr>
            </a:pPr>
            <a:r>
              <a:rPr sz="2250" b="0">
                <a:solidFill>
                  <a:srgbClr val="142C40"/>
                </a:solidFill>
              </a:rPr>
              <a:t>Hướng tiếp: ảnh thực, tiêu chí tuning chất lượng ảnh và đối chứng mới.</a:t>
            </a:r>
          </a:p>
        </p:txBody>
      </p:sp>
    </p:spTree>
    <p:extLst>
      <p:ext uri="{BB962C8B-B14F-4D97-AF65-F5344CB8AC3E}">
        <p14:creationId xmlns:p14="http://schemas.microsoft.com/office/powerpoint/2010/main" val="2026477357"/>
      </p:ext>
    </p:extLst>
  </p:cSld>
</p:sld>
</file>

<file path=ppt/theme/theme1.xml><?xml version="1.0" encoding="utf-8"?>
<a:theme xmlns:a="http://schemas.openxmlformats.org/drawingml/2006/main" name="Flower Restoration">
  <a:themeElements>
    <a:clrScheme name="Flower Restorati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Flower Restor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2026-10-18T00:45:52.6400000Z</dcterms:created>
  <dcterms:modified xsi:type="dcterms:W3CDTF">2026-10-18T00:45:52.6400000Z</dcterms:modified>
</coreProperties>
</file>