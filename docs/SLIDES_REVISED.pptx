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1.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bb10a6deff14990" /><Relationship Type="http://schemas.openxmlformats.org/officeDocument/2006/relationships/extended-properties" Target="/docProps/app.xml" Id="R45c5f03160044906" /><Relationship Type="http://schemas.openxmlformats.org/officeDocument/2006/relationships/officeDocument" Target="/ppt/presentation.xml" Id="R7da77dbd056842a0" /></Relationships>
</file>

<file path=ppt/presentation.xml><?xml version="1.0" encoding="utf-8"?>
<p:presentation xmlns:p="http://schemas.openxmlformats.org/presentationml/2006/main">
  <p:sldMasterIdLst>
    <p:sldMasterId xmlns:r="http://schemas.openxmlformats.org/officeDocument/2006/relationships" id="2147483648" r:id="Rd58b8d56a8094fca"/>
  </p:sldMasterIdLst>
  <p:notesMasterIdLst>
    <p:notesMasterId xmlns:r="http://schemas.openxmlformats.org/officeDocument/2006/relationships" r:id="R82a5b2f8ab604f06"/>
  </p:notesMasterIdLst>
  <p:sldIdLst>
    <p:sldId xmlns:r="http://schemas.openxmlformats.org/officeDocument/2006/relationships" id="256" r:id="Rdf88457bfd734ea0"/>
    <p:sldId xmlns:r="http://schemas.openxmlformats.org/officeDocument/2006/relationships" id="257" r:id="Re456ba0d501e4bf3"/>
    <p:sldId xmlns:r="http://schemas.openxmlformats.org/officeDocument/2006/relationships" id="258" r:id="R8d64c36893d84a60"/>
    <p:sldId xmlns:r="http://schemas.openxmlformats.org/officeDocument/2006/relationships" id="259" r:id="R8be2a21f169c4d3d"/>
    <p:sldId xmlns:r="http://schemas.openxmlformats.org/officeDocument/2006/relationships" id="260" r:id="R89e0a9d689b24c0e"/>
    <p:sldId xmlns:r="http://schemas.openxmlformats.org/officeDocument/2006/relationships" id="261" r:id="Rcc15358f971c4ba5"/>
    <p:sldId xmlns:r="http://schemas.openxmlformats.org/officeDocument/2006/relationships" id="262" r:id="R467d888794e646ad"/>
    <p:sldId xmlns:r="http://schemas.openxmlformats.org/officeDocument/2006/relationships" id="263" r:id="R76b98cccea3f4c08"/>
    <p:sldId xmlns:r="http://schemas.openxmlformats.org/officeDocument/2006/relationships" id="264" r:id="R20cdd7135dbe40df"/>
    <p:sldId xmlns:r="http://schemas.openxmlformats.org/officeDocument/2006/relationships" id="265" r:id="R60dd0d6973d542a6"/>
    <p:sldId xmlns:r="http://schemas.openxmlformats.org/officeDocument/2006/relationships" id="266" r:id="Rd62a3790f3a74511"/>
    <p:sldId xmlns:r="http://schemas.openxmlformats.org/officeDocument/2006/relationships" id="267" r:id="Rd6f465accd164e77"/>
    <p:sldId xmlns:r="http://schemas.openxmlformats.org/officeDocument/2006/relationships" id="268" r:id="R037bb6b3a7e64282"/>
    <p:sldId xmlns:r="http://schemas.openxmlformats.org/officeDocument/2006/relationships" id="269" r:id="Re7256a1e0a62478a"/>
    <p:sldId xmlns:r="http://schemas.openxmlformats.org/officeDocument/2006/relationships" id="270" r:id="Rec181404a3f54622"/>
    <p:sldId xmlns:r="http://schemas.openxmlformats.org/officeDocument/2006/relationships" id="271" r:id="R009f8dd0a8cc469a"/>
    <p:sldId xmlns:r="http://schemas.openxmlformats.org/officeDocument/2006/relationships" id="272" r:id="Ra6473cb01e424606"/>
    <p:sldId xmlns:r="http://schemas.openxmlformats.org/officeDocument/2006/relationships" id="273" r:id="R0ac9cb57cab24ad9"/>
    <p:sldId xmlns:r="http://schemas.openxmlformats.org/officeDocument/2006/relationships" id="274" r:id="Rd469d2f573cb46a5"/>
    <p:sldId xmlns:r="http://schemas.openxmlformats.org/officeDocument/2006/relationships" id="275" r:id="R993424055e574e21"/>
    <p:sldId xmlns:r="http://schemas.openxmlformats.org/officeDocument/2006/relationships" id="276" r:id="R1e221a52690d4ba7"/>
    <p:sldId xmlns:r="http://schemas.openxmlformats.org/officeDocument/2006/relationships" id="277" r:id="R56bf725645674269"/>
    <p:sldId xmlns:r="http://schemas.openxmlformats.org/officeDocument/2006/relationships" id="278" r:id="R5e8409c3e576482e"/>
    <p:sldId xmlns:r="http://schemas.openxmlformats.org/officeDocument/2006/relationships" id="279" r:id="Rdbdaaa11b25e49f2"/>
    <p:sldId xmlns:r="http://schemas.openxmlformats.org/officeDocument/2006/relationships" id="280" r:id="Raef4e97880234bd3"/>
    <p:sldId xmlns:r="http://schemas.openxmlformats.org/officeDocument/2006/relationships" id="281" r:id="R3df9be6fee7842e2"/>
    <p:sldId xmlns:r="http://schemas.openxmlformats.org/officeDocument/2006/relationships" id="282" r:id="R196df34f1be44181"/>
  </p:sldIdLst>
  <p:sldSz cx="12192000" cy="6858000"/>
  <p:notesSz cx="6858000" cy="9144000"/>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44d68f2463534e94" /><Relationship Type="http://schemas.openxmlformats.org/officeDocument/2006/relationships/slideMaster" Target="/ppt/slideMasters/slideMaster1.xml" Id="Rd58b8d56a8094fca" /><Relationship Type="http://schemas.openxmlformats.org/officeDocument/2006/relationships/notesMaster" Target="/ppt/notesMasters/notesMaster1.xml" Id="R82a5b2f8ab604f06" /><Relationship Type="http://schemas.openxmlformats.org/officeDocument/2006/relationships/presProps" Target="/ppt/presProps.xml" Id="R132b1d881785451b" /><Relationship Type="http://schemas.openxmlformats.org/officeDocument/2006/relationships/viewProps" Target="/ppt/viewProps.xml" Id="R458d3d803dd24041" /><Relationship Type="http://schemas.openxmlformats.org/officeDocument/2006/relationships/tableStyles" Target="/ppt/tableStyles.xml" Id="R8b4d4a93cc654906" /><Relationship Type="http://schemas.openxmlformats.org/officeDocument/2006/relationships/slide" Target="/ppt/slides/slide1.xml" Id="Rdf88457bfd734ea0" /><Relationship Type="http://schemas.openxmlformats.org/officeDocument/2006/relationships/slide" Target="/ppt/slides/slide2.xml" Id="Re456ba0d501e4bf3" /><Relationship Type="http://schemas.openxmlformats.org/officeDocument/2006/relationships/slide" Target="/ppt/slides/slide3.xml" Id="R8d64c36893d84a60" /><Relationship Type="http://schemas.openxmlformats.org/officeDocument/2006/relationships/slide" Target="/ppt/slides/slide4.xml" Id="R8be2a21f169c4d3d" /><Relationship Type="http://schemas.openxmlformats.org/officeDocument/2006/relationships/slide" Target="/ppt/slides/slide5.xml" Id="R89e0a9d689b24c0e" /><Relationship Type="http://schemas.openxmlformats.org/officeDocument/2006/relationships/slide" Target="/ppt/slides/slide6.xml" Id="Rcc15358f971c4ba5" /><Relationship Type="http://schemas.openxmlformats.org/officeDocument/2006/relationships/slide" Target="/ppt/slides/slide7.xml" Id="R467d888794e646ad" /><Relationship Type="http://schemas.openxmlformats.org/officeDocument/2006/relationships/slide" Target="/ppt/slides/slide8.xml" Id="R76b98cccea3f4c08" /><Relationship Type="http://schemas.openxmlformats.org/officeDocument/2006/relationships/slide" Target="/ppt/slides/slide9.xml" Id="R20cdd7135dbe40df" /><Relationship Type="http://schemas.openxmlformats.org/officeDocument/2006/relationships/slide" Target="/ppt/slides/slide10.xml" Id="R60dd0d6973d542a6" /><Relationship Type="http://schemas.openxmlformats.org/officeDocument/2006/relationships/slide" Target="/ppt/slides/slide11.xml" Id="Rd62a3790f3a74511" /><Relationship Type="http://schemas.openxmlformats.org/officeDocument/2006/relationships/slide" Target="/ppt/slides/slide12.xml" Id="Rd6f465accd164e77" /><Relationship Type="http://schemas.openxmlformats.org/officeDocument/2006/relationships/slide" Target="/ppt/slides/slide13.xml" Id="R037bb6b3a7e64282" /><Relationship Type="http://schemas.openxmlformats.org/officeDocument/2006/relationships/slide" Target="/ppt/slides/slide14.xml" Id="Re7256a1e0a62478a" /><Relationship Type="http://schemas.openxmlformats.org/officeDocument/2006/relationships/slide" Target="/ppt/slides/slide15.xml" Id="Rec181404a3f54622" /><Relationship Type="http://schemas.openxmlformats.org/officeDocument/2006/relationships/slide" Target="/ppt/slides/slide16.xml" Id="R009f8dd0a8cc469a" /><Relationship Type="http://schemas.openxmlformats.org/officeDocument/2006/relationships/slide" Target="/ppt/slides/slide17.xml" Id="Ra6473cb01e424606" /><Relationship Type="http://schemas.openxmlformats.org/officeDocument/2006/relationships/slide" Target="/ppt/slides/slide18.xml" Id="R0ac9cb57cab24ad9" /><Relationship Type="http://schemas.openxmlformats.org/officeDocument/2006/relationships/slide" Target="/ppt/slides/slide19.xml" Id="Rd469d2f573cb46a5" /><Relationship Type="http://schemas.openxmlformats.org/officeDocument/2006/relationships/slide" Target="/ppt/slides/slide20.xml" Id="R993424055e574e21" /><Relationship Type="http://schemas.openxmlformats.org/officeDocument/2006/relationships/slide" Target="/ppt/slides/slide21.xml" Id="R1e221a52690d4ba7" /><Relationship Type="http://schemas.openxmlformats.org/officeDocument/2006/relationships/slide" Target="/ppt/slides/slide22.xml" Id="R56bf725645674269" /><Relationship Type="http://schemas.openxmlformats.org/officeDocument/2006/relationships/slide" Target="/ppt/slides/slide23.xml" Id="R5e8409c3e576482e" /><Relationship Type="http://schemas.openxmlformats.org/officeDocument/2006/relationships/slide" Target="/ppt/slides/slide24.xml" Id="Rdbdaaa11b25e49f2" /><Relationship Type="http://schemas.openxmlformats.org/officeDocument/2006/relationships/slide" Target="/ppt/slides/slide25.xml" Id="Raef4e97880234bd3" /><Relationship Type="http://schemas.openxmlformats.org/officeDocument/2006/relationships/slide" Target="/ppt/slides/slide26.xml" Id="R3df9be6fee7842e2" /><Relationship Type="http://schemas.openxmlformats.org/officeDocument/2006/relationships/slide" Target="/ppt/slides/slide27.xml" Id="R196df34f1be4418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40ec2b355e34e6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Flower Restoration">
  <a:themeElements>
    <a:clrScheme name="Flower Restoration">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Flower Restoration">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e6d84d0ef154d95" /><Relationship Type="http://schemas.openxmlformats.org/officeDocument/2006/relationships/notesMaster" Target="/ppt/notesMasters/notesMaster1.xml" Id="R21a501d17ad74400" /></Relationships>
</file>

<file path=ppt/notesSlides/_rels/notesSlide2.xml.rels>&#65279;<?xml version="1.0" encoding="utf-8"?><Relationships xmlns="http://schemas.openxmlformats.org/package/2006/relationships"><Relationship Type="http://schemas.openxmlformats.org/officeDocument/2006/relationships/slide" Target="/ppt/slides/slide2.xml" Id="R6c6442fd93d44850" /><Relationship Type="http://schemas.openxmlformats.org/officeDocument/2006/relationships/notesMaster" Target="/ppt/notesMasters/notesMaster1.xml" Id="R20e72286d35c4a1c" /></Relationships>
</file>

<file path=ppt/notesSlides/_rels/notesSlide3.xml.rels>&#65279;<?xml version="1.0" encoding="utf-8"?><Relationships xmlns="http://schemas.openxmlformats.org/package/2006/relationships"><Relationship Type="http://schemas.openxmlformats.org/officeDocument/2006/relationships/slide" Target="/ppt/slides/slide3.xml" Id="Rcd3fe46f057c4417" /><Relationship Type="http://schemas.openxmlformats.org/officeDocument/2006/relationships/notesMaster" Target="/ppt/notesMasters/notesMaster1.xml" Id="Rc9833d67615e4e97" /></Relationships>
</file>

<file path=ppt/notesSlides/_rels/notesSlide4.xml.rels>&#65279;<?xml version="1.0" encoding="utf-8"?><Relationships xmlns="http://schemas.openxmlformats.org/package/2006/relationships"><Relationship Type="http://schemas.openxmlformats.org/officeDocument/2006/relationships/slide" Target="/ppt/slides/slide4.xml" Id="R71a3a83dff9e42f0" /><Relationship Type="http://schemas.openxmlformats.org/officeDocument/2006/relationships/notesMaster" Target="/ppt/notesMasters/notesMaster1.xml" Id="Rfc4b3617c09f4d18" /></Relationships>
</file>

<file path=ppt/notesSlides/_rels/notesSlide5.xml.rels>&#65279;<?xml version="1.0" encoding="utf-8"?><Relationships xmlns="http://schemas.openxmlformats.org/package/2006/relationships"><Relationship Type="http://schemas.openxmlformats.org/officeDocument/2006/relationships/slide" Target="/ppt/slides/slide5.xml" Id="R97fb3c2b304a4ccc" /><Relationship Type="http://schemas.openxmlformats.org/officeDocument/2006/relationships/notesMaster" Target="/ppt/notesMasters/notesMaster1.xml" Id="Re9d6580bebdb4369" /></Relationships>
</file>

<file path=ppt/notesSlides/_rels/notesSlide6.xml.rels>&#65279;<?xml version="1.0" encoding="utf-8"?><Relationships xmlns="http://schemas.openxmlformats.org/package/2006/relationships"><Relationship Type="http://schemas.openxmlformats.org/officeDocument/2006/relationships/slide" Target="/ppt/slides/slide6.xml" Id="Re22cf0b87f514fd6" /><Relationship Type="http://schemas.openxmlformats.org/officeDocument/2006/relationships/notesMaster" Target="/ppt/notesMasters/notesMaster1.xml" Id="R3769d957673c42a6" /></Relationships>
</file>

<file path=ppt/notesSlides/_rels/notesSlide7.xml.rels>&#65279;<?xml version="1.0" encoding="utf-8"?><Relationships xmlns="http://schemas.openxmlformats.org/package/2006/relationships"><Relationship Type="http://schemas.openxmlformats.org/officeDocument/2006/relationships/slide" Target="/ppt/slides/slide7.xml" Id="R0a67dd069ca146c3" /><Relationship Type="http://schemas.openxmlformats.org/officeDocument/2006/relationships/notesMaster" Target="/ppt/notesMasters/notesMaster1.xml" Id="Rcbd0ef025a6e4c2e" /></Relationships>
</file>

<file path=ppt/notesSlides/_rels/notesSlide8.xml.rels>&#65279;<?xml version="1.0" encoding="utf-8"?><Relationships xmlns="http://schemas.openxmlformats.org/package/2006/relationships"><Relationship Type="http://schemas.openxmlformats.org/officeDocument/2006/relationships/slide" Target="/ppt/slides/slide8.xml" Id="Rdedbba9792984ae0" /><Relationship Type="http://schemas.openxmlformats.org/officeDocument/2006/relationships/notesMaster" Target="/ppt/notesMasters/notesMaster1.xml" Id="Rbe516b930b034382" /></Relationships>
</file>

<file path=ppt/notesSlides/_rels/notesSlide9.xml.rels>&#65279;<?xml version="1.0" encoding="utf-8"?><Relationships xmlns="http://schemas.openxmlformats.org/package/2006/relationships"><Relationship Type="http://schemas.openxmlformats.org/officeDocument/2006/relationships/slide" Target="/ppt/slides/slide9.xml" Id="Re4cfdc37899e4d7f" /><Relationship Type="http://schemas.openxmlformats.org/officeDocument/2006/relationships/notesMaster" Target="/ppt/notesMasters/notesMaster1.xml" Id="R80f710ec88a648c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f3f5b6aee1c4324" /><Relationship Type="http://schemas.openxmlformats.org/officeDocument/2006/relationships/notesMaster" Target="/ppt/notesMasters/notesMaster1.xml" Id="R37c5f1f32927485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6c1185e6ab643bc" /><Relationship Type="http://schemas.openxmlformats.org/officeDocument/2006/relationships/notesMaster" Target="/ppt/notesMasters/notesMaster1.xml" Id="R7496ab5dcf9043a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952c019d2944653" /><Relationship Type="http://schemas.openxmlformats.org/officeDocument/2006/relationships/notesMaster" Target="/ppt/notesMasters/notesMaster1.xml" Id="R36b49653c5b6435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712c21fdad94663" /><Relationship Type="http://schemas.openxmlformats.org/officeDocument/2006/relationships/notesMaster" Target="/ppt/notesMasters/notesMaster1.xml" Id="R65998e01a8c646e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3b0ea7fb09340be" /><Relationship Type="http://schemas.openxmlformats.org/officeDocument/2006/relationships/notesMaster" Target="/ppt/notesMasters/notesMaster1.xml" Id="R767f2a913d38470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c4156fe1c974714" /><Relationship Type="http://schemas.openxmlformats.org/officeDocument/2006/relationships/notesMaster" Target="/ppt/notesMasters/notesMaster1.xml" Id="R390837af46e1424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9604c094f894c2f" /><Relationship Type="http://schemas.openxmlformats.org/officeDocument/2006/relationships/notesMaster" Target="/ppt/notesMasters/notesMaster1.xml" Id="Rd5390e2dd2d9403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083eb913a1e4f44" /><Relationship Type="http://schemas.openxmlformats.org/officeDocument/2006/relationships/notesMaster" Target="/ppt/notesMasters/notesMaster1.xml" Id="R86fe527e0a5f492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e3477e12b2b4b1d" /><Relationship Type="http://schemas.openxmlformats.org/officeDocument/2006/relationships/notesMaster" Target="/ppt/notesMasters/notesMaster1.xml" Id="R1b9c37fad3ec4f4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8ede546ee6c4a0b" /><Relationship Type="http://schemas.openxmlformats.org/officeDocument/2006/relationships/notesMaster" Target="/ppt/notesMasters/notesMaster1.xml" Id="Rafe9ce635a37445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9d7b281d0c04ae5" /><Relationship Type="http://schemas.openxmlformats.org/officeDocument/2006/relationships/notesMaster" Target="/ppt/notesMasters/notesMaster1.xml" Id="R0af599997d69486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24e84232c3d4234" /><Relationship Type="http://schemas.openxmlformats.org/officeDocument/2006/relationships/notesMaster" Target="/ppt/notesMasters/notesMaster1.xml" Id="Rddcb8e919f624c5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af48893f9d84cf2" /><Relationship Type="http://schemas.openxmlformats.org/officeDocument/2006/relationships/notesMaster" Target="/ppt/notesMasters/notesMaster1.xml" Id="R8e9e3ad9c2184f8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2d79a4c404b4936" /><Relationship Type="http://schemas.openxmlformats.org/officeDocument/2006/relationships/notesMaster" Target="/ppt/notesMasters/notesMaster1.xml" Id="R7b247fb6ef984d5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fb841a250874c8d" /><Relationship Type="http://schemas.openxmlformats.org/officeDocument/2006/relationships/notesMaster" Target="/ppt/notesMasters/notesMaster1.xml" Id="Rd75c61103b1843f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8b7d742e8274aa9" /><Relationship Type="http://schemas.openxmlformats.org/officeDocument/2006/relationships/notesMaster" Target="/ppt/notesMasters/notesMaster1.xml" Id="Rca7d1bae320f48f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8c578b1072a4580" /><Relationship Type="http://schemas.openxmlformats.org/officeDocument/2006/relationships/notesMaster" Target="/ppt/notesMasters/notesMaster1.xml" Id="Rb6bd0111f536497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d7745f9b6df4061" /><Relationship Type="http://schemas.openxmlformats.org/officeDocument/2006/relationships/notesMaster" Target="/ppt/notesMasters/notesMaster1.xml" Id="R21302fb6a94d49c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Trịnh Ngọc Nga</a:t>
            </a:r>
          </a:p>
          <a:p xmlns:a="http://schemas.openxmlformats.org/drawingml/2006/main">
            <a:r>
              <a:t>Lời nói mẫu: Kính chào thầy cô. Nhóm em khảo sát các kỹ thuật tăng cường và phục hồi ảnh hoa khi thiếu sáng, nhiễu, mờ hoặc lệch màu. Nhóm so ảnh sau xử lý với ảnh sạch, đồng thời kiểm tra nhận diện bằng một MobileNetV2 cố định. Câu hỏi xuyên suốt là: xử lý làm ảnh tốt hơn đến đâu và có giúp nhận diện tốt hơn không?</a:t>
            </a:r>
          </a:p>
          <a:p xmlns:a="http://schemas.openxmlformats.org/drawingml/2006/main">
            <a:r>
              <a:t>Chuyển ý: Em xin giới thiệu năm phần chính của bài trình bày.</a:t>
            </a:r>
          </a:p>
          <a:p xmlns:a="http://schemas.openxmlformats.org/drawingml/2006/main">
            <a:r>
              <a:t>Nguồn: REPORT_REVISED.docx; results/final/condition_metrics.csv; src/enhancements.py; src/tuning.py.</a:t>
            </a:r>
          </a:p>
          <a:p xmlns:a="http://schemas.openxmlformats.org/drawingml/2006/main">
            <a:r>
              <a:t>Ghi chú nguồn trước chỉnh sửa:</a:t>
            </a:r>
          </a:p>
          <a:p xmlns:a="http://schemas.openxmlformats.org/drawingml/2006/main">
            <a:r>
              <a:t>Phần trình bày đặt các thuật toán xử lý ảnh và chất lượng ảnh làm trọng tâm. MobileNetV2 chỉ là công cụ đo bổ sung. Nhóm 05. Giảng viên: TS. Nguyễn Ngọc Giang. Thành viên: Nguyễn Tùng Dương (24100358), Trịnh Ngọc Nga (24100065), Trương Việt Thành (24106898).</a:t>
            </a:r>
          </a:p>
          <a:p xmlns:a="http://schemas.openxmlformats.org/drawingml/2006/main">
            <a:r>
              <a:t>Nguồn: docs/REPORT_REVISED.docx; results/final/manifest.json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Trịnh Ngọc Nga</a:t>
            </a:r>
            <a:endParaRPr/>
          </a:p>
          <a:p xmlns:a="http://schemas.openxmlformats.org/drawingml/2006/main">
            <a:r>
              <a:t>Lời nói mẫu: Bài trình bày đi qua năm phần. Trước hết là bài toán và dữ liệu; tiếp theo là nguyên lý các kỹ thuật xử lý ảnh. Sau đó nhóm giải thích cách thiết kế và đánh giá thực nghiệm, đọc kết quả tổng hợp cùng các ca cụ thể, rồi minh họa ứng dụng và kết luận. Các phần này được rút từ báo cáo 12 chương để người nghe theo dõi một quy trình liên tục.</a:t>
            </a:r>
            <a:endParaRPr/>
          </a:p>
          <a:p xmlns:a="http://schemas.openxmlformats.org/drawingml/2006/main">
            <a:r>
              <a:t>Chuyển ý: Trước tiên, nhóm xác định các câu hỏi cần trả lời và phạm vi kết luận.</a:t>
            </a:r>
          </a:p>
          <a:p xmlns:a="http://schemas.openxmlformats.org/drawingml/2006/main">
            <a:r>
              <a:t>Nguồn: REPORT_REVISED.docx; results/final/condition_metrics.csv; src/enhancements.py; src/tuning.py.</a:t>
            </a:r>
          </a:p>
          <a:p xmlns:a="http://schemas.openxmlformats.org/drawingml/2006/main">
            <a:r>
              <a:t>Ghi chú nguồn trước chỉnh sửa:</a:t>
            </a:r>
          </a:p>
          <a:p xmlns:a="http://schemas.openxmlformats.org/drawingml/2006/main">
            <a:r>
              <a:t/>
            </a:r>
          </a:p>
          <a:p xmlns:a="http://schemas.openxmlformats.org/drawingml/2006/main">
            <a:r>
              <a:t/>
            </a:r>
          </a:p>
          <a:p xmlns:a="http://schemas.openxmlformats.org/drawingml/2006/main">
            <a:r>
              <a:t>Nguồn:</a:t>
            </a:r>
          </a:p>
          <a:p xmlns:a="http://schemas.openxmlformats.org/drawingml/2006/main">
            <a:r>
              <a:t>docs/REPORT_REVISED.docx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Trịnh Ngọc Nga</a:t>
            </a:r>
          </a:p>
          <a:p xmlns:a="http://schemas.openxmlformats.org/drawingml/2006/main">
            <a:r>
              <a:t>Lời nói mẫu: Nhóm đặt ba câu hỏi: suy giảm làm thay đổi ảnh như thế nào; từng kỹ thuật phục hồi được gì và đánh đổi gì; chất lượng ảnh tăng có đi cùng nhận diện tăng hay không. Thí nghiệm dùng năm lớp hoa, suy giảm tổng hợp biết trước loại và mức, cùng một split và checkpoint. Vì vậy kết luận được giới hạn trong các cấu hình đã khảo sát.</a:t>
            </a:r>
            <a:endParaRPr/>
          </a:p>
          <a:p xmlns:a="http://schemas.openxmlformats.org/drawingml/2006/main">
            <a:r>
              <a:t>Chuyển ý: Để trả lời nhất quán, toàn bộ thí nghiệm đi theo quy trình sau.</a:t>
            </a:r>
          </a:p>
          <a:p xmlns:a="http://schemas.openxmlformats.org/drawingml/2006/main">
            <a:r>
              <a:t>Nguồn: REPORT_REVISED.docx; results/final/condition_metrics.csv; src/enhancements.py; src/tuning.py.</a:t>
            </a:r>
          </a:p>
          <a:p xmlns:a="http://schemas.openxmlformats.org/drawingml/2006/main">
            <a:r>
              <a:t>Ghi chú nguồn trước chỉnh sửa:</a:t>
            </a:r>
          </a:p>
          <a:p xmlns:a="http://schemas.openxmlformats.org/drawingml/2006/main">
            <a:r>
              <a:t>RQ1 xem chất lượng ảnh theo cơ chế và mức suy giảm. RQ2 xem hiệu quả và đánh đổi sau xử lý. RQ3 kiểm tra mối liên hệ với nhận diện. RQ4 phân tích giới hạn trên từng ca ảnh. Các tham số thực tế được tune theo Macro F1 Validation trước SSIM; việc đổi trọng tâm báo cáo không thay đổi protocol đã chạy.</a:t>
            </a:r>
          </a:p>
          <a:p xmlns:a="http://schemas.openxmlformats.org/drawingml/2006/main">
            <a:r>
              <a:t/>
            </a:r>
          </a:p>
          <a:p xmlns:a="http://schemas.openxmlformats.org/drawingml/2006/main">
            <a:r>
              <a:t>Nguồn:</a:t>
            </a:r>
          </a:p>
          <a:p xmlns:a="http://schemas.openxmlformats.org/drawingml/2006/main">
            <a:r>
              <a:t>results/final/condition_metrics.csv</a:t>
            </a:r>
          </a:p>
          <a:p xmlns:a="http://schemas.openxmlformats.org/drawingml/2006/main">
            <a:r>
              <a:t>src/config.py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Trịnh Ngọc Nga</a:t>
            </a:r>
          </a:p>
          <a:p xmlns:a="http://schemas.openxmlformats.org/drawingml/2006/main">
            <a:r>
              <a:t>Lời nói mẫu: Ảnh gốc được tiền xử lý rồi tạo suy giảm. Mỗi phương pháp nhận cùng ảnh suy giảm và tạo một ảnh sau xử lý riêng, không xếp chồng tất cả phương pháp. Nhánh chất lượng so ảnh đó với ảnh sạch bằng PSNR, SSIM và sai khác màu. Nhánh nhận diện đưa các trạng thái vào cùng MobileNetV2 để so nhãn và Macro F1. Ảnh sạch là tham chiếu để chấm điểm, không phải đầu vào bí mật của các bộ lọc; riêng Gamma được cung cấp mức suy giảm đã biết.</a:t>
            </a:r>
            <a:endParaRPr/>
          </a:p>
          <a:p xmlns:a="http://schemas.openxmlformats.org/drawingml/2006/main">
            <a:r>
              <a:t>Chuyển ý: Nhóm bắt đầu từ bộ dữ liệu và cách chia tập để tránh lẫn ảnh giữa học và đánh giá.</a:t>
            </a:r>
          </a:p>
          <a:p xmlns:a="http://schemas.openxmlformats.org/drawingml/2006/main">
            <a:r>
              <a:t>Nguồn: REPORT_REVISED.docx; results/final/condition_metrics.csv; src/enhancements.py; src/tuning.py.</a:t>
            </a:r>
          </a:p>
          <a:p xmlns:a="http://schemas.openxmlformats.org/drawingml/2006/main">
            <a:r>
              <a:t>Ghi chú nguồn trước chỉnh sửa:</a:t>
            </a:r>
          </a:p>
          <a:p xmlns:a="http://schemas.openxmlformats.org/drawingml/2006/main">
            <a:r>
              <a:t>Tăng cường cải thiện cách thể hiện thông tin cho quan sát hoặc tác vụ. Phục hồi giảm ảnh hưởng của cơ chế suy giảm. Gamma dùng nghịch đảo đã biết, các phương pháp còn lại dùng giả định về tín hiệu. Không coi histogram rộng hoặc ảnh sáng hơn là bằng chứng chất lượng tốt hơn.</a:t>
            </a:r>
          </a:p>
          <a:p xmlns:a="http://schemas.openxmlformats.org/drawingml/2006/main">
            <a:r>
              <a:t/>
            </a:r>
          </a:p>
          <a:p xmlns:a="http://schemas.openxmlformats.org/drawingml/2006/main">
            <a:r>
              <a:t>Nguồn:</a:t>
            </a:r>
          </a:p>
          <a:p xmlns:a="http://schemas.openxmlformats.org/drawingml/2006/main">
            <a:r>
              <a:t>src/enhancements.py</a:t>
            </a:r>
          </a:p>
          <a:p xmlns:a="http://schemas.openxmlformats.org/drawingml/2006/main">
            <a:r>
              <a:t>src/image_metrics.py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Trịnh Ngọc Nga</a:t>
            </a:r>
            <a:endParaRPr/>
          </a:p>
          <a:p xmlns:a="http://schemas.openxmlformats.org/drawingml/2006/main">
            <a:r>
              <a:t>Lời nói mẫu: Dữ liệu có 3.670 ảnh hợp lệ thuộc năm lớp. Train gồm 2.571 ảnh để học trọng số, Validation có 549 ảnh để chọn tham số, còn Test có 550 ảnh để đánh giá cuối. Những tệp trùng SHA-256 được giữ trong cùng một tập. Audit ghi nhận ba nhóm trùng, trong đó một nhóm chéo nhãn cần xác minh; không có giao hash giữa các tập.</a:t>
            </a:r>
            <a:endParaRPr/>
          </a:p>
          <a:p xmlns:a="http://schemas.openxmlformats.org/drawingml/2006/main">
            <a:r>
              <a:t>Chuyển ý: Sau khi chia tập, mọi ảnh đi qua cùng một cách tiền xử lý.</a:t>
            </a:r>
          </a:p>
          <a:p xmlns:a="http://schemas.openxmlformats.org/drawingml/2006/main">
            <a:r>
              <a:t>Nguồn: REPORT_REVISED.docx; results/final/condition_metrics.csv; src/enhancements.py; src/tuning.py.</a:t>
            </a:r>
          </a:p>
          <a:p xmlns:a="http://schemas.openxmlformats.org/drawingml/2006/main">
            <a:r>
              <a:t>Ghi chú nguồn trước chỉnh sửa:</a:t>
            </a:r>
          </a:p>
          <a:p xmlns:a="http://schemas.openxmlformats.org/drawingml/2006/main">
            <a:r>
              <a:t/>
            </a:r>
          </a:p>
          <a:p xmlns:a="http://schemas.openxmlformats.org/drawingml/2006/main">
            <a:r>
              <a:t/>
            </a:r>
          </a:p>
          <a:p xmlns:a="http://schemas.openxmlformats.org/drawingml/2006/main">
            <a:r>
              <a:t>Nguồn:</a:t>
            </a:r>
          </a:p>
          <a:p xmlns:a="http://schemas.openxmlformats.org/drawingml/2006/main">
            <a:r>
              <a:t>data/inventory.csv</a:t>
            </a:r>
          </a:p>
          <a:p xmlns:a="http://schemas.openxmlformats.org/drawingml/2006/main">
            <a:r>
              <a:t>splits/train.csv</a:t>
            </a:r>
          </a:p>
          <a:p xmlns:a="http://schemas.openxmlformats.org/drawingml/2006/main">
            <a:r>
              <a:t>splits/validation.csv</a:t>
            </a:r>
          </a:p>
          <a:p xmlns:a="http://schemas.openxmlformats.org/drawingml/2006/main">
            <a:r>
              <a:t>splits/test.csv</a:t>
            </a:r>
          </a:p>
          <a:p xmlns:a="http://schemas.openxmlformats.org/drawingml/2006/main">
            <a:r>
              <a:t>artifacts/data_audit.json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Trịnh Ngọc Nga</a:t>
            </a:r>
            <a:endParaRPr/>
          </a:p>
          <a:p xmlns:a="http://schemas.openxmlformats.org/drawingml/2006/main">
            <a:r>
              <a:t>Lời nói mẫu: Ảnh được sửa hướng EXIF, chuyển RGB và letterbox LANCZOS về 224 nhân 224. Letterbox giữ tỷ lệ rồi thêm viền, tránh kéo méo hình hoa. Các phép xử lý dùng RGB uint8 từ 0 đến 255; khi suy luận chỉ đổi sang float32 vẫn ở miền đó. preprocess_input của MobileNetV2 đã nằm trong graph, nên không chuẩn hóa thêm một lần ở ngoài.</a:t>
            </a:r>
            <a:endParaRPr/>
          </a:p>
          <a:p xmlns:a="http://schemas.openxmlformats.org/drawingml/2006/main">
            <a:r>
              <a:t>Chuyển ý: Từ ảnh đã chuẩn hóa cách biểu diễn, nhóm mô phỏng năm dạng suy giảm với ba mức.</a:t>
            </a:r>
          </a:p>
          <a:p xmlns:a="http://schemas.openxmlformats.org/drawingml/2006/main">
            <a:r>
              <a:t>Nguồn: REPORT_REVISED.docx; results/final/condition_metrics.csv; src/enhancements.py; src/tuning.py.</a:t>
            </a:r>
          </a:p>
          <a:p xmlns:a="http://schemas.openxmlformats.org/drawingml/2006/main">
            <a:r>
              <a:t>Ghi chú nguồn trước chỉnh sửa:</a:t>
            </a:r>
          </a:p>
          <a:p xmlns:a="http://schemas.openxmlformats.org/drawingml/2006/main">
            <a:r>
              <a:t/>
            </a:r>
          </a:p>
          <a:p xmlns:a="http://schemas.openxmlformats.org/drawingml/2006/main">
            <a:r>
              <a:t/>
            </a:r>
          </a:p>
          <a:p xmlns:a="http://schemas.openxmlformats.org/drawingml/2006/main">
            <a:r>
              <a:t>Nguồn:</a:t>
            </a:r>
          </a:p>
          <a:p xmlns:a="http://schemas.openxmlformats.org/drawingml/2006/main">
            <a:r>
              <a:t>src/preprocessing.py</a:t>
            </a:r>
          </a:p>
          <a:p xmlns:a="http://schemas.openxmlformats.org/drawingml/2006/main">
            <a:r>
              <a:t>src/color_spaces.py</a:t>
            </a:r>
          </a:p>
          <a:p xmlns:a="http://schemas.openxmlformats.org/drawingml/2006/main">
            <a:r>
              <a:t>results/eda_sample_metrics.csv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Trịnh Ngọc Nga</a:t>
            </a:r>
          </a:p>
          <a:p xmlns:a="http://schemas.openxmlformats.org/drawingml/2006/main">
            <a:r>
              <a:t>Lời nói mẫu: Năm dạng gồm thiếu sáng, nhiễu Gaussian, nhiễu muối tiêu, mờ Gaussian và ám màu. Mỗi dạng có ba mức nhẹ, vừa và mạnh theo bảng. Sigma của nhiễu đo độ lớn nhiễu cộng vào pixel, còn sigma của mờ điều khiển độ làm trơn trong không gian. Loại và mức suy giảm do thí nghiệm cung cấp, chưa được hệ thống tự ước lượng từ ảnh thực.</a:t>
            </a:r>
            <a:endParaRPr/>
          </a:p>
          <a:p xmlns:a="http://schemas.openxmlformats.org/drawingml/2006/main">
            <a:r>
              <a:t>Chuyển ý: Với từng cơ chế suy giảm, nhóm chọn các phép xử lý tương ứng, bắt đầu từ ảnh thiếu sáng.</a:t>
            </a:r>
          </a:p>
          <a:p xmlns:a="http://schemas.openxmlformats.org/drawingml/2006/main">
            <a:r>
              <a:t>Nguồn: REPORT_REVISED.docx; results/final/condition_metrics.csv; src/enhancements.py; src/tuning.py.</a:t>
            </a:r>
          </a:p>
          <a:p xmlns:a="http://schemas.openxmlformats.org/drawingml/2006/main">
            <a:r>
              <a:t>Ghi chú nguồn trước chỉnh sửa:</a:t>
            </a:r>
          </a:p>
          <a:p xmlns:a="http://schemas.openxmlformats.org/drawingml/2006/main">
            <a:r>
              <a:t>Gaussian blur gọi scipy.ndimage.gaussian_filter với biên reflect. k=3/7/15 chỉ dùng suy ra sigma; không ép miền hỗ trợ của kernel đúng các giá trị đó. Color cast là nhân gain RGB và clip. Cùng đường dẫn và điều kiện tạo cùng stable seed.</a:t>
            </a:r>
          </a:p>
          <a:p xmlns:a="http://schemas.openxmlformats.org/drawingml/2006/main">
            <a:r>
              <a:t/>
            </a:r>
          </a:p>
          <a:p xmlns:a="http://schemas.openxmlformats.org/drawingml/2006/main">
            <a:r>
              <a:t>Nguồn:</a:t>
            </a:r>
          </a:p>
          <a:p xmlns:a="http://schemas.openxmlformats.org/drawingml/2006/main">
            <a:r>
              <a:t>src/config.py</a:t>
            </a:r>
          </a:p>
          <a:p xmlns:a="http://schemas.openxmlformats.org/drawingml/2006/main">
            <a:r>
              <a:t>src/degradations.py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Trịnh Ngọc Nga</a:t>
            </a:r>
          </a:p>
          <a:p xmlns:a="http://schemas.openxmlformats.org/drawingml/2006/main">
            <a:r>
              <a:t>Lời nói mẫu: Gamma ánh xạ cường độ toàn cục bằng số mũ nghịch đảo của phép làm tối đã biết. CLAHE chia kênh V trong HSV thành các vùng, cắt histogram để hạn chế khuếch đại rồi nội suy giữa vùng. HSV gồm H là sắc độ, S là độ bão hòa và V là thành phần độ sáng theo biểu diễn này. Dải ảnh phía dưới chỉ minh họa phép xử lý trên một ảnh; kết quả toàn Test được trình bày sau. Gamma không đảo được hoàn toàn mất mát do ép uint8, còn CLAHE có thể làm nổi nhiễu.</a:t>
            </a:r>
            <a:endParaRPr/>
          </a:p>
          <a:p xmlns:a="http://schemas.openxmlformats.org/drawingml/2006/main">
            <a:r>
              <a:t>Chuyển ý: Khi ảnh bị nhiễu, cần thao tác lên lân cận thay vì chỉ đổi cường độ từng pixel.</a:t>
            </a:r>
          </a:p>
          <a:p xmlns:a="http://schemas.openxmlformats.org/drawingml/2006/main">
            <a:r>
              <a:t>Nguồn: REPORT_REVISED.docx; results/final/condition_metrics.csv; src/enhancements.py; src/tuning.py.</a:t>
            </a:r>
          </a:p>
          <a:p xmlns:a="http://schemas.openxmlformats.org/drawingml/2006/main">
            <a:r>
              <a:t>Ảnh minh họa: daisy/11642632_1e7627a2cc.jpg CC-BY by Nick Coombe - https://www.flickr.com/photos/thearchive/11642632/. Chạy từ source dự án; không phải kết quả trung bình toàn Test.</a:t>
            </a:r>
          </a:p>
          <a:p xmlns:a="http://schemas.openxmlformats.org/drawingml/2006/main">
            <a:r>
              <a:t>Ghi chú nguồn trước chỉnh sửa:</a:t>
            </a:r>
          </a:p>
          <a:p xmlns:a="http://schemas.openxmlformats.org/drawingml/2006/main">
            <a:r>
              <a:t>Gamma: chuyển số thực, chia 255, lũy thừa, nhân 255, clip rồi uint8. Ví dụ 64 và gamma=2,5 cho khoảng 147 là minh họa số học, không phải metric Test. CLAHE dùng histogram tile, giới hạn clipping, LUT CDF và nội suy song tuyến tính; không tuyên bố trùng OpenCV từng pixel.</a:t>
            </a:r>
          </a:p>
          <a:p xmlns:a="http://schemas.openxmlformats.org/drawingml/2006/main">
            <a:r>
              <a:t/>
            </a:r>
          </a:p>
          <a:p xmlns:a="http://schemas.openxmlformats.org/drawingml/2006/main">
            <a:r>
              <a:t>Nguồn:</a:t>
            </a:r>
          </a:p>
          <a:p xmlns:a="http://schemas.openxmlformats.org/drawingml/2006/main">
            <a:r>
              <a:t>src/enhancements.py: gamma_correction, clahe_hsv_value</a:t>
            </a:r>
          </a:p>
          <a:p xmlns:a="http://schemas.openxmlformats.org/drawingml/2006/main">
            <a:r>
              <a:t>src/tuning.py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Trịnh Ngọc Nga</a:t>
            </a:r>
          </a:p>
          <a:p xmlns:a="http://schemas.openxmlformats.org/drawingml/2006/main">
            <a:r>
              <a:t>Lời nói mẫu: Gaussian lấy trung bình có trọng số theo khoảng cách, nên làm mượt nhưng có thể trộn qua biên. Median lấy trung vị trong cửa sổ, vì thế ít bị một số pixel cực trị chi phối. Ví dụ tám pixel bằng 10 và một pixel bằng 255 có trung vị 10, còn trung bình đều khoảng 37,22; đây là so với trung bình đều, không phải phép tính chính xác của Gaussian có trọng số. Dải ảnh cùng một nhiễu xung giúp quan sát sự khác nhau; cửa sổ quá lớn vẫn có thể xóa chi tiết.</a:t>
            </a:r>
            <a:endParaRPr/>
          </a:p>
          <a:p xmlns:a="http://schemas.openxmlformats.org/drawingml/2006/main">
            <a:r>
              <a:t>Chuyển ý: Bilateral bổ sung một điều kiện nữa để giảm trộn qua biên: độ gần nhau về màu.</a:t>
            </a:r>
          </a:p>
          <a:p xmlns:a="http://schemas.openxmlformats.org/drawingml/2006/main">
            <a:r>
              <a:t>Nguồn: REPORT_REVISED.docx; results/final/condition_metrics.csv; src/enhancements.py; src/tuning.py.</a:t>
            </a:r>
          </a:p>
          <a:p xmlns:a="http://schemas.openxmlformats.org/drawingml/2006/main">
            <a:r>
              <a:t>Ảnh minh họa: daisy/11642632_1e7627a2cc.jpg CC-BY by Nick Coombe - https://www.flickr.com/photos/thearchive/11642632/. Chạy từ source dự án; không phải kết quả trung bình toàn Test.</a:t>
            </a:r>
          </a:p>
          <a:p xmlns:a="http://schemas.openxmlformats.org/drawingml/2006/main">
            <a:r>
              <a:t>Ghi chú nguồn trước chỉnh sửa:</a:t>
            </a:r>
          </a:p>
          <a:p xmlns:a="http://schemas.openxmlformats.org/drawingml/2006/main">
            <a:r>
              <a:t>Gaussian là trung bình có trọng số chuẩn hóa; sigma càng lớn làm mượt càng mạnh và có thể trộn qua biên. Median phi tuyến lấy trung vị từng kênh với kernel3 hoặc5. Ví dụ tám giá trị10 và một255: median10, trung bình37,22. Đây là ví dụ tính toán, không phải kết quả tập Test.</a:t>
            </a:r>
          </a:p>
          <a:p xmlns:a="http://schemas.openxmlformats.org/drawingml/2006/main">
            <a:r>
              <a:t/>
            </a:r>
          </a:p>
          <a:p xmlns:a="http://schemas.openxmlformats.org/drawingml/2006/main">
            <a:r>
              <a:t>Nguồn:</a:t>
            </a:r>
          </a:p>
          <a:p xmlns:a="http://schemas.openxmlformats.org/drawingml/2006/main">
            <a:r>
              <a:t>src/enhancements.py: apply_enhancement</a:t>
            </a:r>
          </a:p>
          <a:p xmlns:a="http://schemas.openxmlformats.org/drawingml/2006/main">
            <a:r>
              <a:t>src/tuning.py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Trịnh Ngọc Nga</a:t>
            </a:r>
          </a:p>
          <a:p xmlns:a="http://schemas.openxmlformats.org/drawingml/2006/main">
            <a:r>
              <a:t>Lời nói mẫu: Bilateral nhân hai trọng số: khoảng cách không gian và khoảng cách màu. Một pixel gần vị trí nhưng khác màu nhiều sẽ đóng góp ít. Sigma s được giữ 1,6 trong cửa sổ 5 nhân 5; sigma r được thử ở 25, 40 và 60. Sigma r nhỏ có thể giữ biên nhưng cũng giữ nhiễu mạnh; sigma r lớn làm mượt hơn. Hình minh họa dùng nhiễu Gaussian vừa, còn kết quả theo ba mức sẽ được đối chiếu ở phần thực nghiệm.</a:t>
            </a:r>
            <a:endParaRPr/>
          </a:p>
          <a:p xmlns:a="http://schemas.openxmlformats.org/drawingml/2006/main">
            <a:r>
              <a:t>Chuyển ý: Với ảnh mờ, mục tiêu chuyển sang tăng phần chi tiết còn lại.</a:t>
            </a:r>
          </a:p>
          <a:p xmlns:a="http://schemas.openxmlformats.org/drawingml/2006/main">
            <a:r>
              <a:t>Nguồn: REPORT_REVISED.docx; results/final/condition_metrics.csv; src/enhancements.py; src/tuning.py.</a:t>
            </a:r>
          </a:p>
          <a:p xmlns:a="http://schemas.openxmlformats.org/drawingml/2006/main">
            <a:r>
              <a:t>Ảnh minh họa: daisy/11642632_1e7627a2cc.jpg CC-BY by Nick Coombe - https://www.flickr.com/photos/thearchive/11642632/. Chạy từ source dự án; không phải kết quả trung bình toàn Test.</a:t>
            </a:r>
          </a:p>
          <a:p xmlns:a="http://schemas.openxmlformats.org/drawingml/2006/main">
            <a:r>
              <a:t>Ghi chú nguồn trước chỉnh sửa:</a:t>
            </a:r>
          </a:p>
          <a:p xmlns:a="http://schemas.openxmlformats.org/drawingml/2006/main">
            <a:r>
              <a:t>w(p,q)=exp(-||p-q||²/(2sigma_s²))*exp(-||I(p)-I(q)||²/(2sigma_r²)). Lấy tổng I(q) có trọng số và chia tổng trọng số. Range sigma nhỏ có thể giữ cả nhiễu mạnh vì coi đó là biên. Range sigma lớn tiến gần làm mượt theo không gian trong lân cận cố định.</a:t>
            </a:r>
          </a:p>
          <a:p xmlns:a="http://schemas.openxmlformats.org/drawingml/2006/main">
            <a:r>
              <a:t/>
            </a:r>
          </a:p>
          <a:p xmlns:a="http://schemas.openxmlformats.org/drawingml/2006/main">
            <a:r>
              <a:t>Nguồn:</a:t>
            </a:r>
          </a:p>
          <a:p xmlns:a="http://schemas.openxmlformats.org/drawingml/2006/main">
            <a:r>
              <a:t>src/enhancements.py: bilateral_filter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Trịnh Ngọc Nga</a:t>
            </a:r>
          </a:p>
          <a:p xmlns:a="http://schemas.openxmlformats.org/drawingml/2006/main">
            <a:r>
              <a:t>Lời nói mẫu: Unsharp mask tạo bản làm trơn B, lấy phần dư I trừ B rồi cộng phần dư có trọng số vào ảnh. Tham số radius trong code thực chất là sigma Gaussian; amount điều khiển mức cộng. Nhóm thử ba cặp tham số như trên slide và dùng PIL SHARPEN cố định làm đối chứng. Hình phía dưới cho thấy cơ chế làm sắc nét trên ảnh mờ mạnh. Việc tăng biên có thể tăng cả nhiễu hoặc halo và không phải giải chập lấy lại toàn bộ thông tin đã mất.</a:t>
            </a:r>
            <a:endParaRPr/>
          </a:p>
          <a:p xmlns:a="http://schemas.openxmlformats.org/drawingml/2006/main">
            <a:r>
              <a:t>Chuyển ý: Nhóm cuối cùng thay đổi các kênh màu; đây là nơi giả định về cảnh rất quan trọng.</a:t>
            </a:r>
          </a:p>
          <a:p xmlns:a="http://schemas.openxmlformats.org/drawingml/2006/main">
            <a:r>
              <a:t>Nguồn: REPORT_REVISED.docx; results/final/condition_metrics.csv; src/enhancements.py; src/tuning.py.</a:t>
            </a:r>
          </a:p>
          <a:p xmlns:a="http://schemas.openxmlformats.org/drawingml/2006/main">
            <a:r>
              <a:t>Ảnh minh họa: daisy/11642632_1e7627a2cc.jpg CC-BY by Nick Coombe - https://www.flickr.com/photos/thearchive/11642632/. Chạy từ source dự án; không phải kết quả trung bình toàn Test.</a:t>
            </a:r>
          </a:p>
          <a:p xmlns:a="http://schemas.openxmlformats.org/drawingml/2006/main">
            <a:r>
              <a:t>Ghi chú nguồn trước chỉnh sửa:</a:t>
            </a:r>
          </a:p>
          <a:p xmlns:a="http://schemas.openxmlformats.org/drawingml/2006/main">
            <a:r>
              <a:t>B=G_sigma*I, D=I-B, Iout=clip(I+aD). Source gọi tham số radius nhưng nó là sigma của Gaussian. Ba cặp ứng viên được duyệt theo cặp, không phải9tổ hợp. PIL SHARPEN là đối chứng cố định. Không có giải chập trong phương pháp này.</a:t>
            </a:r>
          </a:p>
          <a:p xmlns:a="http://schemas.openxmlformats.org/drawingml/2006/main">
            <a:r>
              <a:t/>
            </a:r>
          </a:p>
          <a:p xmlns:a="http://schemas.openxmlformats.org/drawingml/2006/main">
            <a:r>
              <a:t>Nguồn:</a:t>
            </a:r>
          </a:p>
          <a:p xmlns:a="http://schemas.openxmlformats.org/drawingml/2006/main">
            <a:r>
              <a:t>src/enhancements.py</a:t>
            </a:r>
          </a:p>
          <a:p xmlns:a="http://schemas.openxmlformats.org/drawingml/2006/main">
            <a:r>
              <a:t>src/tuning.py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Trịnh Ngọc Nga</a:t>
            </a:r>
            <a:endParaRPr/>
          </a:p>
          <a:p xmlns:a="http://schemas.openxmlformats.org/drawingml/2006/main">
            <a:r>
              <a:t>Lời nói mẫu: RGB balance điều chỉnh gain để trung bình ba kênh tiến về cùng mức, dựa trên giả định gray-world. HSV correction giảm S và cân bằng histogram V trên toàn ảnh; nó khác CLAHE theo từng vùng. Lab tách L là độ sáng cảm nhận và a, b là hai trục màu; cách cài đặt hiện tại đưa trung bình a, b về không và kéo giãn L theo phân vị. Hình phía dưới minh họa ảnh ám màu nhẹ sau HSV, chưa phải bằng chứng mọi ảnh sẽ được sửa tốt. Cảnh hoa có màu trội có thể vi phạm giả định trung tính.</a:t>
            </a:r>
            <a:endParaRPr/>
          </a:p>
          <a:p xmlns:a="http://schemas.openxmlformats.org/drawingml/2006/main">
            <a:r>
              <a:t>Chuyển ý: Sau khi biết các phép biến đổi, cần xác định rõ hai tiêu chí dùng để đánh giá chúng.</a:t>
            </a:r>
          </a:p>
          <a:p xmlns:a="http://schemas.openxmlformats.org/drawingml/2006/main">
            <a:r>
              <a:t>Nguồn: REPORT_REVISED.docx; results/final/condition_metrics.csv; src/enhancements.py; src/tuning.py.</a:t>
            </a:r>
          </a:p>
          <a:p xmlns:a="http://schemas.openxmlformats.org/drawingml/2006/main">
            <a:r>
              <a:t>Ảnh minh họa: daisy/11642632_1e7627a2cc.jpg CC-BY by Nick Coombe - https://www.flickr.com/photos/thearchive/11642632/. Chạy từ source dự án; không phải kết quả trung bình toàn Test.</a:t>
            </a:r>
          </a:p>
          <a:p xmlns:a="http://schemas.openxmlformats.org/drawingml/2006/main">
            <a:r>
              <a:t>Ghi chú nguồn trước chỉnh sửa:</a:t>
            </a:r>
          </a:p>
          <a:p xmlns:a="http://schemas.openxmlformats.org/drawingml/2006/main">
            <a:r>
              <a:t/>
            </a:r>
          </a:p>
          <a:p xmlns:a="http://schemas.openxmlformats.org/drawingml/2006/main">
            <a:r>
              <a:t/>
            </a:r>
          </a:p>
          <a:p xmlns:a="http://schemas.openxmlformats.org/drawingml/2006/main">
            <a:r>
              <a:t>Nguồn:</a:t>
            </a:r>
          </a:p>
          <a:p xmlns:a="http://schemas.openxmlformats.org/drawingml/2006/main">
            <a:r>
              <a:t>src/enhancements.py: rgb_balance, hsv_correction, lab_correction</a:t>
            </a:r>
          </a:p>
          <a:p xmlns:a="http://schemas.openxmlformats.org/drawingml/2006/main">
            <a:r>
              <a:t>src/color_spaces.py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Trịnh Ngọc Nga</a:t>
            </a:r>
            <a:endParaRPr/>
          </a:p>
          <a:p xmlns:a="http://schemas.openxmlformats.org/drawingml/2006/main">
            <a:r>
              <a:t>Lời nói mẫu: Nhóm đo hai kết quả khác nhau. Chất lượng ảnh so trạng thái đang xét với ảnh sạch tham chiếu. Nhận diện dùng cùng một MobileNetV2 đã huấn luyện trên Train và giữ nguyên trọng số khi đánh giá mọi điều kiện. F1 từng lớp kết hợp Precision và Recall; Macro F1 lấy trung bình F1 của năm lớp với trọng số ngang nhau. Vì thế ảnh có SSIM cao hơn vẫn có thể mang dấu hiệu khiến classifier dự đoán sai. Nhóm giữ cả ảnh suy giảm chưa xử lý làm đối chứng.</a:t>
            </a:r>
            <a:endParaRPr/>
          </a:p>
          <a:p xmlns:a="http://schemas.openxmlformats.org/drawingml/2006/main">
            <a:r>
              <a:t>Chuyển ý: Từ hai tiêu chí này, nhóm thiết lập ma trận 49 điều kiện và quy tắc chọn tham số.</a:t>
            </a:r>
          </a:p>
          <a:p xmlns:a="http://schemas.openxmlformats.org/drawingml/2006/main">
            <a:r>
              <a:t>Nguồn: REPORT_REVISED.docx; results/final/condition_metrics.csv; src/enhancements.py; src/tuning.py.</a:t>
            </a:r>
          </a:p>
          <a:p xmlns:a="http://schemas.openxmlformats.org/drawingml/2006/main">
            <a:r>
              <a:t>Ghi chú nguồn trước chỉnh sửa:</a:t>
            </a:r>
          </a:p>
          <a:p xmlns:a="http://schemas.openxmlformats.org/drawingml/2006/main">
            <a:r>
              <a:t/>
            </a:r>
          </a:p>
          <a:p xmlns:a="http://schemas.openxmlformats.org/drawingml/2006/main">
            <a:r>
              <a:t/>
            </a:r>
          </a:p>
          <a:p xmlns:a="http://schemas.openxmlformats.org/drawingml/2006/main">
            <a:r>
              <a:t>Nguồn:</a:t>
            </a:r>
          </a:p>
          <a:p xmlns:a="http://schemas.openxmlformats.org/drawingml/2006/main">
            <a:r>
              <a:t>docs/REPORT_REVISED.docx mục 4.6</a:t>
            </a:r>
          </a:p>
          <a:p xmlns:a="http://schemas.openxmlformats.org/drawingml/2006/main">
            <a:r>
              <a:t>src/image_metrics.py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Nguyễn Tùng Dương</a:t>
            </a:r>
          </a:p>
          <a:p xmlns:a="http://schemas.openxmlformats.org/drawingml/2006/main">
            <a:r>
              <a:t>Lời nói mẫu: Có một điều kiện ảnh sạch, năm dạng nhân ba mức thành 15 điều kiện suy giảm, và 33 điều kiện sau xử lý. Mỗi phương pháp được chọn cấu hình riêng trên Validation bằng Macro F1 cao nhất; nếu hòa thì dùng SSIM, rồi thời gian xử lý thấp hơn. Cấu hình được khóa trước khi chạy cùng 550 ảnh Test cho từng điều kiện, tạo 26.950 lượt dự đoán. Đây là tối ưu tham số ưu tiên nhận diện, chưa phải tối ưu riêng PSNR hoặc SSIM.</a:t>
            </a:r>
            <a:endParaRPr/>
          </a:p>
          <a:p xmlns:a="http://schemas.openxmlformats.org/drawingml/2006/main">
            <a:r>
              <a:t>Chuyển ý: Trước khi xem biểu đồ, em giải thích cách đọc các chỉ số chất lượng ảnh.</a:t>
            </a:r>
          </a:p>
          <a:p xmlns:a="http://schemas.openxmlformats.org/drawingml/2006/main">
            <a:r>
              <a:t>Nguồn: REPORT_REVISED.docx; results/final/condition_metrics.csv; src/enhancements.py; src/tuning.py.</a:t>
            </a:r>
          </a:p>
          <a:p xmlns:a="http://schemas.openxmlformats.org/drawingml/2006/main">
            <a:r>
              <a:t>Ghi chú nguồn trước chỉnh sửa:</a:t>
            </a:r>
          </a:p>
          <a:p xmlns:a="http://schemas.openxmlformats.org/drawingml/2006/main">
            <a:r>
              <a:t>Một ảnh sạch, 5 loại × 3 mức tạo 15 điều kiện suy giảm. Bốn nhóm có hai phương pháp tạo 24 điều kiện sau xử lý; nhóm màu có ba phương pháp tạo 9, tổng 33. Validation gồm 549 ảnh, chọn riêng từng bộ loại/mức/phương pháp. Tiêu chí là F1 giảm dần, SSIM giảm dần rồi thời gian enhancement tăng dần; không gọi là tối ưu PSNR.</a:t>
            </a:r>
          </a:p>
          <a:p xmlns:a="http://schemas.openxmlformats.org/drawingml/2006/main">
            <a:r>
              <a:t/>
            </a:r>
          </a:p>
          <a:p xmlns:a="http://schemas.openxmlformats.org/drawingml/2006/main">
            <a:r>
              <a:t>Nguồn:</a:t>
            </a:r>
          </a:p>
          <a:p xmlns:a="http://schemas.openxmlformats.org/drawingml/2006/main">
            <a:r>
              <a:t>src/tuning.py: rank_candidates</a:t>
            </a:r>
          </a:p>
          <a:p xmlns:a="http://schemas.openxmlformats.org/drawingml/2006/main">
            <a:r>
              <a:t>configs/locked_enhancement_params.json</a:t>
            </a:r>
          </a:p>
          <a:p xmlns:a="http://schemas.openxmlformats.org/drawingml/2006/main">
            <a:r>
              <a:t>results/final/manifest.json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Nguyễn Tùng Dương</a:t>
            </a:r>
          </a:p>
          <a:p xmlns:a="http://schemas.openxmlformats.org/drawingml/2006/main">
            <a:r>
              <a:t>Lời nói mẫu: PSNR được suy ra từ sai số bình phương trung bình MSE; sai số nhỏ hơn cho PSNR cao hơn, đơn vị dB. SSIM đánh giá mức giống nhau về độ sáng, tương phản và cấu trúc cục bộ. Delta E 2000 đo sai khác màu, thấp hơn thường tốt hơn. Nhóm chấm đủ 550 ảnh, nhưng mỗi ảnh lấy pixel cách bốn, thành lưới 56 nhân 56. Delta E được báo cáo cho ảnh sạch và nhóm ám màu. Macro F1 của slide trước phải được đọc riêng với các metric ảnh này.</a:t>
            </a:r>
            <a:endParaRPr/>
          </a:p>
          <a:p xmlns:a="http://schemas.openxmlformats.org/drawingml/2006/main">
            <a:r>
              <a:t>Chuyển ý: Đầu tiên là kết quả cải thiện ảnh thiếu sáng bằng Gamma và CLAHE.</a:t>
            </a:r>
          </a:p>
          <a:p xmlns:a="http://schemas.openxmlformats.org/drawingml/2006/main">
            <a:r>
              <a:t>Nguồn: REPORT_REVISED.docx; results/final/condition_metrics.csv; src/enhancements.py; src/tuning.py.</a:t>
            </a:r>
          </a:p>
          <a:p xmlns:a="http://schemas.openxmlformats.org/drawingml/2006/main">
            <a:r>
              <a:t>Ghi chú nguồn trước chỉnh sửa:</a:t>
            </a:r>
          </a:p>
          <a:p xmlns:a="http://schemas.openxmlformats.org/drawingml/2006/main">
            <a:r>
              <a:t>PSNR dùng 10log10(255²/MSE). Khi MSE bằng 0, source quy ước 100 dB. SSIM dùng cửa sổ 7×7 trên lưới 56×56 sau stride 4, đo từng kênh RGB rồi lấy trung bình. ΔE chỉ được tính cho clean và color cast trong FULL_RUN. Brightness/RMS của clean có công thức khác nhánh suy giảm và xử lý nên không so sánh trực tiếp.</a:t>
            </a:r>
          </a:p>
          <a:p xmlns:a="http://schemas.openxmlformats.org/drawingml/2006/main">
            <a:r>
              <a:t/>
            </a:r>
          </a:p>
          <a:p xmlns:a="http://schemas.openxmlformats.org/drawingml/2006/main">
            <a:r>
              <a:t>Nguồn:</a:t>
            </a:r>
          </a:p>
          <a:p xmlns:a="http://schemas.openxmlformats.org/drawingml/2006/main">
            <a:r>
              <a:t>src/image_metrics.py</a:t>
            </a:r>
          </a:p>
          <a:p xmlns:a="http://schemas.openxmlformats.org/drawingml/2006/main">
            <a:r>
              <a:t>results/final/manifest.json</a:t>
            </a:r>
          </a:p>
          <a:p xmlns:a="http://schemas.openxmlformats.org/drawingml/2006/main">
            <a:r>
              <a:t>Tài liệu tham khảo [4] SSIM; [5] CIEDE2000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Nguyễn Tùng Dương</a:t>
            </a:r>
          </a:p>
          <a:p xmlns:a="http://schemas.openxmlformats.org/drawingml/2006/main">
            <a:r>
              <a:t>Lời nói mẫu: Ở mỗi mức, nhóm so hai phương pháp với cùng ảnh suy giảm. Thiếu sáng nhẹ sau Gamma có PSNR từ 21,06 lên 46,22 dB và SSIM từ 0,8650 lên 0,9924. Gamma có lợi thế vì được biết đúng mức biến đổi làm tối. Khi thiếu sáng mạnh, kết quả vẫn cách ảnh sạch vì lượng tử hóa đã gộp nhiều mức pixel. Đây là cải thiện trong mô phỏng có thông tin mức suy giảm, chưa chứng minh xử lý tự động mọi ảnh tối thực.</a:t>
            </a:r>
            <a:endParaRPr/>
          </a:p>
          <a:p xmlns:a="http://schemas.openxmlformats.org/drawingml/2006/main">
            <a:r>
              <a:t>Chuyển ý: Sang nhiễu Gaussian, lựa chọn bộ lọc thay đổi theo độ mạnh của nhiễu.</a:t>
            </a:r>
          </a:p>
          <a:p xmlns:a="http://schemas.openxmlformats.org/drawingml/2006/main">
            <a:r>
              <a:t>Nguồn: REPORT_REVISED.docx; results/final/condition_metrics.csv; src/enhancements.py; src/tuning.py.</a:t>
            </a:r>
          </a:p>
          <a:p xmlns:a="http://schemas.openxmlformats.org/drawingml/2006/main">
            <a:r>
              <a:t>Ghi chú nguồn trước chỉnh sửa:</a:t>
            </a:r>
          </a:p>
          <a:p xmlns:a="http://schemas.openxmlformats.org/drawingml/2006/main">
            <a:r>
              <a:t>Gamma nhẹ: PSNR 21,06 → 46,22 dB; SSIM 0,8650 → 0,9924. Biết γ tạo lợi thế; lượng tử hóa vùng tối vẫn làm mất thông tin. Mỗi điểm là trung bình trên550ảnhTest với metricstride4; tham số khóa từValidation.</a:t>
            </a:r>
          </a:p>
          <a:p xmlns:a="http://schemas.openxmlformats.org/drawingml/2006/main">
            <a:r>
              <a:t/>
            </a:r>
          </a:p>
          <a:p xmlns:a="http://schemas.openxmlformats.org/drawingml/2006/main">
            <a:r>
              <a:t>Nguồn:</a:t>
            </a:r>
          </a:p>
          <a:p xmlns:a="http://schemas.openxmlformats.org/drawingml/2006/main">
            <a:r>
              <a:t>results/final/condition_metrics.csv</a:t>
            </a:r>
          </a:p>
          <a:p xmlns:a="http://schemas.openxmlformats.org/drawingml/2006/main">
            <a:r>
              <a:t>figures/report_revised/quality_low_light.png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Nguyễn Tùng Dương</a:t>
            </a:r>
          </a:p>
          <a:p xmlns:a="http://schemas.openxmlformats.org/drawingml/2006/main">
            <a:r>
              <a:t>Lời nói mẫu: Bilateral có PSNR và SSIM cao hơn Gaussian ở nhiễu nhẹ và vừa trong cấu hình đã khóa. Ở mức mạnh, thứ tự đảo lại: Gaussian đạt 21,61 dB và SSIM 0,6172; bilateral khoảng 19,78 dB và 0,540. Vì vậy không có một phương pháp thắng ở mọi mức. Giải thích theo cơ chế là nhiễu mạnh có thể làm khoảng cách màu kém tin cậy, nhưng bài chưa có ablation để tách riêng nguyên nhân này.</a:t>
            </a:r>
            <a:endParaRPr/>
          </a:p>
          <a:p xmlns:a="http://schemas.openxmlformats.org/drawingml/2006/main">
            <a:r>
              <a:t>Chuyển ý: Với nhiễu xung, các pixel cực trị khiến median thể hiện lợi thế rõ hơn.</a:t>
            </a:r>
          </a:p>
          <a:p xmlns:a="http://schemas.openxmlformats.org/drawingml/2006/main">
            <a:r>
              <a:t>Nguồn: REPORT_REVISED.docx; results/final/condition_metrics.csv; src/enhancements.py; src/tuning.py.</a:t>
            </a:r>
          </a:p>
          <a:p xmlns:a="http://schemas.openxmlformats.org/drawingml/2006/main">
            <a:r>
              <a:t>Ghi chú nguồn trước chỉnh sửa:</a:t>
            </a:r>
          </a:p>
          <a:p xmlns:a="http://schemas.openxmlformats.org/drawingml/2006/main">
            <a:r>
              <a:t>So Gaussian và bilateral ở cùng loại, mức và mẫu nhiễu. σr nhỏ có thể giữ nhiễu mạnh; không suy rộng ngoài cấu hình đã thử. Mỗi điểm là trung bình trên550ảnhTest với metricstride4; tham số khóa từValidation.</a:t>
            </a:r>
          </a:p>
          <a:p xmlns:a="http://schemas.openxmlformats.org/drawingml/2006/main">
            <a:r>
              <a:t/>
            </a:r>
          </a:p>
          <a:p xmlns:a="http://schemas.openxmlformats.org/drawingml/2006/main">
            <a:r>
              <a:t>Nguồn:</a:t>
            </a:r>
          </a:p>
          <a:p xmlns:a="http://schemas.openxmlformats.org/drawingml/2006/main">
            <a:r>
              <a:t>results/final/condition_metrics.csv</a:t>
            </a:r>
          </a:p>
          <a:p xmlns:a="http://schemas.openxmlformats.org/drawingml/2006/main">
            <a:r>
              <a:t>figures/report_revised/quality_gaussian_noise.png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Nguyễn Tùng Dương</a:t>
            </a:r>
          </a:p>
          <a:p xmlns:a="http://schemas.openxmlformats.org/drawingml/2006/main">
            <a:r>
              <a:t>Lời nói mẫu: Ở nhiễu xung mạnh, median đưa PSNR từ 15,68 lên 28,90 dB và SSIM từ 0,5410 lên 0,9548. Đường median cao hơn Gaussian ở cả ba mức trên hai chỉ số trong thí nghiệm này. Kết quả phù hợp với việc trung vị loại ảnh hưởng của các outlier khi lân cận còn đủ tín hiệu hợp lệ. Tuy vậy vẫn phải xem chi tiết nhỏ có mất không, thay vì chỉ nhìn nền ảnh sạch hơn.</a:t>
            </a:r>
            <a:endParaRPr/>
          </a:p>
          <a:p xmlns:a="http://schemas.openxmlformats.org/drawingml/2006/main">
            <a:r>
              <a:t>Chuyển ý: Khác với nhiễu xung, ảnh bị mờ đã mất một phần thông tin không gian.</a:t>
            </a:r>
          </a:p>
          <a:p xmlns:a="http://schemas.openxmlformats.org/drawingml/2006/main">
            <a:r>
              <a:t>Nguồn: REPORT_REVISED.docx; results/final/condition_metrics.csv; src/enhancements.py; src/tuning.py.</a:t>
            </a:r>
          </a:p>
          <a:p xmlns:a="http://schemas.openxmlformats.org/drawingml/2006/main">
            <a:r>
              <a:t>Ghi chú nguồn trước chỉnh sửa:</a:t>
            </a:r>
          </a:p>
          <a:p xmlns:a="http://schemas.openxmlformats.org/drawingml/2006/main">
            <a:r>
              <a:t>Median loại outlier khi lân cận còn đủ tín hiệu hợp lệ. Đọc PSNR và SSIM cùng chi tiết cánh hoa, không chỉ độ sạch nền. Mỗi điểm là trung bình trên550ảnhTest với metricstride4; tham số khóa từValidation.</a:t>
            </a:r>
          </a:p>
          <a:p xmlns:a="http://schemas.openxmlformats.org/drawingml/2006/main">
            <a:r>
              <a:t/>
            </a:r>
          </a:p>
          <a:p xmlns:a="http://schemas.openxmlformats.org/drawingml/2006/main">
            <a:r>
              <a:t>Nguồn:</a:t>
            </a:r>
          </a:p>
          <a:p xmlns:a="http://schemas.openxmlformats.org/drawingml/2006/main">
            <a:r>
              <a:t>results/final/condition_metrics.csv</a:t>
            </a:r>
          </a:p>
          <a:p xmlns:a="http://schemas.openxmlformats.org/drawingml/2006/main">
            <a:r>
              <a:t>figures/report_revised/quality_salt_pepper.png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Nguyễn Tùng Dương</a:t>
            </a:r>
          </a:p>
          <a:p xmlns:a="http://schemas.openxmlformats.org/drawingml/2006/main">
            <a:r>
              <a:t>Lời nói mẫu: Khi ảnh mờ mạnh, unsharp đưa PSNR từ 22,31 lên 22,86 dB và SSIM từ 0,8154 lên 0,8370. Khoảng cải thiện có thật nhưng tương đối nhỏ và chưa trở về ảnh sạch. Ở mức nhẹ SHARPEN có kết quả tốt hơn unsharp trong cấu hình đã thử; không suy rộng một phương pháp luôn tốt nhất. Bộ lọc chủ yếu tăng chi tiết còn lại, còn thông tin bị làm mờ không được khôi phục đầy đủ.</a:t>
            </a:r>
            <a:endParaRPr/>
          </a:p>
          <a:p xmlns:a="http://schemas.openxmlformats.org/drawingml/2006/main">
            <a:r>
              <a:t>Chuyển ý: Với ám màu, tên gọi hiệu chỉnh cũng không bảo đảm kết quả tốt hơn.</a:t>
            </a:r>
          </a:p>
          <a:p xmlns:a="http://schemas.openxmlformats.org/drawingml/2006/main">
            <a:r>
              <a:t>Nguồn: REPORT_REVISED.docx; results/final/condition_metrics.csv; src/enhancements.py; src/tuning.py.</a:t>
            </a:r>
          </a:p>
          <a:p xmlns:a="http://schemas.openxmlformats.org/drawingml/2006/main">
            <a:r>
              <a:t>Ghi chú nguồn trước chỉnh sửa:</a:t>
            </a:r>
          </a:p>
          <a:p xmlns:a="http://schemas.openxmlformats.org/drawingml/2006/main">
            <a:r>
              <a:t>Unsharp và SHARPEN khuếch đại phần chi tiết còn lại. Không coi ảnh nét hơn là đã khôi phục toàn bộ thông tin bị mất. Mỗi điểm là trung bình trên550ảnhTest với metricstride4; tham số khóa từValidation.</a:t>
            </a:r>
          </a:p>
          <a:p xmlns:a="http://schemas.openxmlformats.org/drawingml/2006/main">
            <a:r>
              <a:t/>
            </a:r>
          </a:p>
          <a:p xmlns:a="http://schemas.openxmlformats.org/drawingml/2006/main">
            <a:r>
              <a:t>Nguồn:</a:t>
            </a:r>
          </a:p>
          <a:p xmlns:a="http://schemas.openxmlformats.org/drawingml/2006/main">
            <a:r>
              <a:t>results/final/condition_metrics.csv</a:t>
            </a:r>
          </a:p>
          <a:p xmlns:a="http://schemas.openxmlformats.org/drawingml/2006/main">
            <a:r>
              <a:t>figures/report_revised/quality_gaussian_blur.png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Nguyễn Tùng Dương</a:t>
            </a:r>
          </a:p>
          <a:p xmlns:a="http://schemas.openxmlformats.org/drawingml/2006/main">
            <a:r>
              <a:t>Lời nói mẫu: Ở ám màu nhẹ, cả ba cách hiệu chỉnh đều làm PSNR và SSIM giảm so ảnh suy giảm. Delta E từ 1,73 tăng lên 9,56 với RGB, 4,26 với HSV và 11,01 với Lab. Vì Delta E thấp hơn mới gần màu tham chiếu hơn, đây là phản ví dụ cho việc luôn thêm bước cân bằng màu. Cách hiệu chỉnh dựa trên thống kê toàn cảnh có thể thay đổi cả màu vốn đúng; để xác định từng nguyên nhân cần tách các bước trong một thí nghiệm riêng.</a:t>
            </a:r>
            <a:endParaRPr/>
          </a:p>
          <a:p xmlns:a="http://schemas.openxmlformats.org/drawingml/2006/main">
            <a:r>
              <a:t>Chuyển ý: Các kết quả vừa rồi nói về chất lượng ảnh; tiếp theo là tác động đến nhận diện.</a:t>
            </a:r>
          </a:p>
          <a:p xmlns:a="http://schemas.openxmlformats.org/drawingml/2006/main">
            <a:r>
              <a:t>Nguồn: REPORT_REVISED.docx; results/final/condition_metrics.csv; src/enhancements.py; src/tuning.py.</a:t>
            </a:r>
          </a:p>
          <a:p xmlns:a="http://schemas.openxmlformats.org/drawingml/2006/main">
            <a:r>
              <a:t>Ghi chú nguồn trước chỉnh sửa:</a:t>
            </a:r>
          </a:p>
          <a:p xmlns:a="http://schemas.openxmlformats.org/drawingml/2006/main">
            <a:r>
              <a:t>RGB, HSV và Lab dựa trên các giả định màu khác nhau. Hiệu chỉnh màu có thể làm lệch màu hoa; xem thêm ΔE trong báo cáo. Mỗi điểm là trung bình trên550ảnhTest với metricstride4; tham số khóa từValidation.</a:t>
            </a:r>
          </a:p>
          <a:p xmlns:a="http://schemas.openxmlformats.org/drawingml/2006/main">
            <a:r>
              <a:t/>
            </a:r>
          </a:p>
          <a:p xmlns:a="http://schemas.openxmlformats.org/drawingml/2006/main">
            <a:r>
              <a:t>Nguồn:</a:t>
            </a:r>
          </a:p>
          <a:p xmlns:a="http://schemas.openxmlformats.org/drawingml/2006/main">
            <a:r>
              <a:t>results/final/condition_metrics.csv</a:t>
            </a:r>
          </a:p>
          <a:p xmlns:a="http://schemas.openxmlformats.org/drawingml/2006/main">
            <a:r>
              <a:t>figures/report_revised/quality_color_cast.png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Nguyễn Tùng Dương</a:t>
            </a:r>
          </a:p>
          <a:p xmlns:a="http://schemas.openxmlformats.org/drawingml/2006/main">
            <a:r>
              <a:t>Lời nói mẫu: Cùng MobileNetV2 cho Macro F1 ảnh sạch là 0,9020. Ba cặp trên slide chỉ là ví dụ trong 33 cặp: median ở nhiễu xung mạnh tăng F1 từ 0,6863 lên 0,8869; Gaussian ở nhiễu Gaussian mạnh tăng từ 0,5787 lên 0,6959; Gamma ở thiếu sáng nhẹ lại giảm từ 0,9127 xuống 0,9002. Mức tăng median là khoảng 20,07 điểm phần trăm trên thang 0 đến 100. Những ví dụ này cho thấy cả lợi ích lẫn trường hợp gây hại.</a:t>
            </a:r>
            <a:endParaRPr/>
          </a:p>
          <a:p xmlns:a="http://schemas.openxmlformats.org/drawingml/2006/main">
            <a:r>
              <a:t>Chuyển ý: Vì sao một phép xử lý làm ảnh gần tham chiếu hơn mà F1 vẫn giảm? Ta xem đồng thời cả hai chỉ số.</a:t>
            </a:r>
          </a:p>
          <a:p xmlns:a="http://schemas.openxmlformats.org/drawingml/2006/main">
            <a:r>
              <a:t>Nguồn: REPORT_REVISED.docx; results/final/condition_metrics.csv; src/enhancements.py; src/tuning.py.</a:t>
            </a:r>
          </a:p>
          <a:p xmlns:a="http://schemas.openxmlformats.org/drawingml/2006/main">
            <a:r>
              <a:t>Ghi chú nguồn trước chỉnh sửa:</a:t>
            </a:r>
          </a:p>
          <a:p xmlns:a="http://schemas.openxmlformats.org/drawingml/2006/main">
            <a:r>
              <a:t>Ảnh sạch có Accuracy 90,18% và Macro F1 0,9020. Ba so sánh minh họa gồm median ở nhiễu xung mạnh, Gaussian filtering ở nhiễu Gaussian mạnh và Gamma ở thiếu sáng nhẹ. Biểu đồ làm tròn sáu chữ số thập phân; CSV giữ số đầy đủ. Xem CI và thống kê theo cặp khi diễn giải chênh lệch; không lựa chọn pipeline theo Test.</a:t>
            </a:r>
          </a:p>
          <a:p xmlns:a="http://schemas.openxmlformats.org/drawingml/2006/main">
            <a:r>
              <a:t/>
            </a:r>
          </a:p>
          <a:p xmlns:a="http://schemas.openxmlformats.org/drawingml/2006/main">
            <a:r>
              <a:t>Nguồn:</a:t>
            </a:r>
          </a:p>
          <a:p xmlns:a="http://schemas.openxmlformats.org/drawingml/2006/main">
            <a:r>
              <a:t>results/final/condition_metrics.csv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Nguyễn Tùng Dương</a:t>
            </a:r>
          </a:p>
          <a:p xmlns:a="http://schemas.openxmlformats.org/drawingml/2006/main">
            <a:r>
              <a:t>Lời nói mẫu: Mỗi điểm là một trong 33 cặp sau xử lý so với suy giảm. Trục ngang đo thay đổi SSIM, trục đứng đo thay đổi Macro F1. Pearson 0,710 và Spearman 0,702 mô tả xu hướng cùng biến thiên, không bảo đảm từng điểm cùng tăng. Gamma ở thiếu sáng nhẹ nằm phía SSIM tăng nhưng F1 giảm từ 0,9127 xuống 0,9002. Các điều kiện dùng chung ảnh và model nên không độc lập; không suy ra nhân quả hoặc dự đoán một ảnh mới từ hệ số tương quan.</a:t>
            </a:r>
            <a:endParaRPr/>
          </a:p>
          <a:p xmlns:a="http://schemas.openxmlformats.org/drawingml/2006/main">
            <a:r>
              <a:t>Chuyển ý: Em xin chuyển cho bạn Thành phân tích hai ca ảnh cụ thể và minh họa ứng dụng.</a:t>
            </a:r>
          </a:p>
          <a:p xmlns:a="http://schemas.openxmlformats.org/drawingml/2006/main">
            <a:r>
              <a:t>Nguồn: REPORT_REVISED.docx; results/final/condition_metrics.csv; src/enhancements.py; src/tuning.py.</a:t>
            </a:r>
          </a:p>
          <a:p xmlns:a="http://schemas.openxmlformats.org/drawingml/2006/main">
            <a:r>
              <a:t>Ghi chú nguồn trước chỉnh sửa:</a:t>
            </a:r>
          </a:p>
          <a:p xmlns:a="http://schemas.openxmlformats.org/drawingml/2006/main">
            <a:r>
              <a:t>Trên 33 cặp điều kiện, Pearson 0,710 và Spearman 0,702 chỉ mô tả xu hướng. Các điểm dùng chung ảnh/model nên không độc lập; không suy ra quan hệ nhân quả. Gamma ở thiếu sáng nhẹ tăng SSIM từ 0,8650 lên 0,9924 nhưng F1 giảm từ 0,9127 xuống 0,9002.</a:t>
            </a:r>
          </a:p>
          <a:p xmlns:a="http://schemas.openxmlformats.org/drawingml/2006/main">
            <a:r>
              <a:t/>
            </a:r>
          </a:p>
          <a:p xmlns:a="http://schemas.openxmlformats.org/drawingml/2006/main">
            <a:r>
              <a:t>Nguồn:</a:t>
            </a:r>
          </a:p>
          <a:p xmlns:a="http://schemas.openxmlformats.org/drawingml/2006/main">
            <a:r>
              <a:t>results/final/condition_metrics.csv</a:t>
            </a:r>
          </a:p>
          <a:p xmlns:a="http://schemas.openxmlformats.org/drawingml/2006/main">
            <a:r>
              <a:t>figures/report_revised/correlation.png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Trương Việt Thành</a:t>
            </a:r>
          </a:p>
          <a:p xmlns:a="http://schemas.openxmlformats.org/drawingml/2006/main">
            <a:r>
              <a:t>Lời nói mẫu: Đây là một ảnh daisy trong kết quả đã lưu. Ảnh sạch được dự đoán đúng; sau nhiễu xung mạnh model nhầm dandelion; sau median nhãn trở về daisy. Ta quan sát được việc loại các chấm nhiễu đi cùng dự đoán đúng trong ca này. Một ví dụ không thay thế kết quả tổng hợp 550 ảnh và chưa chứng minh model thực sự dựa vào cấu trúc cánh hoa.</a:t>
            </a:r>
            <a:endParaRPr/>
          </a:p>
          <a:p xmlns:a="http://schemas.openxmlformats.org/drawingml/2006/main">
            <a:r>
              <a:t>Chuyển ý: Ca tiếp theo cho thấy xử lý cũng có thể biến một dự đoán đúng thành sai.</a:t>
            </a:r>
          </a:p>
          <a:p xmlns:a="http://schemas.openxmlformats.org/drawingml/2006/main">
            <a:r>
              <a:t>Nguồn: REPORT_REVISED.docx; results/final/condition_metrics.csv; src/enhancements.py; src/tuning.py.</a:t>
            </a:r>
          </a:p>
          <a:p xmlns:a="http://schemas.openxmlformats.org/drawingml/2006/main">
            <a:r>
              <a:t>Ghi chú nguồn trước chỉnh sửa:</a:t>
            </a:r>
          </a:p>
          <a:p xmlns:a="http://schemas.openxmlformats.org/drawingml/2006/main">
            <a:r>
              <a:t>Ca B có nhãn thật daisy, dùng median cho nhiễu xung mạnh. Nhãn ảnh suy giảm sai nhưng sau xử lý đúng. Đây là một ca quan sát, không chứng minh model dùng cấu trúc cánh. Ảnh gốc CC-BY của Nick Coombe, được biến đổi theo pipeline.</a:t>
            </a:r>
          </a:p>
          <a:p xmlns:a="http://schemas.openxmlformats.org/drawingml/2006/main">
            <a:r>
              <a:t/>
            </a:r>
          </a:p>
          <a:p xmlns:a="http://schemas.openxmlformats.org/drawingml/2006/main">
            <a:r>
              <a:t>Nguồn:</a:t>
            </a:r>
          </a:p>
          <a:p xmlns:a="http://schemas.openxmlformats.org/drawingml/2006/main">
            <a:r>
              <a:t>docs/CASE_SELECTION.json ca B</a:t>
            </a:r>
          </a:p>
          <a:p xmlns:a="http://schemas.openxmlformats.org/drawingml/2006/main">
            <a:r>
              <a:t>results/final/predictions.csv</a:t>
            </a:r>
          </a:p>
          <a:p xmlns:a="http://schemas.openxmlformats.org/drawingml/2006/main">
            <a:r>
              <a:t>Ảnh CC-BY Nick Coombe https://www.flickr.com/photos/thearchive/11642632/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Trương Việt Thành</a:t>
            </a:r>
          </a:p>
          <a:p xmlns:a="http://schemas.openxmlformats.org/drawingml/2006/main">
            <a:r>
              <a:t>Lời nói mẫu: Ảnh có nhãn daisy và bị ám màu nhẹ vẫn được dự đoán đúng. Sau HSV correction, dự đoán đổi thành dandelion. Ca này minh họa lý do cần giữ nhánh ảnh suy giảm chưa xử lý làm đối chứng. Confidence tăng của nhãn sai không có nghĩa chất lượng hoặc độ đúng tốt hơn. Hoa nhỏ và nền xanh là quan sát thị giác; bài chưa có thí nghiệm can thiệp để khẳng định nền gây ra lỗi.</a:t>
            </a:r>
            <a:endParaRPr/>
          </a:p>
          <a:p xmlns:a="http://schemas.openxmlformats.org/drawingml/2006/main">
            <a:r>
              <a:t>Chuyển ý: Các bước xử lý và suy luận này được đưa vào một ứng dụng để thử tương tác.</a:t>
            </a:r>
          </a:p>
          <a:p xmlns:a="http://schemas.openxmlformats.org/drawingml/2006/main">
            <a:r>
              <a:t>Nguồn: REPORT_REVISED.docx; results/final/condition_metrics.csv; src/enhancements.py; src/tuning.py.</a:t>
            </a:r>
          </a:p>
          <a:p xmlns:a="http://schemas.openxmlformats.org/drawingml/2006/main">
            <a:r>
              <a:t>Ghi chú nguồn trước chỉnh sửa:</a:t>
            </a:r>
          </a:p>
          <a:p xmlns:a="http://schemas.openxmlformats.org/drawingml/2006/main">
            <a:r>
              <a:t>Ca D có nhãn thật daisy, ám màu nhẹ và HSV correction. Nhãn suy giảm đúng là daisy; sau xử lý nhầm thành dandelion. Hoa nhỏ và nền xanh, nhưng chưa có thí nghiệm can thiệp để kết luận nền quyết định. Confidence cao hơn của nhãn sai không chứng minh xử lý tốt hơn.</a:t>
            </a:r>
          </a:p>
          <a:p xmlns:a="http://schemas.openxmlformats.org/drawingml/2006/main">
            <a:r>
              <a:t/>
            </a:r>
          </a:p>
          <a:p xmlns:a="http://schemas.openxmlformats.org/drawingml/2006/main">
            <a:r>
              <a:t>Nguồn:</a:t>
            </a:r>
          </a:p>
          <a:p xmlns:a="http://schemas.openxmlformats.org/drawingml/2006/main">
            <a:r>
              <a:t>docs/CASE_SELECTION.json ca D</a:t>
            </a:r>
          </a:p>
          <a:p xmlns:a="http://schemas.openxmlformats.org/drawingml/2006/main">
            <a:r>
              <a:t>results/final/predictions.csv</a:t>
            </a:r>
          </a:p>
          <a:p xmlns:a="http://schemas.openxmlformats.org/drawingml/2006/main">
            <a:r>
              <a:t>Ảnh CC-BY Marilena Marchese https://www.flickr.com/photos/marilenamarchese_photography/11870378973/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Trương Việt Thành</a:t>
            </a:r>
            <a:endParaRPr/>
          </a:p>
          <a:p xmlns:a="http://schemas.openxmlformats.org/drawingml/2006/main">
            <a:r>
              <a:t>Lời nói mẫu: Trong ứng dụng, người dùng tải JPEG hoặc PNG, chọn loại và mức suy giảm rồi chọn phương pháp. Giao diện so ảnh đầu vào, ảnh suy giảm, ảnh sau xử lý cùng nhãn và xác suất. Streamlit gọi trực tiếp cùng pipeline Python và các tham số đã khóa. Dải ảnh trên slide là ví dụ lưu từ thực nghiệm, không phải ảnh chụp một phiên cloud vừa chạy. Khi demo trực tiếp, nhóm sẽ chỉ rõ nhãn và hình thay đổi; ảnh đầu vào của người dùng không mặc nhiên là ảnh sạch có nhãn tham chiếu.</a:t>
            </a:r>
            <a:endParaRPr/>
          </a:p>
          <a:p xmlns:a="http://schemas.openxmlformats.org/drawingml/2006/main">
            <a:r>
              <a:t>Chuyển ý: Từ nguyên lý, kết quả tổng hợp và các ca minh họa, nhóm rút ra các kết luận sau.</a:t>
            </a:r>
          </a:p>
          <a:p xmlns:a="http://schemas.openxmlformats.org/drawingml/2006/main">
            <a:r>
              <a:t>Nguồn: REPORT_REVISED.docx; results/final/condition_metrics.csv; src/enhancements.py; src/tuning.py.</a:t>
            </a:r>
          </a:p>
          <a:p xmlns:a="http://schemas.openxmlformats.org/drawingml/2006/main">
            <a:r>
              <a:t>Ảnh minh họa: daisy/11642632_1e7627a2cc.jpg CC-BY by Nick Coombe - https://www.flickr.com/photos/thearchive/11642632/. Chạy từ source dự án; không phải kết quả trung bình toàn Test.</a:t>
            </a:r>
          </a:p>
          <a:p xmlns:a="http://schemas.openxmlformats.org/drawingml/2006/main">
            <a:r>
              <a:t>Ghi chú nguồn trước chỉnh sửa:</a:t>
            </a:r>
          </a:p>
          <a:p xmlns:a="http://schemas.openxmlformats.org/drawingml/2006/main">
            <a:r>
              <a:t/>
            </a:r>
          </a:p>
          <a:p xmlns:a="http://schemas.openxmlformats.org/drawingml/2006/main">
            <a:r>
              <a:t/>
            </a:r>
          </a:p>
          <a:p xmlns:a="http://schemas.openxmlformats.org/drawingml/2006/main">
            <a:r>
              <a:t>Nguồn:</a:t>
            </a:r>
          </a:p>
          <a:p xmlns:a="http://schemas.openxmlformats.org/drawingml/2006/main">
            <a:r>
              <a:t>streamlit_app.py</a:t>
            </a:r>
          </a:p>
          <a:p xmlns:a="http://schemas.openxmlformats.org/drawingml/2006/main">
            <a:r>
              <a:t>app_components/pipeline.py</a:t>
            </a:r>
          </a:p>
          <a:p xmlns:a="http://schemas.openxmlformats.org/drawingml/2006/main">
            <a:r>
              <a:t>artifacts/deployment_verification.json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Trương Việt Thành</a:t>
            </a:r>
            <a:endParaRPr/>
          </a:p>
          <a:p xmlns:a="http://schemas.openxmlformats.org/drawingml/2006/main">
            <a:r>
              <a:t>Lời nói mẫu: Hiệu quả xử lý phụ thuộc cơ chế suy giảm, mức và tham số. Median cải thiện rõ nhiễu xung mạnh, còn Gaussian và bilateral đổi thứ tự theo mức nhiễu. Làm sắc nét chỉ khôi phục một phần sau mờ; hiệu chỉnh màu có thể gây hại khi giả định trung tính không phù hợp cảnh. Kết quả Gamma cho thấy chất lượng ảnh và nhận diện cần được đo riêng. Các nhận xét đều thuộc dữ liệu và cấu hình đã khảo sát.</a:t>
            </a:r>
            <a:endParaRPr/>
          </a:p>
          <a:p xmlns:a="http://schemas.openxmlformats.org/drawingml/2006/main">
            <a:r>
              <a:t>Chuyển ý: Cuối cùng là những giới hạn cần nhớ và các hướng kiểm tra tiếp theo.</a:t>
            </a:r>
          </a:p>
          <a:p xmlns:a="http://schemas.openxmlformats.org/drawingml/2006/main">
            <a:r>
              <a:t>Nguồn: REPORT_REVISED.docx; results/final/condition_metrics.csv; src/enhancements.py; src/tuning.py.</a:t>
            </a:r>
          </a:p>
          <a:p xmlns:a="http://schemas.openxmlformats.org/drawingml/2006/main">
            <a:r>
              <a:t>Ghi chú nguồn trước chỉnh sửa:</a:t>
            </a:r>
          </a:p>
          <a:p xmlns:a="http://schemas.openxmlformats.org/drawingml/2006/main">
            <a:r>
              <a:t/>
            </a:r>
          </a:p>
          <a:p xmlns:a="http://schemas.openxmlformats.org/drawingml/2006/main">
            <a:r>
              <a:t/>
            </a:r>
          </a:p>
          <a:p xmlns:a="http://schemas.openxmlformats.org/drawingml/2006/main">
            <a:r>
              <a:t>Nguồn:</a:t>
            </a:r>
          </a:p>
          <a:p xmlns:a="http://schemas.openxmlformats.org/drawingml/2006/main">
            <a:r>
              <a:t>results/final/condition_metrics.csv</a:t>
            </a:r>
          </a:p>
          <a:p xmlns:a="http://schemas.openxmlformats.org/drawingml/2006/main">
            <a:r>
              <a:t>docs/REPORT_REVISED.docx chương 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Người trình bày: Trương Việt Thành</a:t>
            </a:r>
            <a:endParaRPr/>
          </a:p>
          <a:p xmlns:a="http://schemas.openxmlformats.org/drawingml/2006/main">
            <a:r>
              <a:t>Lời nói mẫu: Thí nghiệm mới dùng một split, một checkpoint và năm lớp hoa với suy giảm tổng hợp biết trước loại và mức. Metric ảnh dùng stride bốn, dữ liệu có một nhóm trùng chéo nhãn cần xác minh, và tuning ưu tiên F1. Hướng tiếp theo là ảnh suy giảm thực, thêm seed hoặc split, kiểm tra metric và đối chiếu các tiêu chí chọn tham số. Phiên cloud cần kiểm thử và đối chiếu checkpoint riêng. Nhóm em xin kết thúc và sẵn sàng trao đổi.</a:t>
            </a:r>
            <a:endParaRPr/>
          </a:p>
          <a:p xmlns:a="http://schemas.openxmlformats.org/drawingml/2006/main">
            <a:r>
              <a:t>Chuyển ý: Khi trả lời câu hỏi, luôn nêu loại suy giảm, mức, phương pháp, mốc đối chứng và giới hạn của bằng chứng.</a:t>
            </a:r>
          </a:p>
          <a:p xmlns:a="http://schemas.openxmlformats.org/drawingml/2006/main">
            <a:r>
              <a:t>Nguồn: REPORT_REVISED.docx; results/final/condition_metrics.csv; src/enhancements.py; src/tuning.py.</a:t>
            </a:r>
          </a:p>
          <a:p xmlns:a="http://schemas.openxmlformats.org/drawingml/2006/main">
            <a:r>
              <a:t>Ghi chú nguồn trước chỉnh sửa:</a:t>
            </a:r>
          </a:p>
          <a:p xmlns:a="http://schemas.openxmlformats.org/drawingml/2006/main">
            <a:r>
              <a:t/>
            </a:r>
          </a:p>
          <a:p xmlns:a="http://schemas.openxmlformats.org/drawingml/2006/main">
            <a:r>
              <a:t/>
            </a:r>
          </a:p>
          <a:p xmlns:a="http://schemas.openxmlformats.org/drawingml/2006/main">
            <a:r>
              <a:t>Nguồn:</a:t>
            </a:r>
          </a:p>
          <a:p xmlns:a="http://schemas.openxmlformats.org/drawingml/2006/main">
            <a:r>
              <a:t>results/final/manifest.json</a:t>
            </a:r>
          </a:p>
          <a:p xmlns:a="http://schemas.openxmlformats.org/drawingml/2006/main">
            <a:r>
              <a:t>artifacts/data_audit.json</a:t>
            </a:r>
          </a:p>
          <a:p xmlns:a="http://schemas.openxmlformats.org/drawingml/2006/main">
            <a:r>
              <a:t>src/tuning.py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f5f06ddabe84bc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a26104bf11f497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67007f1de44454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069d50a82d0477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a34825fa6974b8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ffed38097f9485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604D39F-C98D-4185-A7BF-D1DED0E534D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a:endParaRPr/>
          </a:p>
        </p:txBody>
      </p:sp>
      <p:sp>
        <p:nvSpPr>
          <p:cNvPr id="2" name="Subtitle">
            <a:extLst xmlns:a="http://schemas.openxmlformats.org/drawingml/2006/main">
              <a:ext uri="{FF2B5EF4-FFF2-40B4-BE49-F238E27FC236}">
                <a16:creationId xmlns:a16="http://schemas.microsoft.com/office/drawing/2014/main" id="{B3AAB6C7-E27D-4B20-84F8-3919B9BAE2C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a:endParaRPr/>
          </a:p>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AA8F99C-0730-4D3C-890F-8B1B845253D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a:endParaRPr/>
          </a:p>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9D07D6D-CFDC-4E91-AD67-C8A28B3C52E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endParaRPr/>
          </a:p>
        </p:txBody>
      </p:sp>
      <p:sp>
        <p:nvSpPr>
          <p:cNvPr id="2" name="Body">
            <a:extLst xmlns:a="http://schemas.openxmlformats.org/drawingml/2006/main">
              <a:ext uri="{FF2B5EF4-FFF2-40B4-BE49-F238E27FC236}">
                <a16:creationId xmlns:a16="http://schemas.microsoft.com/office/drawing/2014/main" id="{75DC6FA0-E633-48A6-BF92-CC8CDAEEB43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a:endParaRPr/>
          </a:p>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7E96EB7-018C-4AEA-A567-105B9D8D5A4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endParaRPr/>
          </a:p>
        </p:txBody>
      </p:sp>
      <p:sp>
        <p:nvSpPr>
          <p:cNvPr id="2" name="Left column">
            <a:extLst xmlns:a="http://schemas.openxmlformats.org/drawingml/2006/main">
              <a:ext uri="{FF2B5EF4-FFF2-40B4-BE49-F238E27FC236}">
                <a16:creationId xmlns:a16="http://schemas.microsoft.com/office/drawing/2014/main" id="{73BB9032-0D08-436D-8637-3D1E1F68590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a:endParaRPr/>
          </a:p>
        </p:txBody>
      </p:sp>
      <p:sp>
        <p:nvSpPr>
          <p:cNvPr id="3" name="Right column">
            <a:extLst xmlns:a="http://schemas.openxmlformats.org/drawingml/2006/main">
              <a:ext uri="{FF2B5EF4-FFF2-40B4-BE49-F238E27FC236}">
                <a16:creationId xmlns:a16="http://schemas.microsoft.com/office/drawing/2014/main" id="{95170792-7DCF-452D-BBA9-D98448CCD62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a:endParaRPr/>
          </a:p>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1BAAFB9-008F-4B6B-A107-C284D57974B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endParaRPr/>
          </a:p>
        </p:txBody>
      </p:sp>
      <p:sp>
        <p:nvSpPr>
          <p:cNvPr id="2" name="Left column">
            <a:extLst xmlns:a="http://schemas.openxmlformats.org/drawingml/2006/main">
              <a:ext uri="{FF2B5EF4-FFF2-40B4-BE49-F238E27FC236}">
                <a16:creationId xmlns:a16="http://schemas.microsoft.com/office/drawing/2014/main" id="{B15A6868-FAAC-4D0A-89E6-3A2F82989BD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a:endParaRPr/>
          </a:p>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03186d9f8ac4559" /><Relationship Type="http://schemas.openxmlformats.org/officeDocument/2006/relationships/slideLayout" Target="/ppt/slideLayouts/slideLayout1.xml" Id="Ra37f652066b24072" /><Relationship Type="http://schemas.openxmlformats.org/officeDocument/2006/relationships/slideLayout" Target="/ppt/slideLayouts/slideLayout2.xml" Id="Re0e53ec7534b4fe0" /><Relationship Type="http://schemas.openxmlformats.org/officeDocument/2006/relationships/slideLayout" Target="/ppt/slideLayouts/slideLayout3.xml" Id="Rf718bd8e9c964627" /><Relationship Type="http://schemas.openxmlformats.org/officeDocument/2006/relationships/slideLayout" Target="/ppt/slideLayouts/slideLayout4.xml" Id="R340dbc712b374844" /><Relationship Type="http://schemas.openxmlformats.org/officeDocument/2006/relationships/slideLayout" Target="/ppt/slideLayouts/slideLayout5.xml" Id="R6c02726b191f4291" /><Relationship Type="http://schemas.openxmlformats.org/officeDocument/2006/relationships/slideLayout" Target="/ppt/slideLayouts/slideLayout6.xml" Id="Rb6ddf78203d2468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37f652066b24072"/>
    <p:sldLayoutId xmlns:r="http://schemas.openxmlformats.org/officeDocument/2006/relationships" id="2147483650" r:id="Re0e53ec7534b4fe0"/>
    <p:sldLayoutId xmlns:r="http://schemas.openxmlformats.org/officeDocument/2006/relationships" id="2147483651" r:id="Rf718bd8e9c964627"/>
    <p:sldLayoutId xmlns:r="http://schemas.openxmlformats.org/officeDocument/2006/relationships" id="2147483652" r:id="R340dbc712b374844"/>
    <p:sldLayoutId xmlns:r="http://schemas.openxmlformats.org/officeDocument/2006/relationships" id="2147483653" r:id="R6c02726b191f4291"/>
    <p:sldLayoutId xmlns:r="http://schemas.openxmlformats.org/officeDocument/2006/relationships" id="2147483654" r:id="Rb6ddf78203d2468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Flower Restoration">
  <a:themeElements>
    <a:clrScheme name="Flower Restoration">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Flower Restoration">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40b05cebe1945d9" /><Relationship Type="http://schemas.openxmlformats.org/officeDocument/2006/relationships/notesSlide" Target="/ppt/notesSlides/notesSlide1.xml" Id="R440ddb3d7a86425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51c1e6314d145ae" /><Relationship Type="http://schemas.openxmlformats.org/officeDocument/2006/relationships/notesSlide" Target="/ppt/notesSlides/notesSlide2.xml" Id="R8034b04b9c134ce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1b1844c715f432a" /><Relationship Type="http://schemas.openxmlformats.org/officeDocument/2006/relationships/notesSlide" Target="/ppt/notesSlides/notesSlide3.xml" Id="R9743765e9bf844a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191ac6898424c25" /><Relationship Type="http://schemas.openxmlformats.org/officeDocument/2006/relationships/notesSlide" Target="/ppt/notesSlides/notesSlide4.xml" Id="Re25d0a6b053548e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c793037f05141ef" /><Relationship Type="http://schemas.openxmlformats.org/officeDocument/2006/relationships/notesSlide" Target="/ppt/notesSlides/notesSlide5.xml" Id="Ra61a7302e1d24e7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dc3a95a2eb64eca" /><Relationship Type="http://schemas.openxmlformats.org/officeDocument/2006/relationships/notesSlide" Target="/ppt/notesSlides/notesSlide6.xml" Id="Rc5bf7d18d97543a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b98e90ea63b47f5" /><Relationship Type="http://schemas.openxmlformats.org/officeDocument/2006/relationships/notesSlide" Target="/ppt/notesSlides/notesSlide7.xml" Id="R8cb6ce21f8274fc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556991532bc4770" /><Relationship Type="http://schemas.openxmlformats.org/officeDocument/2006/relationships/image" Target="/ppt/media/image.png" Id="Rfbaecbd5b3e547e8" /><Relationship Type="http://schemas.openxmlformats.org/officeDocument/2006/relationships/image" Target="/ppt/media/image2.png" Id="R92d77077f1374f00" /><Relationship Type="http://schemas.openxmlformats.org/officeDocument/2006/relationships/image" Target="/ppt/media/image3.png" Id="Rb11e7cd9cb854b98" /><Relationship Type="http://schemas.openxmlformats.org/officeDocument/2006/relationships/image" Target="/ppt/media/image4.png" Id="Rb758fc4ee1154fb3" /><Relationship Type="http://schemas.openxmlformats.org/officeDocument/2006/relationships/notesSlide" Target="/ppt/notesSlides/notesSlide8.xml" Id="R587b1f2b616c48f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a7fd111256f48b8" /><Relationship Type="http://schemas.openxmlformats.org/officeDocument/2006/relationships/image" Target="/ppt/media/image5.png" Id="Raddf6ea17b0d4f4a" /><Relationship Type="http://schemas.openxmlformats.org/officeDocument/2006/relationships/image" Target="/ppt/media/image6.png" Id="R8c27c7ade2124af5" /><Relationship Type="http://schemas.openxmlformats.org/officeDocument/2006/relationships/image" Target="/ppt/media/image7.png" Id="Rfacd99da47b340e9" /><Relationship Type="http://schemas.openxmlformats.org/officeDocument/2006/relationships/notesSlide" Target="/ppt/notesSlides/notesSlide9.xml" Id="R787bd677d8eb4e9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f5d57f03bd74c8d" /><Relationship Type="http://schemas.openxmlformats.org/officeDocument/2006/relationships/image" Target="/ppt/media/image8.png" Id="Rae2a8da53f4a4fb2" /><Relationship Type="http://schemas.openxmlformats.org/officeDocument/2006/relationships/image" Target="/ppt/media/image9.png" Id="Rdb139d2ca3c846a9" /><Relationship Type="http://schemas.openxmlformats.org/officeDocument/2006/relationships/image" Target="/ppt/media/image10.png" Id="Rc00fb14af1f649bf" /><Relationship Type="http://schemas.openxmlformats.org/officeDocument/2006/relationships/notesSlide" Target="/ppt/notesSlides/notesSlide10.xml" Id="R27316c70a9454e6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42df32d19344fd6" /><Relationship Type="http://schemas.openxmlformats.org/officeDocument/2006/relationships/image" Target="/ppt/media/image11.png" Id="Rea0cbe34befc4235" /><Relationship Type="http://schemas.openxmlformats.org/officeDocument/2006/relationships/image" Target="/ppt/media/image12.png" Id="Re7e2a08216b14cc0" /><Relationship Type="http://schemas.openxmlformats.org/officeDocument/2006/relationships/image" Target="/ppt/media/image13.png" Id="R9f1702b04e934ecd" /><Relationship Type="http://schemas.openxmlformats.org/officeDocument/2006/relationships/notesSlide" Target="/ppt/notesSlides/notesSlide11.xml" Id="R67aede688e8243f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b820a68f8d94f75" /><Relationship Type="http://schemas.openxmlformats.org/officeDocument/2006/relationships/image" Target="/ppt/media/image14.png" Id="R7d84c29426634cd8" /><Relationship Type="http://schemas.openxmlformats.org/officeDocument/2006/relationships/image" Target="/ppt/media/image15.png" Id="R6d912b119a8c4252" /><Relationship Type="http://schemas.openxmlformats.org/officeDocument/2006/relationships/image" Target="/ppt/media/image16.png" Id="R14ac14ef134e426a" /><Relationship Type="http://schemas.openxmlformats.org/officeDocument/2006/relationships/notesSlide" Target="/ppt/notesSlides/notesSlide12.xml" Id="R863faec0c5be47d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d4d668b6db24f50" /><Relationship Type="http://schemas.openxmlformats.org/officeDocument/2006/relationships/notesSlide" Target="/ppt/notesSlides/notesSlide13.xml" Id="Rc57a8aca66484ed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49c411dbf834810" /><Relationship Type="http://schemas.openxmlformats.org/officeDocument/2006/relationships/notesSlide" Target="/ppt/notesSlides/notesSlide14.xml" Id="R7cc6c7e7b404478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9729ea2ee364d6b" /><Relationship Type="http://schemas.openxmlformats.org/officeDocument/2006/relationships/notesSlide" Target="/ppt/notesSlides/notesSlide15.xml" Id="R2114dced96454b0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5da8fea43ab4c98" /><Relationship Type="http://schemas.openxmlformats.org/officeDocument/2006/relationships/image" Target="/ppt/media/image17.png" Id="R882d52e1f31f46f5" /><Relationship Type="http://schemas.openxmlformats.org/officeDocument/2006/relationships/notesSlide" Target="/ppt/notesSlides/notesSlide16.xml" Id="R5e7ebcf955c5429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66ee88b75504330" /><Relationship Type="http://schemas.openxmlformats.org/officeDocument/2006/relationships/image" Target="/ppt/media/image18.png" Id="R13bc5cfc24ce495f" /><Relationship Type="http://schemas.openxmlformats.org/officeDocument/2006/relationships/notesSlide" Target="/ppt/notesSlides/notesSlide17.xml" Id="R9d48aa9d668c4e9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48312dd3a514c75" /><Relationship Type="http://schemas.openxmlformats.org/officeDocument/2006/relationships/image" Target="/ppt/media/image19.png" Id="R7b7857720cc5406f" /><Relationship Type="http://schemas.openxmlformats.org/officeDocument/2006/relationships/notesSlide" Target="/ppt/notesSlides/notesSlide18.xml" Id="R7b72e5f2589f457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c3ca8621fcc4749" /><Relationship Type="http://schemas.openxmlformats.org/officeDocument/2006/relationships/image" Target="/ppt/media/image20.png" Id="R183714a4184f4362" /><Relationship Type="http://schemas.openxmlformats.org/officeDocument/2006/relationships/notesSlide" Target="/ppt/notesSlides/notesSlide19.xml" Id="R8e84f2c22c59463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08bde0d4f3d44fe5" /><Relationship Type="http://schemas.openxmlformats.org/officeDocument/2006/relationships/image" Target="/ppt/media/image21.png" Id="Rfb5fe989391348fa" /><Relationship Type="http://schemas.openxmlformats.org/officeDocument/2006/relationships/notesSlide" Target="/ppt/notesSlides/notesSlide20.xml" Id="Rd981e69170844bb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fa2e733ab8cc4d3b" /><Relationship Type="http://schemas.openxmlformats.org/officeDocument/2006/relationships/chart" Target="/ppt/slides/charts/chart1.xml" Id="R9950423a7f5f4585" /><Relationship Type="http://schemas.openxmlformats.org/officeDocument/2006/relationships/notesSlide" Target="/ppt/notesSlides/notesSlide21.xml" Id="Ra5dafd55efee4ea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e2be1141c91f4677" /><Relationship Type="http://schemas.openxmlformats.org/officeDocument/2006/relationships/image" Target="/ppt/media/image22.png" Id="R42e5d28226294547" /><Relationship Type="http://schemas.openxmlformats.org/officeDocument/2006/relationships/notesSlide" Target="/ppt/notesSlides/notesSlide22.xml" Id="R476dc5780909425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b37ace3d4ce4e3b" /><Relationship Type="http://schemas.openxmlformats.org/officeDocument/2006/relationships/image" Target="/ppt/media/image23.png" Id="Re01766a0d98c4bd4" /><Relationship Type="http://schemas.openxmlformats.org/officeDocument/2006/relationships/notesSlide" Target="/ppt/notesSlides/notesSlide23.xml" Id="R2c8f3870ca9f46b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eae830bdc8224d19" /><Relationship Type="http://schemas.openxmlformats.org/officeDocument/2006/relationships/image" Target="/ppt/media/image24.png" Id="Raf379c5b7b004d80" /><Relationship Type="http://schemas.openxmlformats.org/officeDocument/2006/relationships/notesSlide" Target="/ppt/notesSlides/notesSlide24.xml" Id="R2542e361df394de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1b6223fe2ae9496f" /><Relationship Type="http://schemas.openxmlformats.org/officeDocument/2006/relationships/image" Target="/ppt/media/image25.png" Id="R5d71866a081146a7" /><Relationship Type="http://schemas.openxmlformats.org/officeDocument/2006/relationships/image" Target="/ppt/media/image26.png" Id="Rbdc0e5c8b5f14c4d" /><Relationship Type="http://schemas.openxmlformats.org/officeDocument/2006/relationships/image" Target="/ppt/media/image27.png" Id="Rfee17d1d91b94805" /><Relationship Type="http://schemas.openxmlformats.org/officeDocument/2006/relationships/notesSlide" Target="/ppt/notesSlides/notesSlide25.xml" Id="R773f32c90ca6480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b51986b711549e5" /><Relationship Type="http://schemas.openxmlformats.org/officeDocument/2006/relationships/notesSlide" Target="/ppt/notesSlides/notesSlide26.xml" Id="Rdfed4f4268a5484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50b2398867844bf" /><Relationship Type="http://schemas.openxmlformats.org/officeDocument/2006/relationships/notesSlide" Target="/ppt/notesSlides/notesSlide27.xml" Id="Rf4535a0f49ea4ec0" /></Relationships>
</file>

<file path=ppt/slides/charts/_rels/chart1.xml.rels><?xml version='1.0' encoding='utf-8'?>
<Relationships xmlns="http://schemas.openxmlformats.org/package/2006/relationships"><Relationship Id="rId1" Type="http://schemas.openxmlformats.org/officeDocument/2006/relationships/package" Target="/ppt/embeddings/Microsoft_Excel_Worksheet.xlsx" /></Relationships>
</file>

<file path=ppt/slides/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vi-VN"/>
  <c:roundedCorners val="1"/>
  <c:style val="2"/>
  <c:chart>
    <c:title>
      <c:tx>
        <c:rich>
          <a:bodyPr/>
          <a:lstStyle/>
          <a:p>
            <a:r>
              <a:rPr lang="vi-VN" sz="1800"/>
              <a:t>Macro F1 trên cùng 550 ảnh Test</a:t>
            </a:r>
          </a:p>
        </c:rich>
      </c:tx>
      <c:overlay val="0"/>
    </c:title>
    <c:autoTitleDeleted val="0"/>
    <c:plotArea>
      <c:layout/>
      <c:barChart>
        <c:barDir val="col"/>
        <c:grouping val="clustered"/>
        <c:varyColors val="0"/>
        <c:ser>
          <c:idx val="0"/>
          <c:order val="0"/>
          <c:tx>
            <c:v>Suy giảm</c:v>
          </c:tx>
          <c:spPr>
            <a:solidFill>
              <a:srgbClr val="9BAEBB"/>
            </a:solidFill>
          </c:spPr>
          <c:invertIfNegative val="0"/>
          <c:dLbls>
            <c:numFmt formatCode="0.00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Xung mạnh + median</c:v>
                </c:pt>
                <c:pt idx="1">
                  <c:v>Gaussian mạnh + Gaussian</c:v>
                </c:pt>
                <c:pt idx="2">
                  <c:v>Tối nhẹ + Gamma</c:v>
                </c:pt>
              </c:strCache>
            </c:strRef>
          </c:cat>
          <c:val>
            <c:numRef>
              <c:f>'Chart Data'!$B$2:$B$4</c:f>
              <c:numCache>
                <c:formatCode>0.0</c:formatCode>
                <c:ptCount val="3"/>
                <c:pt idx="0">
                  <c:v>0.686271</c:v>
                </c:pt>
                <c:pt idx="1">
                  <c:v>0.578707</c:v>
                </c:pt>
                <c:pt idx="2">
                  <c:v>0.912682</c:v>
                </c:pt>
              </c:numCache>
            </c:numRef>
          </c:val>
          <c:extLst>
            <c:ext xmlns:c16="http://schemas.microsoft.com/office/drawing/2014/chart" uri="{C3380CC4-5D6E-409C-BE32-E72D297353CC}">
              <c16:uniqueId val="{00000000-536A-400E-8E43-C000FD840A98}"/>
            </c:ext>
          </c:extLst>
        </c:ser>
        <c:ser>
          <c:idx val="1"/>
          <c:order val="1"/>
          <c:tx>
            <c:v>Sau xử lý</c:v>
          </c:tx>
          <c:spPr>
            <a:solidFill>
              <a:srgbClr val="146C64"/>
            </a:solidFill>
          </c:spPr>
          <c:invertIfNegative val="0"/>
          <c:dLbls>
            <c:numFmt formatCode="0.00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Data'!$C$2:$C$4</c:f>
              <c:strCache>
                <c:ptCount val="3"/>
                <c:pt idx="0">
                  <c:v>Xung mạnh + median</c:v>
                </c:pt>
                <c:pt idx="1">
                  <c:v>Gaussian mạnh + Gaussian</c:v>
                </c:pt>
                <c:pt idx="2">
                  <c:v>Tối nhẹ + Gamma</c:v>
                </c:pt>
              </c:strCache>
            </c:strRef>
          </c:cat>
          <c:val>
            <c:numRef>
              <c:f>'Chart Data'!$D$2:$D$4</c:f>
              <c:numCache>
                <c:formatCode>0.0</c:formatCode>
                <c:ptCount val="3"/>
                <c:pt idx="0">
                  <c:v>0.886924</c:v>
                </c:pt>
                <c:pt idx="1">
                  <c:v>0.695906</c:v>
                </c:pt>
                <c:pt idx="2">
                  <c:v>0.900166</c:v>
                </c:pt>
              </c:numCache>
            </c:numRef>
          </c:val>
          <c:extLst>
            <c:ext xmlns:c16="http://schemas.microsoft.com/office/drawing/2014/chart" uri="{C3380CC4-5D6E-409C-BE32-E72D297353CC}">
              <c16:uniqueId val="{00000001-536A-400E-8E43-C000FD840A98}"/>
            </c:ext>
          </c:extLst>
        </c:ser>
        <c:dLbls>
          <c:dLblPos val="outEnd"/>
          <c:showLegendKey val="0"/>
          <c:showVal val="1"/>
          <c:showCatName val="0"/>
          <c:showSerName val="0"/>
          <c:showPercent val="0"/>
          <c:showBubbleSize val="0"/>
        </c:dLbls>
        <c:gapWidth val="15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500">
                <a:solidFill>
                  <a:srgbClr val="666666"/>
                </a:solidFill>
              </a:defRPr>
            </a:pPr>
            <a:endParaRPr lang="vi-VN"/>
          </a:p>
        </c:txPr>
        <c:crossAx val="48672768"/>
        <c:crosses val="autoZero"/>
        <c:auto val="1"/>
        <c:lblAlgn val="ctr"/>
        <c:lblOffset val="100"/>
        <c:noMultiLvlLbl val="1"/>
      </c:catAx>
      <c:valAx>
        <c:axId val="48672768"/>
        <c:scaling>
          <c:orientation val="minMax"/>
        </c:scaling>
        <c:delete val="0"/>
        <c:axPos val="l"/>
        <c:numFmt formatCode="0.0" sourceLinked="1"/>
        <c:majorTickMark val="none"/>
        <c:minorTickMark val="none"/>
        <c:tickLblPos val="nextTo"/>
        <c:spPr>
          <a:ln w="9525">
            <a:solidFill>
              <a:srgbClr val="D4D4D4"/>
            </a:solidFill>
            <a:prstDash val="solid"/>
          </a:ln>
        </c:spPr>
        <c:txPr>
          <a:bodyPr anchorCtr="1"/>
          <a:lstStyle/>
          <a:p>
            <a:pPr>
              <a:defRPr sz="1425">
                <a:solidFill>
                  <a:srgbClr val="666666"/>
                </a:solidFill>
              </a:defRPr>
            </a:pPr>
            <a:endParaRPr lang="vi-VN"/>
          </a:p>
        </c:txPr>
        <c:crossAx val="48650112"/>
        <c:crosses val="autoZero"/>
        <c:crossBetween val="between"/>
      </c:valAx>
    </c:plotArea>
    <c:legend>
      <c:legendPos val="b"/>
      <c:overlay val="0"/>
    </c:legend>
    <c:plotVisOnly val="1"/>
    <c:dispBlanksAs val="zero"/>
    <c:showDLblsOverMax val="1"/>
  </c:chart>
  <c:externalData r:id="rId1">
    <c:autoUpdate val="0"/>
  </c:externalData>
</c:chartSpace>
</file>

<file path=ppt/slides/slide1.xml><?xml version="1.0" encoding="utf-8"?>
<p:sld xmlns:p="http://schemas.openxmlformats.org/presentationml/2006/main">
  <p:cSld>
    <p:bg>
      <p:bgPr>
        <a:solidFill xmlns:a="http://schemas.openxmlformats.org/drawingml/2006/main">
          <a:srgbClr val="142C40"/>
        </a:solidFill>
      </p:bgPr>
    </p:bg>
    <p:spTree>
      <p:nvGrpSpPr>
        <p:cNvPr id="1" name=""/>
        <p:cNvGrpSpPr/>
        <p:nvPr/>
      </p:nvGrpSpPr>
      <p:grpSpPr>
        <a:xfrm xmlns:a="http://schemas.openxmlformats.org/drawingml/2006/main"/>
      </p:grpSpPr>
      <p:sp>
        <p:nvSpPr>
          <p:cNvPr id="5" name="Hình chữ nhật 4">
            <a:extLst xmlns:a="http://schemas.openxmlformats.org/drawingml/2006/main">
              <a:ext uri="{FF2B5EF4-FFF2-40B4-BE49-F238E27FC236}">
                <a16:creationId xmlns:a16="http://schemas.microsoft.com/office/drawing/2014/main" id="{04532CFD-3AFB-499A-8190-2DB8BF5251BD}"/>
              </a:ext>
            </a:extLst>
          </p:cNvPr>
          <p:cNvSpPr>
            <a:spLocks xmlns:a="http://schemas.openxmlformats.org/drawingml/2006/main" noGrp="1"/>
          </p:cNvSpPr>
          <p:nvPr/>
        </p:nvSpPr>
        <p:spPr>
          <a:xfrm xmlns:a="http://schemas.openxmlformats.org/drawingml/2006/main">
            <a:off x="619125" y="619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C3DADD"/>
                </a:solidFill>
              </a:defRPr>
            </a:defPPr>
            <a:lvl1pPr>
              <a:defRPr sz="1725" b="0">
                <a:solidFill>
                  <a:srgbClr val="C3DADD"/>
                </a:solidFill>
              </a:defRPr>
            </a:lvl1pPr>
            <a:lvl2pPr>
              <a:defRPr sz="1725" b="0">
                <a:solidFill>
                  <a:srgbClr val="C3DADD"/>
                </a:solidFill>
              </a:defRPr>
            </a:lvl2pPr>
            <a:lvl3pPr>
              <a:defRPr sz="1725" b="0">
                <a:solidFill>
                  <a:srgbClr val="C3DADD"/>
                </a:solidFill>
              </a:defRPr>
            </a:lvl3pPr>
            <a:lvl4pPr>
              <a:defRPr sz="1725" b="0">
                <a:solidFill>
                  <a:srgbClr val="C3DADD"/>
                </a:solidFill>
              </a:defRPr>
            </a:lvl4pPr>
            <a:lvl5pPr>
              <a:defRPr sz="1725" b="0">
                <a:solidFill>
                  <a:srgbClr val="C3DADD"/>
                </a:solidFill>
              </a:defRPr>
            </a:lvl5pPr>
            <a:lvl6pPr>
              <a:defRPr sz="1725" b="0">
                <a:solidFill>
                  <a:srgbClr val="C3DADD"/>
                </a:solidFill>
              </a:defRPr>
            </a:lvl6pPr>
            <a:lvl7pPr>
              <a:defRPr sz="1725" b="0">
                <a:solidFill>
                  <a:srgbClr val="C3DADD"/>
                </a:solidFill>
              </a:defRPr>
            </a:lvl7pPr>
            <a:lvl8pPr>
              <a:defRPr sz="1725" b="0">
                <a:solidFill>
                  <a:srgbClr val="C3DADD"/>
                </a:solidFill>
              </a:defRPr>
            </a:lvl8pPr>
            <a:lvl9pPr>
              <a:defRPr sz="1725" b="0">
                <a:solidFill>
                  <a:srgbClr val="C3DADD"/>
                </a:solidFill>
              </a:defRPr>
            </a:lvl9pPr>
          </a:lstStyle>
          <a:p xmlns:a="http://schemas.openxmlformats.org/drawingml/2006/main">
            <a:pPr>
              <a:buNone/>
              <a:defRPr sz="1725" b="0">
                <a:solidFill>
                  <a:srgbClr val="C3DADD"/>
                </a:solidFill>
              </a:defRPr>
            </a:pPr>
            <a:r>
              <a:rPr sz="1725" b="0">
                <a:solidFill>
                  <a:srgbClr val="C3DADD"/>
                </a:solidFill>
              </a:rPr>
              <a:t>BÁO CÁO BÀI TẬP LỚN MÔN XỬ LÝ ẢNH</a:t>
            </a:r>
          </a:p>
        </p:txBody>
      </p:sp>
      <p:sp>
        <p:nvSpPr>
          <p:cNvPr id="2" name="Hình chữ nhật 1">
            <a:extLst xmlns:a="http://schemas.openxmlformats.org/drawingml/2006/main">
              <a:ext uri="{FF2B5EF4-FFF2-40B4-BE49-F238E27FC236}">
                <a16:creationId xmlns:a16="http://schemas.microsoft.com/office/drawing/2014/main" id="{BCCFD27D-1E49-452C-9704-06EA69904A72}"/>
              </a:ext>
            </a:extLst>
          </p:cNvPr>
          <p:cNvSpPr>
            <a:spLocks xmlns:a="http://schemas.openxmlformats.org/drawingml/2006/main" noGrp="1"/>
          </p:cNvSpPr>
          <p:nvPr/>
        </p:nvSpPr>
        <p:spPr>
          <a:xfrm xmlns:a="http://schemas.openxmlformats.org/drawingml/2006/main">
            <a:off x="619125" y="1714500"/>
            <a:ext cx="10668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FFFFF"/>
                </a:solidFill>
              </a:defRPr>
            </a:defPPr>
            <a:lvl1pPr>
              <a:defRPr sz="3900" b="1">
                <a:solidFill>
                  <a:srgbClr val="FFFFFF"/>
                </a:solidFill>
              </a:defRPr>
            </a:lvl1pPr>
            <a:lvl2pPr>
              <a:defRPr sz="3900" b="1">
                <a:solidFill>
                  <a:srgbClr val="FFFFFF"/>
                </a:solidFill>
              </a:defRPr>
            </a:lvl2pPr>
            <a:lvl3pPr>
              <a:defRPr sz="3900" b="1">
                <a:solidFill>
                  <a:srgbClr val="FFFFFF"/>
                </a:solidFill>
              </a:defRPr>
            </a:lvl3pPr>
            <a:lvl4pPr>
              <a:defRPr sz="3900" b="1">
                <a:solidFill>
                  <a:srgbClr val="FFFFFF"/>
                </a:solidFill>
              </a:defRPr>
            </a:lvl4pPr>
            <a:lvl5pPr>
              <a:defRPr sz="3900" b="1">
                <a:solidFill>
                  <a:srgbClr val="FFFFFF"/>
                </a:solidFill>
              </a:defRPr>
            </a:lvl5pPr>
            <a:lvl6pPr>
              <a:defRPr sz="3900" b="1">
                <a:solidFill>
                  <a:srgbClr val="FFFFFF"/>
                </a:solidFill>
              </a:defRPr>
            </a:lvl6pPr>
            <a:lvl7pPr>
              <a:defRPr sz="3900" b="1">
                <a:solidFill>
                  <a:srgbClr val="FFFFFF"/>
                </a:solidFill>
              </a:defRPr>
            </a:lvl7pPr>
            <a:lvl8pPr>
              <a:defRPr sz="3900" b="1">
                <a:solidFill>
                  <a:srgbClr val="FFFFFF"/>
                </a:solidFill>
              </a:defRPr>
            </a:lvl8pPr>
            <a:lvl9pPr>
              <a:defRPr sz="3900" b="1">
                <a:solidFill>
                  <a:srgbClr val="FFFFFF"/>
                </a:solidFill>
              </a:defRPr>
            </a:lvl9pPr>
          </a:lstStyle>
          <a:p xmlns:a="http://schemas.openxmlformats.org/drawingml/2006/main">
            <a:pPr>
              <a:buNone/>
              <a:defRPr sz="3900" b="1">
                <a:solidFill>
                  <a:srgbClr val="FFFFFF"/>
                </a:solidFill>
              </a:defRPr>
            </a:pPr>
            <a:r>
              <a:rPr sz="3900" b="1">
                <a:solidFill>
                  <a:srgbClr val="FFFFFF"/>
                </a:solidFill>
              </a:rPr>
              <a:t>Tăng cường và phục hồi</a:t>
            </a:r>
          </a:p>
          <a:p xmlns:a="http://schemas.openxmlformats.org/drawingml/2006/main">
            <a:pPr>
              <a:buNone/>
              <a:defRPr sz="3900" b="1">
                <a:solidFill>
                  <a:srgbClr val="FFFFFF"/>
                </a:solidFill>
              </a:defRPr>
            </a:pPr>
            <a:r>
              <a:rPr sz="3900" b="1">
                <a:solidFill>
                  <a:srgbClr val="FFFFFF"/>
                </a:solidFill>
              </a:rPr>
              <a:t>ảnh hoa trong điều kiện suy giảm</a:t>
            </a:r>
          </a:p>
        </p:txBody>
      </p:sp>
      <p:sp>
        <p:nvSpPr>
          <p:cNvPr id="3" name="Hình chữ nhật 2">
            <a:extLst xmlns:a="http://schemas.openxmlformats.org/drawingml/2006/main">
              <a:ext uri="{FF2B5EF4-FFF2-40B4-BE49-F238E27FC236}">
                <a16:creationId xmlns:a16="http://schemas.microsoft.com/office/drawing/2014/main" id="{19BF3915-3C3A-42EA-AD35-5EE612601442}"/>
              </a:ext>
            </a:extLst>
          </p:cNvPr>
          <p:cNvSpPr>
            <a:spLocks xmlns:a="http://schemas.openxmlformats.org/drawingml/2006/main" noGrp="1"/>
          </p:cNvSpPr>
          <p:nvPr/>
        </p:nvSpPr>
        <p:spPr>
          <a:xfrm xmlns:a="http://schemas.openxmlformats.org/drawingml/2006/main">
            <a:off x="647700" y="39528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D9E8ED"/>
                </a:solidFill>
              </a:defRPr>
            </a:defPPr>
            <a:lvl1pPr>
              <a:defRPr sz="2250" b="0">
                <a:solidFill>
                  <a:srgbClr val="D9E8ED"/>
                </a:solidFill>
              </a:defRPr>
            </a:lvl1pPr>
            <a:lvl2pPr>
              <a:defRPr sz="2250" b="0">
                <a:solidFill>
                  <a:srgbClr val="D9E8ED"/>
                </a:solidFill>
              </a:defRPr>
            </a:lvl2pPr>
            <a:lvl3pPr>
              <a:defRPr sz="2250" b="0">
                <a:solidFill>
                  <a:srgbClr val="D9E8ED"/>
                </a:solidFill>
              </a:defRPr>
            </a:lvl3pPr>
            <a:lvl4pPr>
              <a:defRPr sz="2250" b="0">
                <a:solidFill>
                  <a:srgbClr val="D9E8ED"/>
                </a:solidFill>
              </a:defRPr>
            </a:lvl4pPr>
            <a:lvl5pPr>
              <a:defRPr sz="2250" b="0">
                <a:solidFill>
                  <a:srgbClr val="D9E8ED"/>
                </a:solidFill>
              </a:defRPr>
            </a:lvl5pPr>
            <a:lvl6pPr>
              <a:defRPr sz="2250" b="0">
                <a:solidFill>
                  <a:srgbClr val="D9E8ED"/>
                </a:solidFill>
              </a:defRPr>
            </a:lvl6pPr>
            <a:lvl7pPr>
              <a:defRPr sz="2250" b="0">
                <a:solidFill>
                  <a:srgbClr val="D9E8ED"/>
                </a:solidFill>
              </a:defRPr>
            </a:lvl7pPr>
            <a:lvl8pPr>
              <a:defRPr sz="2250" b="0">
                <a:solidFill>
                  <a:srgbClr val="D9E8ED"/>
                </a:solidFill>
              </a:defRPr>
            </a:lvl8pPr>
            <a:lvl9pPr>
              <a:defRPr sz="2250" b="0">
                <a:solidFill>
                  <a:srgbClr val="D9E8ED"/>
                </a:solidFill>
              </a:defRPr>
            </a:lvl9pPr>
          </a:lstStyle>
          <a:p xmlns:a="http://schemas.openxmlformats.org/drawingml/2006/main">
            <a:pPr>
              <a:buNone/>
              <a:defRPr sz="2250" b="0">
                <a:solidFill>
                  <a:srgbClr val="D9E8ED"/>
                </a:solidFill>
              </a:defRPr>
            </a:pPr>
            <a:r>
              <a:rPr sz="2250" b="0">
                <a:solidFill>
                  <a:srgbClr val="D9E8ED"/>
                </a:solidFill>
              </a:rPr>
              <a:t>Đánh giá chất lượng ảnh và tác động đến nhận diện</a:t>
            </a:r>
          </a:p>
          <a:p xmlns:a="http://schemas.openxmlformats.org/drawingml/2006/main">
            <a:pPr>
              <a:buNone/>
              <a:defRPr sz="2250" b="0">
                <a:solidFill>
                  <a:srgbClr val="D9E8ED"/>
                </a:solidFill>
              </a:defRPr>
            </a:pPr>
            <a:r>
              <a:rPr sz="2250" b="0">
                <a:solidFill>
                  <a:srgbClr val="D9E8ED"/>
                </a:solidFill>
              </a:rPr>
              <a:t>bằng MobileNetV2 cố định</a:t>
            </a:r>
          </a:p>
        </p:txBody>
      </p:sp>
      <p:sp>
        <p:nvSpPr>
          <p:cNvPr id="4" name="Hình chữ nhật 3">
            <a:extLst xmlns:a="http://schemas.openxmlformats.org/drawingml/2006/main">
              <a:ext uri="{FF2B5EF4-FFF2-40B4-BE49-F238E27FC236}">
                <a16:creationId xmlns:a16="http://schemas.microsoft.com/office/drawing/2014/main" id="{EE3B345C-46CB-412A-BC62-2613838AE946}"/>
              </a:ext>
            </a:extLst>
          </p:cNvPr>
          <p:cNvSpPr>
            <a:spLocks xmlns:a="http://schemas.openxmlformats.org/drawingml/2006/main" noGrp="1"/>
          </p:cNvSpPr>
          <p:nvPr/>
        </p:nvSpPr>
        <p:spPr>
          <a:xfrm xmlns:a="http://schemas.openxmlformats.org/drawingml/2006/main">
            <a:off x="647700" y="557212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9E8ED"/>
                </a:solidFill>
              </a:defRPr>
            </a:defPPr>
            <a:lvl1pPr>
              <a:defRPr sz="1875" b="0">
                <a:solidFill>
                  <a:srgbClr val="D9E8ED"/>
                </a:solidFill>
              </a:defRPr>
            </a:lvl1pPr>
            <a:lvl2pPr>
              <a:defRPr sz="1875" b="0">
                <a:solidFill>
                  <a:srgbClr val="D9E8ED"/>
                </a:solidFill>
              </a:defRPr>
            </a:lvl2pPr>
            <a:lvl3pPr>
              <a:defRPr sz="1875" b="0">
                <a:solidFill>
                  <a:srgbClr val="D9E8ED"/>
                </a:solidFill>
              </a:defRPr>
            </a:lvl3pPr>
            <a:lvl4pPr>
              <a:defRPr sz="1875" b="0">
                <a:solidFill>
                  <a:srgbClr val="D9E8ED"/>
                </a:solidFill>
              </a:defRPr>
            </a:lvl4pPr>
            <a:lvl5pPr>
              <a:defRPr sz="1875" b="0">
                <a:solidFill>
                  <a:srgbClr val="D9E8ED"/>
                </a:solidFill>
              </a:defRPr>
            </a:lvl5pPr>
            <a:lvl6pPr>
              <a:defRPr sz="1875" b="0">
                <a:solidFill>
                  <a:srgbClr val="D9E8ED"/>
                </a:solidFill>
              </a:defRPr>
            </a:lvl6pPr>
            <a:lvl7pPr>
              <a:defRPr sz="1875" b="0">
                <a:solidFill>
                  <a:srgbClr val="D9E8ED"/>
                </a:solidFill>
              </a:defRPr>
            </a:lvl7pPr>
            <a:lvl8pPr>
              <a:defRPr sz="1875" b="0">
                <a:solidFill>
                  <a:srgbClr val="D9E8ED"/>
                </a:solidFill>
              </a:defRPr>
            </a:lvl8pPr>
            <a:lvl9pPr>
              <a:defRPr sz="1875" b="0">
                <a:solidFill>
                  <a:srgbClr val="D9E8ED"/>
                </a:solidFill>
              </a:defRPr>
            </a:lvl9pPr>
          </a:lstStyle>
          <a:p xmlns:a="http://schemas.openxmlformats.org/drawingml/2006/main">
            <a:pPr>
              <a:buNone/>
              <a:defRPr sz="1875" b="0">
                <a:solidFill>
                  <a:srgbClr val="D9E8ED"/>
                </a:solidFill>
              </a:defRPr>
            </a:pPr>
            <a:r>
              <a:rPr sz="1875" b="0">
                <a:solidFill>
                  <a:srgbClr val="D9E8ED"/>
                </a:solidFill>
              </a:rPr>
              <a:t>5 dạng suy giảm  ·  49 điều kiện  ·  550 ảnh Test</a:t>
            </a:r>
          </a:p>
        </p:txBody>
      </p:sp>
      <p:sp>
        <p:nvSpPr>
          <p:cNvPr id="6" name="Thông tin nhóm 05">
            <a:extLst xmlns:a="http://schemas.openxmlformats.org/drawingml/2006/main">
              <a:ext uri="{FF2B5EF4-FFF2-40B4-BE49-F238E27FC236}">
                <a16:creationId xmlns:a16="http://schemas.microsoft.com/office/drawing/2014/main" id="{A56E9494-C6E6-40BA-BA34-A139343AEF21}"/>
              </a:ext>
            </a:extLst>
          </p:cNvPr>
          <p:cNvSpPr>
            <a:spLocks xmlns:a="http://schemas.openxmlformats.org/drawingml/2006/main" noGrp="1"/>
          </p:cNvSpPr>
          <p:nvPr/>
        </p:nvSpPr>
        <p:spPr>
          <a:xfrm xmlns:a="http://schemas.openxmlformats.org/drawingml/2006/main">
            <a:off x="647700" y="6076950"/>
            <a:ext cx="10477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a:solidFill>
                  <a:srgbClr val="D9E8ED"/>
                </a:solidFill>
              </a:defRPr>
            </a:defPPr>
            <a:lvl1pPr>
              <a:buNone/>
              <a:defRPr sz="1350">
                <a:solidFill>
                  <a:srgbClr val="D9E8ED"/>
                </a:solidFill>
              </a:defRPr>
            </a:lvl1pPr>
            <a:lvl2pPr>
              <a:buNone/>
              <a:defRPr sz="1350">
                <a:solidFill>
                  <a:srgbClr val="D9E8ED"/>
                </a:solidFill>
              </a:defRPr>
            </a:lvl2pPr>
            <a:lvl3pPr>
              <a:buNone/>
              <a:defRPr sz="1350">
                <a:solidFill>
                  <a:srgbClr val="D9E8ED"/>
                </a:solidFill>
              </a:defRPr>
            </a:lvl3pPr>
            <a:lvl4pPr>
              <a:buNone/>
              <a:defRPr sz="1350">
                <a:solidFill>
                  <a:srgbClr val="D9E8ED"/>
                </a:solidFill>
              </a:defRPr>
            </a:lvl4pPr>
            <a:lvl5pPr>
              <a:buNone/>
              <a:defRPr sz="1350">
                <a:solidFill>
                  <a:srgbClr val="D9E8ED"/>
                </a:solidFill>
              </a:defRPr>
            </a:lvl5pPr>
            <a:lvl6pPr>
              <a:buNone/>
              <a:defRPr sz="1350">
                <a:solidFill>
                  <a:srgbClr val="D9E8ED"/>
                </a:solidFill>
              </a:defRPr>
            </a:lvl6pPr>
            <a:lvl7pPr>
              <a:buNone/>
              <a:defRPr sz="1350">
                <a:solidFill>
                  <a:srgbClr val="D9E8ED"/>
                </a:solidFill>
              </a:defRPr>
            </a:lvl7pPr>
            <a:lvl8pPr>
              <a:buNone/>
              <a:defRPr sz="1350">
                <a:solidFill>
                  <a:srgbClr val="D9E8ED"/>
                </a:solidFill>
              </a:defRPr>
            </a:lvl8pPr>
            <a:lvl9pPr>
              <a:buNone/>
              <a:defRPr sz="1350">
                <a:solidFill>
                  <a:srgbClr val="D9E8ED"/>
                </a:solidFill>
              </a:defRPr>
            </a:lvl9pPr>
          </a:lstStyle>
          <a:p xmlns:a="http://schemas.openxmlformats.org/drawingml/2006/main">
            <a:pPr>
              <a:buNone/>
              <a:defRPr sz="1350">
                <a:solidFill>
                  <a:srgbClr val="D9E8ED"/>
                </a:solidFill>
              </a:defRPr>
            </a:pPr>
            <a:r>
              <a:rPr sz="1350">
                <a:solidFill>
                  <a:srgbClr val="D9E8ED"/>
                </a:solidFill>
              </a:rPr>
              <a:t>Nhóm 05   Giảng viên: TS. Nguyễn Ngọc Giang</a:t>
            </a:r>
          </a:p>
          <a:p xmlns:a="http://schemas.openxmlformats.org/drawingml/2006/main">
            <a:pPr>
              <a:buNone/>
              <a:defRPr sz="1350">
                <a:solidFill>
                  <a:srgbClr val="D9E8ED"/>
                </a:solidFill>
              </a:defRPr>
            </a:pPr>
            <a:r>
              <a:rPr sz="1350">
                <a:solidFill>
                  <a:srgbClr val="D9E8ED"/>
                </a:solidFill>
              </a:rPr>
              <a:t>Nguyễn Tùng Dương (24100358)   Trịnh Ngọc Nga (24100065)</a:t>
            </a:r>
          </a:p>
          <a:p xmlns:a="http://schemas.openxmlformats.org/drawingml/2006/main">
            <a:pPr>
              <a:buNone/>
              <a:defRPr sz="1350">
                <a:solidFill>
                  <a:srgbClr val="D9E8ED"/>
                </a:solidFill>
              </a:defRPr>
            </a:pPr>
            <a:r>
              <a:rPr sz="1350">
                <a:solidFill>
                  <a:srgbClr val="D9E8ED"/>
                </a:solidFill>
              </a:rPr>
              <a:t>Trương Việt Thành (24106898)</a:t>
            </a:r>
          </a:p>
        </p:txBody>
      </p:sp>
    </p:spTree>
    <p:extLst>
      <p:ext uri="{BB962C8B-B14F-4D97-AF65-F5344CB8AC3E}">
        <p14:creationId xmlns:p14="http://schemas.microsoft.com/office/powerpoint/2010/main" val="168482120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Hình chữ nhật 16">
            <a:extLst xmlns:a="http://schemas.openxmlformats.org/drawingml/2006/main">
              <a:ext uri="{FF2B5EF4-FFF2-40B4-BE49-F238E27FC236}">
                <a16:creationId xmlns:a16="http://schemas.microsoft.com/office/drawing/2014/main" id="{B6716286-62B6-4F3D-B85F-E19FEEDA23A6}"/>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Mạch trình bày</a:t>
            </a:r>
          </a:p>
        </p:txBody>
      </p:sp>
      <p:sp>
        <p:nvSpPr>
          <p:cNvPr id="2" name="Hình chữ nhật 1">
            <a:extLst xmlns:a="http://schemas.openxmlformats.org/drawingml/2006/main">
              <a:ext uri="{FF2B5EF4-FFF2-40B4-BE49-F238E27FC236}">
                <a16:creationId xmlns:a16="http://schemas.microsoft.com/office/drawing/2014/main" id="{C9792CC7-6B3E-4055-BD1E-DE174B3016D5}"/>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Năm phần nối từ bài toán đến kết quả và ứng dụng</a:t>
            </a:r>
          </a:p>
        </p:txBody>
      </p:sp>
      <p:sp>
        <p:nvSpPr>
          <p:cNvPr id="3" name="Hình chữ nhật 2">
            <a:extLst xmlns:a="http://schemas.openxmlformats.org/drawingml/2006/main">
              <a:ext uri="{FF2B5EF4-FFF2-40B4-BE49-F238E27FC236}">
                <a16:creationId xmlns:a16="http://schemas.microsoft.com/office/drawing/2014/main" id="{6D3842E8-1A66-4492-B07F-CB9C442A4D53}"/>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02</a:t>
            </a:r>
          </a:p>
        </p:txBody>
      </p:sp>
      <p:sp>
        <p:nvSpPr>
          <p:cNvPr id="4" name="Hình chữ nhật 3">
            <a:extLst xmlns:a="http://schemas.openxmlformats.org/drawingml/2006/main">
              <a:ext uri="{FF2B5EF4-FFF2-40B4-BE49-F238E27FC236}">
                <a16:creationId xmlns:a16="http://schemas.microsoft.com/office/drawing/2014/main" id="{BA36A86D-995B-4E44-A1B9-A259AA05C9AD}"/>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sp>
        <p:nvSpPr>
          <p:cNvPr id="5" name="Hình chữ nhật 4">
            <a:extLst xmlns:a="http://schemas.openxmlformats.org/drawingml/2006/main">
              <a:ext uri="{FF2B5EF4-FFF2-40B4-BE49-F238E27FC236}">
                <a16:creationId xmlns:a16="http://schemas.microsoft.com/office/drawing/2014/main" id="{A1712678-1C42-4774-9112-238C3012A6D0}"/>
              </a:ext>
            </a:extLst>
          </p:cNvPr>
          <p:cNvSpPr>
            <a:spLocks xmlns:a="http://schemas.openxmlformats.org/drawingml/2006/main" noGrp="1"/>
          </p:cNvSpPr>
          <p:nvPr/>
        </p:nvSpPr>
        <p:spPr>
          <a:xfrm xmlns:a="http://schemas.openxmlformats.org/drawingml/2006/main">
            <a:off x="619125" y="1952625"/>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vl1pPr>
              <a:defRPr sz="1875" b="0">
                <a:solidFill>
                  <a:srgbClr val="142C40"/>
                </a:solidFill>
              </a:defRPr>
            </a:lvl1pPr>
            <a:lvl2pPr>
              <a:defRPr sz="1875" b="0">
                <a:solidFill>
                  <a:srgbClr val="142C40"/>
                </a:solidFill>
              </a:defRPr>
            </a:lvl2pPr>
            <a:lvl3pPr>
              <a:defRPr sz="1875" b="0">
                <a:solidFill>
                  <a:srgbClr val="142C40"/>
                </a:solidFill>
              </a:defRPr>
            </a:lvl3pPr>
            <a:lvl4pPr>
              <a:defRPr sz="1875" b="0">
                <a:solidFill>
                  <a:srgbClr val="142C40"/>
                </a:solidFill>
              </a:defRPr>
            </a:lvl4pPr>
            <a:lvl5pPr>
              <a:defRPr sz="1875" b="0">
                <a:solidFill>
                  <a:srgbClr val="142C40"/>
                </a:solidFill>
              </a:defRPr>
            </a:lvl5pPr>
            <a:lvl6pPr>
              <a:defRPr sz="1875" b="0">
                <a:solidFill>
                  <a:srgbClr val="142C40"/>
                </a:solidFill>
              </a:defRPr>
            </a:lvl6pPr>
            <a:lvl7pPr>
              <a:defRPr sz="1875" b="0">
                <a:solidFill>
                  <a:srgbClr val="142C40"/>
                </a:solidFill>
              </a:defRPr>
            </a:lvl7pPr>
            <a:lvl8pPr>
              <a:defRPr sz="1875" b="0">
                <a:solidFill>
                  <a:srgbClr val="142C40"/>
                </a:solidFill>
              </a:defRPr>
            </a:lvl8pPr>
            <a:lvl9pPr>
              <a:defRPr sz="1875" b="0">
                <a:solidFill>
                  <a:srgbClr val="142C40"/>
                </a:solidFill>
              </a:defRPr>
            </a:lvl9pPr>
          </a:lstStyle>
          <a:p xmlns:a="http://schemas.openxmlformats.org/drawingml/2006/main">
            <a:pPr>
              <a:buNone/>
              <a:defRPr sz="1875" b="0">
                <a:solidFill>
                  <a:srgbClr val="142C40"/>
                </a:solidFill>
              </a:defRPr>
            </a:pPr>
            <a:r>
              <a:rPr sz="1875" b="0">
                <a:solidFill>
                  <a:srgbClr val="142C40"/>
                </a:solidFill>
              </a:rPr>
              <a:t>01  Bài toán, dữ liệu và quy trình</a:t>
            </a:r>
          </a:p>
        </p:txBody>
      </p:sp>
      <p:sp>
        <p:nvSpPr>
          <p:cNvPr id="6" name="Hình chữ nhật 5">
            <a:extLst xmlns:a="http://schemas.openxmlformats.org/drawingml/2006/main">
              <a:ext uri="{FF2B5EF4-FFF2-40B4-BE49-F238E27FC236}">
                <a16:creationId xmlns:a16="http://schemas.microsoft.com/office/drawing/2014/main" id="{6A36544B-2772-482E-90EB-84094BAF5171}"/>
              </a:ext>
            </a:extLst>
          </p:cNvPr>
          <p:cNvSpPr>
            <a:spLocks xmlns:a="http://schemas.openxmlformats.org/drawingml/2006/main" noGrp="1"/>
          </p:cNvSpPr>
          <p:nvPr/>
        </p:nvSpPr>
        <p:spPr>
          <a:xfrm xmlns:a="http://schemas.openxmlformats.org/drawingml/2006/main">
            <a:off x="619125" y="2724150"/>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vl1pPr>
              <a:defRPr sz="1875" b="0">
                <a:solidFill>
                  <a:srgbClr val="142C40"/>
                </a:solidFill>
              </a:defRPr>
            </a:lvl1pPr>
            <a:lvl2pPr>
              <a:defRPr sz="1875" b="0">
                <a:solidFill>
                  <a:srgbClr val="142C40"/>
                </a:solidFill>
              </a:defRPr>
            </a:lvl2pPr>
            <a:lvl3pPr>
              <a:defRPr sz="1875" b="0">
                <a:solidFill>
                  <a:srgbClr val="142C40"/>
                </a:solidFill>
              </a:defRPr>
            </a:lvl3pPr>
            <a:lvl4pPr>
              <a:defRPr sz="1875" b="0">
                <a:solidFill>
                  <a:srgbClr val="142C40"/>
                </a:solidFill>
              </a:defRPr>
            </a:lvl4pPr>
            <a:lvl5pPr>
              <a:defRPr sz="1875" b="0">
                <a:solidFill>
                  <a:srgbClr val="142C40"/>
                </a:solidFill>
              </a:defRPr>
            </a:lvl5pPr>
            <a:lvl6pPr>
              <a:defRPr sz="1875" b="0">
                <a:solidFill>
                  <a:srgbClr val="142C40"/>
                </a:solidFill>
              </a:defRPr>
            </a:lvl6pPr>
            <a:lvl7pPr>
              <a:defRPr sz="1875" b="0">
                <a:solidFill>
                  <a:srgbClr val="142C40"/>
                </a:solidFill>
              </a:defRPr>
            </a:lvl7pPr>
            <a:lvl8pPr>
              <a:defRPr sz="1875" b="0">
                <a:solidFill>
                  <a:srgbClr val="142C40"/>
                </a:solidFill>
              </a:defRPr>
            </a:lvl8pPr>
            <a:lvl9pPr>
              <a:defRPr sz="1875" b="0">
                <a:solidFill>
                  <a:srgbClr val="142C40"/>
                </a:solidFill>
              </a:defRPr>
            </a:lvl9pPr>
          </a:lstStyle>
          <a:p xmlns:a="http://schemas.openxmlformats.org/drawingml/2006/main">
            <a:pPr>
              <a:buNone/>
              <a:defRPr sz="1875" b="0">
                <a:solidFill>
                  <a:srgbClr val="142C40"/>
                </a:solidFill>
              </a:defRPr>
            </a:pPr>
            <a:r>
              <a:rPr sz="1875" b="0">
                <a:solidFill>
                  <a:srgbClr val="142C40"/>
                </a:solidFill>
              </a:rPr>
              <a:t>02  Các kỹ thuật xử lý ảnh</a:t>
            </a:r>
          </a:p>
        </p:txBody>
      </p:sp>
      <p:sp>
        <p:nvSpPr>
          <p:cNvPr id="7" name="Hình chữ nhật 6">
            <a:extLst xmlns:a="http://schemas.openxmlformats.org/drawingml/2006/main">
              <a:ext uri="{FF2B5EF4-FFF2-40B4-BE49-F238E27FC236}">
                <a16:creationId xmlns:a16="http://schemas.microsoft.com/office/drawing/2014/main" id="{00984245-E8E4-4F84-B425-AA038278475D}"/>
              </a:ext>
            </a:extLst>
          </p:cNvPr>
          <p:cNvSpPr>
            <a:spLocks xmlns:a="http://schemas.openxmlformats.org/drawingml/2006/main" noGrp="1"/>
          </p:cNvSpPr>
          <p:nvPr/>
        </p:nvSpPr>
        <p:spPr>
          <a:xfrm xmlns:a="http://schemas.openxmlformats.org/drawingml/2006/main">
            <a:off x="619125" y="3495675"/>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vl1pPr>
              <a:defRPr sz="1875" b="0">
                <a:solidFill>
                  <a:srgbClr val="142C40"/>
                </a:solidFill>
              </a:defRPr>
            </a:lvl1pPr>
            <a:lvl2pPr>
              <a:defRPr sz="1875" b="0">
                <a:solidFill>
                  <a:srgbClr val="142C40"/>
                </a:solidFill>
              </a:defRPr>
            </a:lvl2pPr>
            <a:lvl3pPr>
              <a:defRPr sz="1875" b="0">
                <a:solidFill>
                  <a:srgbClr val="142C40"/>
                </a:solidFill>
              </a:defRPr>
            </a:lvl3pPr>
            <a:lvl4pPr>
              <a:defRPr sz="1875" b="0">
                <a:solidFill>
                  <a:srgbClr val="142C40"/>
                </a:solidFill>
              </a:defRPr>
            </a:lvl4pPr>
            <a:lvl5pPr>
              <a:defRPr sz="1875" b="0">
                <a:solidFill>
                  <a:srgbClr val="142C40"/>
                </a:solidFill>
              </a:defRPr>
            </a:lvl5pPr>
            <a:lvl6pPr>
              <a:defRPr sz="1875" b="0">
                <a:solidFill>
                  <a:srgbClr val="142C40"/>
                </a:solidFill>
              </a:defRPr>
            </a:lvl6pPr>
            <a:lvl7pPr>
              <a:defRPr sz="1875" b="0">
                <a:solidFill>
                  <a:srgbClr val="142C40"/>
                </a:solidFill>
              </a:defRPr>
            </a:lvl7pPr>
            <a:lvl8pPr>
              <a:defRPr sz="1875" b="0">
                <a:solidFill>
                  <a:srgbClr val="142C40"/>
                </a:solidFill>
              </a:defRPr>
            </a:lvl8pPr>
            <a:lvl9pPr>
              <a:defRPr sz="1875" b="0">
                <a:solidFill>
                  <a:srgbClr val="142C40"/>
                </a:solidFill>
              </a:defRPr>
            </a:lvl9pPr>
          </a:lstStyle>
          <a:p xmlns:a="http://schemas.openxmlformats.org/drawingml/2006/main">
            <a:pPr>
              <a:buNone/>
              <a:defRPr sz="1875" b="0">
                <a:solidFill>
                  <a:srgbClr val="142C40"/>
                </a:solidFill>
              </a:defRPr>
            </a:pPr>
            <a:r>
              <a:rPr sz="1875" b="0">
                <a:solidFill>
                  <a:srgbClr val="142C40"/>
                </a:solidFill>
              </a:rPr>
              <a:t>03  Thiết kế và tiêu chí đánh giá</a:t>
            </a:r>
          </a:p>
        </p:txBody>
      </p:sp>
      <p:sp>
        <p:nvSpPr>
          <p:cNvPr id="8" name="Hình chữ nhật 7">
            <a:extLst xmlns:a="http://schemas.openxmlformats.org/drawingml/2006/main">
              <a:ext uri="{FF2B5EF4-FFF2-40B4-BE49-F238E27FC236}">
                <a16:creationId xmlns:a16="http://schemas.microsoft.com/office/drawing/2014/main" id="{F8E1E04F-34E5-41BD-B14F-BC9B5F7CE0DC}"/>
              </a:ext>
            </a:extLst>
          </p:cNvPr>
          <p:cNvSpPr>
            <a:spLocks xmlns:a="http://schemas.openxmlformats.org/drawingml/2006/main" noGrp="1"/>
          </p:cNvSpPr>
          <p:nvPr/>
        </p:nvSpPr>
        <p:spPr>
          <a:xfrm xmlns:a="http://schemas.openxmlformats.org/drawingml/2006/main">
            <a:off x="619125" y="4267200"/>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vl1pPr>
              <a:defRPr sz="1875" b="0">
                <a:solidFill>
                  <a:srgbClr val="142C40"/>
                </a:solidFill>
              </a:defRPr>
            </a:lvl1pPr>
            <a:lvl2pPr>
              <a:defRPr sz="1875" b="0">
                <a:solidFill>
                  <a:srgbClr val="142C40"/>
                </a:solidFill>
              </a:defRPr>
            </a:lvl2pPr>
            <a:lvl3pPr>
              <a:defRPr sz="1875" b="0">
                <a:solidFill>
                  <a:srgbClr val="142C40"/>
                </a:solidFill>
              </a:defRPr>
            </a:lvl3pPr>
            <a:lvl4pPr>
              <a:defRPr sz="1875" b="0">
                <a:solidFill>
                  <a:srgbClr val="142C40"/>
                </a:solidFill>
              </a:defRPr>
            </a:lvl4pPr>
            <a:lvl5pPr>
              <a:defRPr sz="1875" b="0">
                <a:solidFill>
                  <a:srgbClr val="142C40"/>
                </a:solidFill>
              </a:defRPr>
            </a:lvl5pPr>
            <a:lvl6pPr>
              <a:defRPr sz="1875" b="0">
                <a:solidFill>
                  <a:srgbClr val="142C40"/>
                </a:solidFill>
              </a:defRPr>
            </a:lvl6pPr>
            <a:lvl7pPr>
              <a:defRPr sz="1875" b="0">
                <a:solidFill>
                  <a:srgbClr val="142C40"/>
                </a:solidFill>
              </a:defRPr>
            </a:lvl7pPr>
            <a:lvl8pPr>
              <a:defRPr sz="1875" b="0">
                <a:solidFill>
                  <a:srgbClr val="142C40"/>
                </a:solidFill>
              </a:defRPr>
            </a:lvl8pPr>
            <a:lvl9pPr>
              <a:defRPr sz="1875" b="0">
                <a:solidFill>
                  <a:srgbClr val="142C40"/>
                </a:solidFill>
              </a:defRPr>
            </a:lvl9pPr>
          </a:lstStyle>
          <a:p xmlns:a="http://schemas.openxmlformats.org/drawingml/2006/main">
            <a:pPr>
              <a:buNone/>
              <a:defRPr sz="1875" b="0">
                <a:solidFill>
                  <a:srgbClr val="142C40"/>
                </a:solidFill>
              </a:defRPr>
            </a:pPr>
            <a:r>
              <a:rPr sz="1875" b="0">
                <a:solidFill>
                  <a:srgbClr val="142C40"/>
                </a:solidFill>
              </a:rPr>
              <a:t>04  Kết quả và phân tích trường hợp</a:t>
            </a:r>
          </a:p>
        </p:txBody>
      </p:sp>
      <p:sp>
        <p:nvSpPr>
          <p:cNvPr id="9" name="Hình chữ nhật 8">
            <a:extLst xmlns:a="http://schemas.openxmlformats.org/drawingml/2006/main">
              <a:ext uri="{FF2B5EF4-FFF2-40B4-BE49-F238E27FC236}">
                <a16:creationId xmlns:a16="http://schemas.microsoft.com/office/drawing/2014/main" id="{863C74D5-F6A9-491E-88BE-8CF60FEFC63C}"/>
              </a:ext>
            </a:extLst>
          </p:cNvPr>
          <p:cNvSpPr>
            <a:spLocks xmlns:a="http://schemas.openxmlformats.org/drawingml/2006/main" noGrp="1"/>
          </p:cNvSpPr>
          <p:nvPr/>
        </p:nvSpPr>
        <p:spPr>
          <a:xfrm xmlns:a="http://schemas.openxmlformats.org/drawingml/2006/main">
            <a:off x="619125" y="5038725"/>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vl1pPr>
              <a:defRPr sz="1875" b="0">
                <a:solidFill>
                  <a:srgbClr val="142C40"/>
                </a:solidFill>
              </a:defRPr>
            </a:lvl1pPr>
            <a:lvl2pPr>
              <a:defRPr sz="1875" b="0">
                <a:solidFill>
                  <a:srgbClr val="142C40"/>
                </a:solidFill>
              </a:defRPr>
            </a:lvl2pPr>
            <a:lvl3pPr>
              <a:defRPr sz="1875" b="0">
                <a:solidFill>
                  <a:srgbClr val="142C40"/>
                </a:solidFill>
              </a:defRPr>
            </a:lvl3pPr>
            <a:lvl4pPr>
              <a:defRPr sz="1875" b="0">
                <a:solidFill>
                  <a:srgbClr val="142C40"/>
                </a:solidFill>
              </a:defRPr>
            </a:lvl4pPr>
            <a:lvl5pPr>
              <a:defRPr sz="1875" b="0">
                <a:solidFill>
                  <a:srgbClr val="142C40"/>
                </a:solidFill>
              </a:defRPr>
            </a:lvl5pPr>
            <a:lvl6pPr>
              <a:defRPr sz="1875" b="0">
                <a:solidFill>
                  <a:srgbClr val="142C40"/>
                </a:solidFill>
              </a:defRPr>
            </a:lvl6pPr>
            <a:lvl7pPr>
              <a:defRPr sz="1875" b="0">
                <a:solidFill>
                  <a:srgbClr val="142C40"/>
                </a:solidFill>
              </a:defRPr>
            </a:lvl7pPr>
            <a:lvl8pPr>
              <a:defRPr sz="1875" b="0">
                <a:solidFill>
                  <a:srgbClr val="142C40"/>
                </a:solidFill>
              </a:defRPr>
            </a:lvl8pPr>
            <a:lvl9pPr>
              <a:defRPr sz="1875" b="0">
                <a:solidFill>
                  <a:srgbClr val="142C40"/>
                </a:solidFill>
              </a:defRPr>
            </a:lvl9pPr>
          </a:lstStyle>
          <a:p xmlns:a="http://schemas.openxmlformats.org/drawingml/2006/main">
            <a:pPr>
              <a:buNone/>
              <a:defRPr sz="1875" b="0">
                <a:solidFill>
                  <a:srgbClr val="142C40"/>
                </a:solidFill>
              </a:defRPr>
            </a:pPr>
            <a:r>
              <a:rPr sz="1875" b="0">
                <a:solidFill>
                  <a:srgbClr val="142C40"/>
                </a:solidFill>
              </a:rPr>
              <a:t>05  Ứng dụng, kết luận và hướng phát triển</a:t>
            </a:r>
          </a:p>
        </p:txBody>
      </p:sp>
      <p:sp>
        <p:nvSpPr>
          <p:cNvPr id="10" name="Hình chữ nhật 9">
            <a:extLst xmlns:a="http://schemas.openxmlformats.org/drawingml/2006/main">
              <a:ext uri="{FF2B5EF4-FFF2-40B4-BE49-F238E27FC236}">
                <a16:creationId xmlns:a16="http://schemas.microsoft.com/office/drawing/2014/main" id="{4515B3C9-6109-4402-B569-FCB2B191E9CB}"/>
              </a:ext>
            </a:extLst>
          </p:cNvPr>
          <p:cNvSpPr>
            <a:spLocks xmlns:a="http://schemas.openxmlformats.org/drawingml/2006/main" noGrp="1"/>
          </p:cNvSpPr>
          <p:nvPr/>
        </p:nvSpPr>
        <p:spPr>
          <a:xfrm xmlns:a="http://schemas.openxmlformats.org/drawingml/2006/main">
            <a:off x="619125" y="504825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vl1pPr>
              <a:defRPr sz="1875" b="0">
                <a:solidFill>
                  <a:srgbClr val="142C40"/>
                </a:solidFill>
              </a:defRPr>
            </a:lvl1pPr>
            <a:lvl2pPr>
              <a:defRPr sz="1875" b="0">
                <a:solidFill>
                  <a:srgbClr val="142C40"/>
                </a:solidFill>
              </a:defRPr>
            </a:lvl2pPr>
            <a:lvl3pPr>
              <a:defRPr sz="1875" b="0">
                <a:solidFill>
                  <a:srgbClr val="142C40"/>
                </a:solidFill>
              </a:defRPr>
            </a:lvl3pPr>
            <a:lvl4pPr>
              <a:defRPr sz="1875" b="0">
                <a:solidFill>
                  <a:srgbClr val="142C40"/>
                </a:solidFill>
              </a:defRPr>
            </a:lvl4pPr>
            <a:lvl5pPr>
              <a:defRPr sz="1875" b="0">
                <a:solidFill>
                  <a:srgbClr val="142C40"/>
                </a:solidFill>
              </a:defRPr>
            </a:lvl5pPr>
            <a:lvl6pPr>
              <a:defRPr sz="1875" b="0">
                <a:solidFill>
                  <a:srgbClr val="142C40"/>
                </a:solidFill>
              </a:defRPr>
            </a:lvl6pPr>
            <a:lvl7pPr>
              <a:defRPr sz="1875" b="0">
                <a:solidFill>
                  <a:srgbClr val="142C40"/>
                </a:solidFill>
              </a:defRPr>
            </a:lvl7pPr>
            <a:lvl8pPr>
              <a:defRPr sz="1875" b="0">
                <a:solidFill>
                  <a:srgbClr val="142C40"/>
                </a:solidFill>
              </a:defRPr>
            </a:lvl8pPr>
            <a:lvl9pPr>
              <a:defRPr sz="1875" b="0">
                <a:solidFill>
                  <a:srgbClr val="142C40"/>
                </a:solidFill>
              </a:defRPr>
            </a:lvl9pPr>
          </a:lstStyle>
          <a:p xmlns:a="http://schemas.openxmlformats.org/drawingml/2006/main">
            <a:pPr>
              <a:buNone/>
              <a:defRPr sz="1875" b="0">
                <a:solidFill>
                  <a:srgbClr val="142C40"/>
                </a:solidFill>
              </a:defRPr>
            </a:pPr>
            <a:r>
              <a:rPr sz="1875" b="0">
                <a:solidFill>
                  <a:srgbClr val="142C40"/>
                </a:solidFill>
              </a:rPr>
              <a:t/>
            </a:r>
          </a:p>
        </p:txBody>
      </p:sp>
      <p:sp>
        <p:nvSpPr>
          <p:cNvPr id="11" name="Hình chữ nhật 10">
            <a:extLst xmlns:a="http://schemas.openxmlformats.org/drawingml/2006/main">
              <a:ext uri="{FF2B5EF4-FFF2-40B4-BE49-F238E27FC236}">
                <a16:creationId xmlns:a16="http://schemas.microsoft.com/office/drawing/2014/main" id="{6D84B5C4-4CB9-40FD-A5BB-1BF7CE5811C7}"/>
              </a:ext>
            </a:extLst>
          </p:cNvPr>
          <p:cNvSpPr>
            <a:spLocks xmlns:a="http://schemas.openxmlformats.org/drawingml/2006/main" noGrp="1"/>
          </p:cNvSpPr>
          <p:nvPr/>
        </p:nvSpPr>
        <p:spPr>
          <a:xfrm xmlns:a="http://schemas.openxmlformats.org/drawingml/2006/main">
            <a:off x="6429375" y="20955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vl1pPr>
              <a:defRPr sz="1875" b="0">
                <a:solidFill>
                  <a:srgbClr val="142C40"/>
                </a:solidFill>
              </a:defRPr>
            </a:lvl1pPr>
            <a:lvl2pPr>
              <a:defRPr sz="1875" b="0">
                <a:solidFill>
                  <a:srgbClr val="142C40"/>
                </a:solidFill>
              </a:defRPr>
            </a:lvl2pPr>
            <a:lvl3pPr>
              <a:defRPr sz="1875" b="0">
                <a:solidFill>
                  <a:srgbClr val="142C40"/>
                </a:solidFill>
              </a:defRPr>
            </a:lvl3pPr>
            <a:lvl4pPr>
              <a:defRPr sz="1875" b="0">
                <a:solidFill>
                  <a:srgbClr val="142C40"/>
                </a:solidFill>
              </a:defRPr>
            </a:lvl4pPr>
            <a:lvl5pPr>
              <a:defRPr sz="1875" b="0">
                <a:solidFill>
                  <a:srgbClr val="142C40"/>
                </a:solidFill>
              </a:defRPr>
            </a:lvl5pPr>
            <a:lvl6pPr>
              <a:defRPr sz="1875" b="0">
                <a:solidFill>
                  <a:srgbClr val="142C40"/>
                </a:solidFill>
              </a:defRPr>
            </a:lvl6pPr>
            <a:lvl7pPr>
              <a:defRPr sz="1875" b="0">
                <a:solidFill>
                  <a:srgbClr val="142C40"/>
                </a:solidFill>
              </a:defRPr>
            </a:lvl7pPr>
            <a:lvl8pPr>
              <a:defRPr sz="1875" b="0">
                <a:solidFill>
                  <a:srgbClr val="142C40"/>
                </a:solidFill>
              </a:defRPr>
            </a:lvl8pPr>
            <a:lvl9pPr>
              <a:defRPr sz="1875" b="0">
                <a:solidFill>
                  <a:srgbClr val="142C40"/>
                </a:solidFill>
              </a:defRPr>
            </a:lvl9pPr>
          </a:lstStyle>
          <a:p xmlns:a="http://schemas.openxmlformats.org/drawingml/2006/main">
            <a:pPr>
              <a:buNone/>
              <a:defRPr sz="1875" b="0">
                <a:solidFill>
                  <a:srgbClr val="142C40"/>
                </a:solidFill>
              </a:defRPr>
            </a:pPr>
            <a:r>
              <a:rPr sz="1875" b="0">
                <a:solidFill>
                  <a:srgbClr val="142C40"/>
                </a:solidFill>
              </a:rPr>
              <a:t/>
            </a:r>
          </a:p>
        </p:txBody>
      </p:sp>
      <p:sp>
        <p:nvSpPr>
          <p:cNvPr id="12" name="Hình chữ nhật 11">
            <a:extLst xmlns:a="http://schemas.openxmlformats.org/drawingml/2006/main">
              <a:ext uri="{FF2B5EF4-FFF2-40B4-BE49-F238E27FC236}">
                <a16:creationId xmlns:a16="http://schemas.microsoft.com/office/drawing/2014/main" id="{92BB0413-D19D-49E8-8E0F-92A5EDE629B2}"/>
              </a:ext>
            </a:extLst>
          </p:cNvPr>
          <p:cNvSpPr>
            <a:spLocks xmlns:a="http://schemas.openxmlformats.org/drawingml/2006/main" noGrp="1"/>
          </p:cNvSpPr>
          <p:nvPr/>
        </p:nvSpPr>
        <p:spPr>
          <a:xfrm xmlns:a="http://schemas.openxmlformats.org/drawingml/2006/main">
            <a:off x="6429375" y="268605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vl1pPr>
              <a:defRPr sz="1875" b="0">
                <a:solidFill>
                  <a:srgbClr val="142C40"/>
                </a:solidFill>
              </a:defRPr>
            </a:lvl1pPr>
            <a:lvl2pPr>
              <a:defRPr sz="1875" b="0">
                <a:solidFill>
                  <a:srgbClr val="142C40"/>
                </a:solidFill>
              </a:defRPr>
            </a:lvl2pPr>
            <a:lvl3pPr>
              <a:defRPr sz="1875" b="0">
                <a:solidFill>
                  <a:srgbClr val="142C40"/>
                </a:solidFill>
              </a:defRPr>
            </a:lvl3pPr>
            <a:lvl4pPr>
              <a:defRPr sz="1875" b="0">
                <a:solidFill>
                  <a:srgbClr val="142C40"/>
                </a:solidFill>
              </a:defRPr>
            </a:lvl4pPr>
            <a:lvl5pPr>
              <a:defRPr sz="1875" b="0">
                <a:solidFill>
                  <a:srgbClr val="142C40"/>
                </a:solidFill>
              </a:defRPr>
            </a:lvl5pPr>
            <a:lvl6pPr>
              <a:defRPr sz="1875" b="0">
                <a:solidFill>
                  <a:srgbClr val="142C40"/>
                </a:solidFill>
              </a:defRPr>
            </a:lvl6pPr>
            <a:lvl7pPr>
              <a:defRPr sz="1875" b="0">
                <a:solidFill>
                  <a:srgbClr val="142C40"/>
                </a:solidFill>
              </a:defRPr>
            </a:lvl7pPr>
            <a:lvl8pPr>
              <a:defRPr sz="1875" b="0">
                <a:solidFill>
                  <a:srgbClr val="142C40"/>
                </a:solidFill>
              </a:defRPr>
            </a:lvl8pPr>
            <a:lvl9pPr>
              <a:defRPr sz="1875" b="0">
                <a:solidFill>
                  <a:srgbClr val="142C40"/>
                </a:solidFill>
              </a:defRPr>
            </a:lvl9pPr>
          </a:lstStyle>
          <a:p xmlns:a="http://schemas.openxmlformats.org/drawingml/2006/main">
            <a:pPr>
              <a:buNone/>
              <a:defRPr sz="1875" b="0">
                <a:solidFill>
                  <a:srgbClr val="142C40"/>
                </a:solidFill>
              </a:defRPr>
            </a:pPr>
            <a:r>
              <a:rPr sz="1875" b="0">
                <a:solidFill>
                  <a:srgbClr val="142C40"/>
                </a:solidFill>
              </a:rPr>
              <a:t/>
            </a:r>
          </a:p>
        </p:txBody>
      </p:sp>
      <p:sp>
        <p:nvSpPr>
          <p:cNvPr id="13" name="Hình chữ nhật 12">
            <a:extLst xmlns:a="http://schemas.openxmlformats.org/drawingml/2006/main">
              <a:ext uri="{FF2B5EF4-FFF2-40B4-BE49-F238E27FC236}">
                <a16:creationId xmlns:a16="http://schemas.microsoft.com/office/drawing/2014/main" id="{01A75515-B022-468A-8909-C2E7BADD9FC1}"/>
              </a:ext>
            </a:extLst>
          </p:cNvPr>
          <p:cNvSpPr>
            <a:spLocks xmlns:a="http://schemas.openxmlformats.org/drawingml/2006/main" noGrp="1"/>
          </p:cNvSpPr>
          <p:nvPr/>
        </p:nvSpPr>
        <p:spPr>
          <a:xfrm xmlns:a="http://schemas.openxmlformats.org/drawingml/2006/main">
            <a:off x="6429375" y="32766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vl1pPr>
              <a:defRPr sz="1875" b="0">
                <a:solidFill>
                  <a:srgbClr val="142C40"/>
                </a:solidFill>
              </a:defRPr>
            </a:lvl1pPr>
            <a:lvl2pPr>
              <a:defRPr sz="1875" b="0">
                <a:solidFill>
                  <a:srgbClr val="142C40"/>
                </a:solidFill>
              </a:defRPr>
            </a:lvl2pPr>
            <a:lvl3pPr>
              <a:defRPr sz="1875" b="0">
                <a:solidFill>
                  <a:srgbClr val="142C40"/>
                </a:solidFill>
              </a:defRPr>
            </a:lvl3pPr>
            <a:lvl4pPr>
              <a:defRPr sz="1875" b="0">
                <a:solidFill>
                  <a:srgbClr val="142C40"/>
                </a:solidFill>
              </a:defRPr>
            </a:lvl4pPr>
            <a:lvl5pPr>
              <a:defRPr sz="1875" b="0">
                <a:solidFill>
                  <a:srgbClr val="142C40"/>
                </a:solidFill>
              </a:defRPr>
            </a:lvl5pPr>
            <a:lvl6pPr>
              <a:defRPr sz="1875" b="0">
                <a:solidFill>
                  <a:srgbClr val="142C40"/>
                </a:solidFill>
              </a:defRPr>
            </a:lvl6pPr>
            <a:lvl7pPr>
              <a:defRPr sz="1875" b="0">
                <a:solidFill>
                  <a:srgbClr val="142C40"/>
                </a:solidFill>
              </a:defRPr>
            </a:lvl7pPr>
            <a:lvl8pPr>
              <a:defRPr sz="1875" b="0">
                <a:solidFill>
                  <a:srgbClr val="142C40"/>
                </a:solidFill>
              </a:defRPr>
            </a:lvl8pPr>
            <a:lvl9pPr>
              <a:defRPr sz="1875" b="0">
                <a:solidFill>
                  <a:srgbClr val="142C40"/>
                </a:solidFill>
              </a:defRPr>
            </a:lvl9pPr>
          </a:lstStyle>
          <a:p xmlns:a="http://schemas.openxmlformats.org/drawingml/2006/main">
            <a:pPr>
              <a:buNone/>
              <a:defRPr sz="1875" b="0">
                <a:solidFill>
                  <a:srgbClr val="142C40"/>
                </a:solidFill>
              </a:defRPr>
            </a:pPr>
            <a:r>
              <a:rPr sz="1875" b="0">
                <a:solidFill>
                  <a:srgbClr val="142C40"/>
                </a:solidFill>
              </a:rPr>
              <a:t/>
            </a:r>
          </a:p>
        </p:txBody>
      </p:sp>
      <p:sp>
        <p:nvSpPr>
          <p:cNvPr id="14" name="Hình chữ nhật 13">
            <a:extLst xmlns:a="http://schemas.openxmlformats.org/drawingml/2006/main">
              <a:ext uri="{FF2B5EF4-FFF2-40B4-BE49-F238E27FC236}">
                <a16:creationId xmlns:a16="http://schemas.microsoft.com/office/drawing/2014/main" id="{11B76767-3109-4A66-A3AD-B7D190912BF4}"/>
              </a:ext>
            </a:extLst>
          </p:cNvPr>
          <p:cNvSpPr>
            <a:spLocks xmlns:a="http://schemas.openxmlformats.org/drawingml/2006/main" noGrp="1"/>
          </p:cNvSpPr>
          <p:nvPr/>
        </p:nvSpPr>
        <p:spPr>
          <a:xfrm xmlns:a="http://schemas.openxmlformats.org/drawingml/2006/main">
            <a:off x="6429375" y="386715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vl1pPr>
              <a:defRPr sz="1875" b="0">
                <a:solidFill>
                  <a:srgbClr val="142C40"/>
                </a:solidFill>
              </a:defRPr>
            </a:lvl1pPr>
            <a:lvl2pPr>
              <a:defRPr sz="1875" b="0">
                <a:solidFill>
                  <a:srgbClr val="142C40"/>
                </a:solidFill>
              </a:defRPr>
            </a:lvl2pPr>
            <a:lvl3pPr>
              <a:defRPr sz="1875" b="0">
                <a:solidFill>
                  <a:srgbClr val="142C40"/>
                </a:solidFill>
              </a:defRPr>
            </a:lvl3pPr>
            <a:lvl4pPr>
              <a:defRPr sz="1875" b="0">
                <a:solidFill>
                  <a:srgbClr val="142C40"/>
                </a:solidFill>
              </a:defRPr>
            </a:lvl4pPr>
            <a:lvl5pPr>
              <a:defRPr sz="1875" b="0">
                <a:solidFill>
                  <a:srgbClr val="142C40"/>
                </a:solidFill>
              </a:defRPr>
            </a:lvl5pPr>
            <a:lvl6pPr>
              <a:defRPr sz="1875" b="0">
                <a:solidFill>
                  <a:srgbClr val="142C40"/>
                </a:solidFill>
              </a:defRPr>
            </a:lvl6pPr>
            <a:lvl7pPr>
              <a:defRPr sz="1875" b="0">
                <a:solidFill>
                  <a:srgbClr val="142C40"/>
                </a:solidFill>
              </a:defRPr>
            </a:lvl7pPr>
            <a:lvl8pPr>
              <a:defRPr sz="1875" b="0">
                <a:solidFill>
                  <a:srgbClr val="142C40"/>
                </a:solidFill>
              </a:defRPr>
            </a:lvl8pPr>
            <a:lvl9pPr>
              <a:defRPr sz="1875" b="0">
                <a:solidFill>
                  <a:srgbClr val="142C40"/>
                </a:solidFill>
              </a:defRPr>
            </a:lvl9pPr>
          </a:lstStyle>
          <a:p xmlns:a="http://schemas.openxmlformats.org/drawingml/2006/main">
            <a:pPr>
              <a:buNone/>
              <a:defRPr sz="1875" b="0">
                <a:solidFill>
                  <a:srgbClr val="142C40"/>
                </a:solidFill>
              </a:defRPr>
            </a:pPr>
            <a:r>
              <a:rPr sz="1875" b="0">
                <a:solidFill>
                  <a:srgbClr val="142C40"/>
                </a:solidFill>
              </a:rPr>
              <a:t/>
            </a:r>
          </a:p>
        </p:txBody>
      </p:sp>
      <p:sp>
        <p:nvSpPr>
          <p:cNvPr id="15" name="Hình chữ nhật 14">
            <a:extLst xmlns:a="http://schemas.openxmlformats.org/drawingml/2006/main">
              <a:ext uri="{FF2B5EF4-FFF2-40B4-BE49-F238E27FC236}">
                <a16:creationId xmlns:a16="http://schemas.microsoft.com/office/drawing/2014/main" id="{FA70919B-D1DB-49E9-A33D-07133D954A29}"/>
              </a:ext>
            </a:extLst>
          </p:cNvPr>
          <p:cNvSpPr>
            <a:spLocks xmlns:a="http://schemas.openxmlformats.org/drawingml/2006/main" noGrp="1"/>
          </p:cNvSpPr>
          <p:nvPr/>
        </p:nvSpPr>
        <p:spPr>
          <a:xfrm xmlns:a="http://schemas.openxmlformats.org/drawingml/2006/main">
            <a:off x="6429375" y="445770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vl1pPr>
              <a:defRPr sz="1875" b="0">
                <a:solidFill>
                  <a:srgbClr val="142C40"/>
                </a:solidFill>
              </a:defRPr>
            </a:lvl1pPr>
            <a:lvl2pPr>
              <a:defRPr sz="1875" b="0">
                <a:solidFill>
                  <a:srgbClr val="142C40"/>
                </a:solidFill>
              </a:defRPr>
            </a:lvl2pPr>
            <a:lvl3pPr>
              <a:defRPr sz="1875" b="0">
                <a:solidFill>
                  <a:srgbClr val="142C40"/>
                </a:solidFill>
              </a:defRPr>
            </a:lvl3pPr>
            <a:lvl4pPr>
              <a:defRPr sz="1875" b="0">
                <a:solidFill>
                  <a:srgbClr val="142C40"/>
                </a:solidFill>
              </a:defRPr>
            </a:lvl4pPr>
            <a:lvl5pPr>
              <a:defRPr sz="1875" b="0">
                <a:solidFill>
                  <a:srgbClr val="142C40"/>
                </a:solidFill>
              </a:defRPr>
            </a:lvl5pPr>
            <a:lvl6pPr>
              <a:defRPr sz="1875" b="0">
                <a:solidFill>
                  <a:srgbClr val="142C40"/>
                </a:solidFill>
              </a:defRPr>
            </a:lvl6pPr>
            <a:lvl7pPr>
              <a:defRPr sz="1875" b="0">
                <a:solidFill>
                  <a:srgbClr val="142C40"/>
                </a:solidFill>
              </a:defRPr>
            </a:lvl7pPr>
            <a:lvl8pPr>
              <a:defRPr sz="1875" b="0">
                <a:solidFill>
                  <a:srgbClr val="142C40"/>
                </a:solidFill>
              </a:defRPr>
            </a:lvl8pPr>
            <a:lvl9pPr>
              <a:defRPr sz="1875" b="0">
                <a:solidFill>
                  <a:srgbClr val="142C40"/>
                </a:solidFill>
              </a:defRPr>
            </a:lvl9pPr>
          </a:lstStyle>
          <a:p xmlns:a="http://schemas.openxmlformats.org/drawingml/2006/main">
            <a:pPr>
              <a:buNone/>
              <a:defRPr sz="1875" b="0">
                <a:solidFill>
                  <a:srgbClr val="142C40"/>
                </a:solidFill>
              </a:defRPr>
            </a:pPr>
            <a:r>
              <a:rPr sz="1875" b="0">
                <a:solidFill>
                  <a:srgbClr val="142C40"/>
                </a:solidFill>
              </a:rPr>
              <a:t/>
            </a:r>
          </a:p>
        </p:txBody>
      </p:sp>
      <p:sp>
        <p:nvSpPr>
          <p:cNvPr id="16" name="Hình chữ nhật 15">
            <a:extLst xmlns:a="http://schemas.openxmlformats.org/drawingml/2006/main">
              <a:ext uri="{FF2B5EF4-FFF2-40B4-BE49-F238E27FC236}">
                <a16:creationId xmlns:a16="http://schemas.microsoft.com/office/drawing/2014/main" id="{8560DA05-EA18-4E50-8647-B3A17D79C25C}"/>
              </a:ext>
            </a:extLst>
          </p:cNvPr>
          <p:cNvSpPr>
            <a:spLocks xmlns:a="http://schemas.openxmlformats.org/drawingml/2006/main" noGrp="1"/>
          </p:cNvSpPr>
          <p:nvPr/>
        </p:nvSpPr>
        <p:spPr>
          <a:xfrm xmlns:a="http://schemas.openxmlformats.org/drawingml/2006/main">
            <a:off x="6429375" y="5048250"/>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42C40"/>
                </a:solidFill>
              </a:defRPr>
            </a:defPPr>
            <a:lvl1pPr>
              <a:defRPr sz="1875" b="0">
                <a:solidFill>
                  <a:srgbClr val="142C40"/>
                </a:solidFill>
              </a:defRPr>
            </a:lvl1pPr>
            <a:lvl2pPr>
              <a:defRPr sz="1875" b="0">
                <a:solidFill>
                  <a:srgbClr val="142C40"/>
                </a:solidFill>
              </a:defRPr>
            </a:lvl2pPr>
            <a:lvl3pPr>
              <a:defRPr sz="1875" b="0">
                <a:solidFill>
                  <a:srgbClr val="142C40"/>
                </a:solidFill>
              </a:defRPr>
            </a:lvl3pPr>
            <a:lvl4pPr>
              <a:defRPr sz="1875" b="0">
                <a:solidFill>
                  <a:srgbClr val="142C40"/>
                </a:solidFill>
              </a:defRPr>
            </a:lvl4pPr>
            <a:lvl5pPr>
              <a:defRPr sz="1875" b="0">
                <a:solidFill>
                  <a:srgbClr val="142C40"/>
                </a:solidFill>
              </a:defRPr>
            </a:lvl5pPr>
            <a:lvl6pPr>
              <a:defRPr sz="1875" b="0">
                <a:solidFill>
                  <a:srgbClr val="142C40"/>
                </a:solidFill>
              </a:defRPr>
            </a:lvl6pPr>
            <a:lvl7pPr>
              <a:defRPr sz="1875" b="0">
                <a:solidFill>
                  <a:srgbClr val="142C40"/>
                </a:solidFill>
              </a:defRPr>
            </a:lvl7pPr>
            <a:lvl8pPr>
              <a:defRPr sz="1875" b="0">
                <a:solidFill>
                  <a:srgbClr val="142C40"/>
                </a:solidFill>
              </a:defRPr>
            </a:lvl8pPr>
            <a:lvl9pPr>
              <a:defRPr sz="1875" b="0">
                <a:solidFill>
                  <a:srgbClr val="142C40"/>
                </a:solidFill>
              </a:defRPr>
            </a:lvl9pPr>
          </a:lstStyle>
          <a:p xmlns:a="http://schemas.openxmlformats.org/drawingml/2006/main">
            <a:pPr>
              <a:buNone/>
              <a:defRPr sz="1875" b="0">
                <a:solidFill>
                  <a:srgbClr val="142C40"/>
                </a:solidFill>
              </a:defRPr>
            </a:pPr>
            <a:r>
              <a:rPr sz="1875" b="0">
                <a:solidFill>
                  <a:srgbClr val="142C40"/>
                </a:solidFill>
              </a:rPr>
              <a:t/>
            </a:r>
          </a:p>
        </p:txBody>
      </p:sp>
    </p:spTree>
    <p:extLst>
      <p:ext uri="{BB962C8B-B14F-4D97-AF65-F5344CB8AC3E}">
        <p14:creationId xmlns:p14="http://schemas.microsoft.com/office/powerpoint/2010/main" val="45166998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Hình chữ nhật 8">
            <a:extLst xmlns:a="http://schemas.openxmlformats.org/drawingml/2006/main">
              <a:ext uri="{FF2B5EF4-FFF2-40B4-BE49-F238E27FC236}">
                <a16:creationId xmlns:a16="http://schemas.microsoft.com/office/drawing/2014/main" id="{AC39EB0E-2FB8-4EA8-97C1-168ED9CBAFF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Câu hỏi và phạm vi đánh giá</a:t>
            </a:r>
          </a:p>
        </p:txBody>
      </p:sp>
      <p:sp>
        <p:nvSpPr>
          <p:cNvPr id="2" name="Hình chữ nhật 1">
            <a:extLst xmlns:a="http://schemas.openxmlformats.org/drawingml/2006/main">
              <a:ext uri="{FF2B5EF4-FFF2-40B4-BE49-F238E27FC236}">
                <a16:creationId xmlns:a16="http://schemas.microsoft.com/office/drawing/2014/main" id="{530E2F9F-9A25-4A2F-BBAA-581E10441941}"/>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Chương 1  Giới thiệu</a:t>
            </a:r>
          </a:p>
        </p:txBody>
      </p:sp>
      <p:sp>
        <p:nvSpPr>
          <p:cNvPr id="3" name="Hình chữ nhật 2">
            <a:extLst xmlns:a="http://schemas.openxmlformats.org/drawingml/2006/main">
              <a:ext uri="{FF2B5EF4-FFF2-40B4-BE49-F238E27FC236}">
                <a16:creationId xmlns:a16="http://schemas.microsoft.com/office/drawing/2014/main" id="{1BAEEA75-4559-4B37-A057-6F59C42AC8B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03</a:t>
            </a:r>
          </a:p>
        </p:txBody>
      </p:sp>
      <p:sp>
        <p:nvSpPr>
          <p:cNvPr id="4" name="Hình chữ nhật 3">
            <a:extLst xmlns:a="http://schemas.openxmlformats.org/drawingml/2006/main">
              <a:ext uri="{FF2B5EF4-FFF2-40B4-BE49-F238E27FC236}">
                <a16:creationId xmlns:a16="http://schemas.microsoft.com/office/drawing/2014/main" id="{6D418797-1BFC-4DB5-87D7-C69B4E7C256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sp>
        <p:nvSpPr>
          <p:cNvPr id="5" name="Hình chữ nhật 4">
            <a:extLst xmlns:a="http://schemas.openxmlformats.org/drawingml/2006/main">
              <a:ext uri="{FF2B5EF4-FFF2-40B4-BE49-F238E27FC236}">
                <a16:creationId xmlns:a16="http://schemas.microsoft.com/office/drawing/2014/main" id="{DE44E866-BF63-495B-A156-86F5629B5E07}"/>
              </a:ext>
            </a:extLst>
          </p:cNvPr>
          <p:cNvSpPr>
            <a:spLocks xmlns:a="http://schemas.openxmlformats.org/drawingml/2006/main" noGrp="1"/>
          </p:cNvSpPr>
          <p:nvPr/>
        </p:nvSpPr>
        <p:spPr>
          <a:xfrm xmlns:a="http://schemas.openxmlformats.org/drawingml/2006/main">
            <a:off x="619125" y="209550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vl1pPr>
              <a:defRPr sz="2175" b="0">
                <a:solidFill>
                  <a:srgbClr val="142C40"/>
                </a:solidFill>
              </a:defRPr>
            </a:lvl1pPr>
            <a:lvl2pPr>
              <a:defRPr sz="2175" b="0">
                <a:solidFill>
                  <a:srgbClr val="142C40"/>
                </a:solidFill>
              </a:defRPr>
            </a:lvl2pPr>
            <a:lvl3pPr>
              <a:defRPr sz="2175" b="0">
                <a:solidFill>
                  <a:srgbClr val="142C40"/>
                </a:solidFill>
              </a:defRPr>
            </a:lvl3pPr>
            <a:lvl4pPr>
              <a:defRPr sz="2175" b="0">
                <a:solidFill>
                  <a:srgbClr val="142C40"/>
                </a:solidFill>
              </a:defRPr>
            </a:lvl4pPr>
            <a:lvl5pPr>
              <a:defRPr sz="2175" b="0">
                <a:solidFill>
                  <a:srgbClr val="142C40"/>
                </a:solidFill>
              </a:defRPr>
            </a:lvl5pPr>
            <a:lvl6pPr>
              <a:defRPr sz="2175" b="0">
                <a:solidFill>
                  <a:srgbClr val="142C40"/>
                </a:solidFill>
              </a:defRPr>
            </a:lvl6pPr>
            <a:lvl7pPr>
              <a:defRPr sz="2175" b="0">
                <a:solidFill>
                  <a:srgbClr val="142C40"/>
                </a:solidFill>
              </a:defRPr>
            </a:lvl7pPr>
            <a:lvl8pPr>
              <a:defRPr sz="2175" b="0">
                <a:solidFill>
                  <a:srgbClr val="142C40"/>
                </a:solidFill>
              </a:defRPr>
            </a:lvl8pPr>
            <a:lvl9pPr>
              <a:defRPr sz="2175" b="0">
                <a:solidFill>
                  <a:srgbClr val="142C40"/>
                </a:solidFill>
              </a:defRPr>
            </a:lvl9pPr>
          </a:lstStyle>
          <a:p xmlns:a="http://schemas.openxmlformats.org/drawingml/2006/main">
            <a:pPr>
              <a:buNone/>
              <a:defRPr sz="2175" b="0">
                <a:solidFill>
                  <a:srgbClr val="142C40"/>
                </a:solidFill>
              </a:defRPr>
            </a:pPr>
            <a:r>
              <a:rPr sz="2175" b="0">
                <a:solidFill>
                  <a:srgbClr val="142C40"/>
                </a:solidFill>
              </a:rPr>
              <a:t>Suy giảm làm thay đổi pixel, cấu trúc và màu như thế nào?</a:t>
            </a:r>
          </a:p>
        </p:txBody>
      </p:sp>
      <p:sp>
        <p:nvSpPr>
          <p:cNvPr id="6" name="Hình chữ nhật 5">
            <a:extLst xmlns:a="http://schemas.openxmlformats.org/drawingml/2006/main">
              <a:ext uri="{FF2B5EF4-FFF2-40B4-BE49-F238E27FC236}">
                <a16:creationId xmlns:a16="http://schemas.microsoft.com/office/drawing/2014/main" id="{61108145-0D0F-4CF0-BD29-4839B6FA5D24}"/>
              </a:ext>
            </a:extLst>
          </p:cNvPr>
          <p:cNvSpPr>
            <a:spLocks xmlns:a="http://schemas.openxmlformats.org/drawingml/2006/main" noGrp="1"/>
          </p:cNvSpPr>
          <p:nvPr/>
        </p:nvSpPr>
        <p:spPr>
          <a:xfrm xmlns:a="http://schemas.openxmlformats.org/drawingml/2006/main">
            <a:off x="619125" y="297180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vl1pPr>
              <a:defRPr sz="2175" b="0">
                <a:solidFill>
                  <a:srgbClr val="142C40"/>
                </a:solidFill>
              </a:defRPr>
            </a:lvl1pPr>
            <a:lvl2pPr>
              <a:defRPr sz="2175" b="0">
                <a:solidFill>
                  <a:srgbClr val="142C40"/>
                </a:solidFill>
              </a:defRPr>
            </a:lvl2pPr>
            <a:lvl3pPr>
              <a:defRPr sz="2175" b="0">
                <a:solidFill>
                  <a:srgbClr val="142C40"/>
                </a:solidFill>
              </a:defRPr>
            </a:lvl3pPr>
            <a:lvl4pPr>
              <a:defRPr sz="2175" b="0">
                <a:solidFill>
                  <a:srgbClr val="142C40"/>
                </a:solidFill>
              </a:defRPr>
            </a:lvl4pPr>
            <a:lvl5pPr>
              <a:defRPr sz="2175" b="0">
                <a:solidFill>
                  <a:srgbClr val="142C40"/>
                </a:solidFill>
              </a:defRPr>
            </a:lvl5pPr>
            <a:lvl6pPr>
              <a:defRPr sz="2175" b="0">
                <a:solidFill>
                  <a:srgbClr val="142C40"/>
                </a:solidFill>
              </a:defRPr>
            </a:lvl6pPr>
            <a:lvl7pPr>
              <a:defRPr sz="2175" b="0">
                <a:solidFill>
                  <a:srgbClr val="142C40"/>
                </a:solidFill>
              </a:defRPr>
            </a:lvl7pPr>
            <a:lvl8pPr>
              <a:defRPr sz="2175" b="0">
                <a:solidFill>
                  <a:srgbClr val="142C40"/>
                </a:solidFill>
              </a:defRPr>
            </a:lvl8pPr>
            <a:lvl9pPr>
              <a:defRPr sz="2175" b="0">
                <a:solidFill>
                  <a:srgbClr val="142C40"/>
                </a:solidFill>
              </a:defRPr>
            </a:lvl9pPr>
          </a:lstStyle>
          <a:p xmlns:a="http://schemas.openxmlformats.org/drawingml/2006/main">
            <a:pPr>
              <a:buNone/>
              <a:defRPr sz="2175" b="0">
                <a:solidFill>
                  <a:srgbClr val="142C40"/>
                </a:solidFill>
              </a:defRPr>
            </a:pPr>
            <a:r>
              <a:rPr sz="2175" b="0">
                <a:solidFill>
                  <a:srgbClr val="142C40"/>
                </a:solidFill>
              </a:rPr>
              <a:t>Kỹ thuật nào giảm nhiễu nhưng vẫn giữ được biên và chi tiết?</a:t>
            </a:r>
          </a:p>
        </p:txBody>
      </p:sp>
      <p:sp>
        <p:nvSpPr>
          <p:cNvPr id="7" name="Hình chữ nhật 6">
            <a:extLst xmlns:a="http://schemas.openxmlformats.org/drawingml/2006/main">
              <a:ext uri="{FF2B5EF4-FFF2-40B4-BE49-F238E27FC236}">
                <a16:creationId xmlns:a16="http://schemas.microsoft.com/office/drawing/2014/main" id="{15D3A625-8535-4306-B24B-BC6D66EBB7FB}"/>
              </a:ext>
            </a:extLst>
          </p:cNvPr>
          <p:cNvSpPr>
            <a:spLocks xmlns:a="http://schemas.openxmlformats.org/drawingml/2006/main" noGrp="1"/>
          </p:cNvSpPr>
          <p:nvPr/>
        </p:nvSpPr>
        <p:spPr>
          <a:xfrm xmlns:a="http://schemas.openxmlformats.org/drawingml/2006/main">
            <a:off x="619125" y="384810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vl1pPr>
              <a:defRPr sz="2175" b="0">
                <a:solidFill>
                  <a:srgbClr val="142C40"/>
                </a:solidFill>
              </a:defRPr>
            </a:lvl1pPr>
            <a:lvl2pPr>
              <a:defRPr sz="2175" b="0">
                <a:solidFill>
                  <a:srgbClr val="142C40"/>
                </a:solidFill>
              </a:defRPr>
            </a:lvl2pPr>
            <a:lvl3pPr>
              <a:defRPr sz="2175" b="0">
                <a:solidFill>
                  <a:srgbClr val="142C40"/>
                </a:solidFill>
              </a:defRPr>
            </a:lvl3pPr>
            <a:lvl4pPr>
              <a:defRPr sz="2175" b="0">
                <a:solidFill>
                  <a:srgbClr val="142C40"/>
                </a:solidFill>
              </a:defRPr>
            </a:lvl4pPr>
            <a:lvl5pPr>
              <a:defRPr sz="2175" b="0">
                <a:solidFill>
                  <a:srgbClr val="142C40"/>
                </a:solidFill>
              </a:defRPr>
            </a:lvl5pPr>
            <a:lvl6pPr>
              <a:defRPr sz="2175" b="0">
                <a:solidFill>
                  <a:srgbClr val="142C40"/>
                </a:solidFill>
              </a:defRPr>
            </a:lvl6pPr>
            <a:lvl7pPr>
              <a:defRPr sz="2175" b="0">
                <a:solidFill>
                  <a:srgbClr val="142C40"/>
                </a:solidFill>
              </a:defRPr>
            </a:lvl7pPr>
            <a:lvl8pPr>
              <a:defRPr sz="2175" b="0">
                <a:solidFill>
                  <a:srgbClr val="142C40"/>
                </a:solidFill>
              </a:defRPr>
            </a:lvl8pPr>
            <a:lvl9pPr>
              <a:defRPr sz="2175" b="0">
                <a:solidFill>
                  <a:srgbClr val="142C40"/>
                </a:solidFill>
              </a:defRPr>
            </a:lvl9pPr>
          </a:lstStyle>
          <a:p xmlns:a="http://schemas.openxmlformats.org/drawingml/2006/main">
            <a:pPr>
              <a:buNone/>
              <a:defRPr sz="2175" b="0">
                <a:solidFill>
                  <a:srgbClr val="142C40"/>
                </a:solidFill>
              </a:defRPr>
            </a:pPr>
            <a:r>
              <a:rPr sz="2175" b="0">
                <a:solidFill>
                  <a:srgbClr val="142C40"/>
                </a:solidFill>
              </a:rPr>
              <a:t>Chất lượng ảnh tốt hơn có giúp nhận diện tốt hơn?</a:t>
            </a:r>
          </a:p>
        </p:txBody>
      </p:sp>
      <p:sp>
        <p:nvSpPr>
          <p:cNvPr id="8" name="Hình chữ nhật 7">
            <a:extLst xmlns:a="http://schemas.openxmlformats.org/drawingml/2006/main">
              <a:ext uri="{FF2B5EF4-FFF2-40B4-BE49-F238E27FC236}">
                <a16:creationId xmlns:a16="http://schemas.microsoft.com/office/drawing/2014/main" id="{BC1A9C84-73C2-4A35-B1C4-4EE187A78675}"/>
              </a:ext>
            </a:extLst>
          </p:cNvPr>
          <p:cNvSpPr>
            <a:spLocks xmlns:a="http://schemas.openxmlformats.org/drawingml/2006/main" noGrp="1"/>
          </p:cNvSpPr>
          <p:nvPr/>
        </p:nvSpPr>
        <p:spPr>
          <a:xfrm xmlns:a="http://schemas.openxmlformats.org/drawingml/2006/main">
            <a:off x="619125" y="472440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vl1pPr>
              <a:defRPr sz="2175" b="0">
                <a:solidFill>
                  <a:srgbClr val="142C40"/>
                </a:solidFill>
              </a:defRPr>
            </a:lvl1pPr>
            <a:lvl2pPr>
              <a:defRPr sz="2175" b="0">
                <a:solidFill>
                  <a:srgbClr val="142C40"/>
                </a:solidFill>
              </a:defRPr>
            </a:lvl2pPr>
            <a:lvl3pPr>
              <a:defRPr sz="2175" b="0">
                <a:solidFill>
                  <a:srgbClr val="142C40"/>
                </a:solidFill>
              </a:defRPr>
            </a:lvl3pPr>
            <a:lvl4pPr>
              <a:defRPr sz="2175" b="0">
                <a:solidFill>
                  <a:srgbClr val="142C40"/>
                </a:solidFill>
              </a:defRPr>
            </a:lvl4pPr>
            <a:lvl5pPr>
              <a:defRPr sz="2175" b="0">
                <a:solidFill>
                  <a:srgbClr val="142C40"/>
                </a:solidFill>
              </a:defRPr>
            </a:lvl5pPr>
            <a:lvl6pPr>
              <a:defRPr sz="2175" b="0">
                <a:solidFill>
                  <a:srgbClr val="142C40"/>
                </a:solidFill>
              </a:defRPr>
            </a:lvl6pPr>
            <a:lvl7pPr>
              <a:defRPr sz="2175" b="0">
                <a:solidFill>
                  <a:srgbClr val="142C40"/>
                </a:solidFill>
              </a:defRPr>
            </a:lvl7pPr>
            <a:lvl8pPr>
              <a:defRPr sz="2175" b="0">
                <a:solidFill>
                  <a:srgbClr val="142C40"/>
                </a:solidFill>
              </a:defRPr>
            </a:lvl8pPr>
            <a:lvl9pPr>
              <a:defRPr sz="2175" b="0">
                <a:solidFill>
                  <a:srgbClr val="142C40"/>
                </a:solidFill>
              </a:defRPr>
            </a:lvl9pPr>
          </a:lstStyle>
          <a:p xmlns:a="http://schemas.openxmlformats.org/drawingml/2006/main">
            <a:pPr>
              <a:buNone/>
              <a:defRPr sz="2175" b="0">
                <a:solidFill>
                  <a:srgbClr val="142C40"/>
                </a:solidFill>
              </a:defRPr>
            </a:pPr>
            <a:r>
              <a:rPr sz="2175" b="0">
                <a:solidFill>
                  <a:srgbClr val="142C40"/>
                </a:solidFill>
              </a:rPr>
              <a:t>Phạm vi: 5 lớp hoa, suy giảm tổng hợp, một split và checkpoint.</a:t>
            </a:r>
          </a:p>
        </p:txBody>
      </p:sp>
    </p:spTree>
    <p:extLst>
      <p:ext uri="{BB962C8B-B14F-4D97-AF65-F5344CB8AC3E}">
        <p14:creationId xmlns:p14="http://schemas.microsoft.com/office/powerpoint/2010/main" val="173180728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Hình chữ nhật 8">
            <a:extLst xmlns:a="http://schemas.openxmlformats.org/drawingml/2006/main">
              <a:ext uri="{FF2B5EF4-FFF2-40B4-BE49-F238E27FC236}">
                <a16:creationId xmlns:a16="http://schemas.microsoft.com/office/drawing/2014/main" id="{BDB2E5AC-7D81-46DB-9C92-33F84C7C3F51}"/>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Quy trình xử lý và hai nhánh đánh giá</a:t>
            </a:r>
          </a:p>
        </p:txBody>
      </p:sp>
      <p:sp>
        <p:nvSpPr>
          <p:cNvPr id="2" name="Hình chữ nhật 1">
            <a:extLst xmlns:a="http://schemas.openxmlformats.org/drawingml/2006/main">
              <a:ext uri="{FF2B5EF4-FFF2-40B4-BE49-F238E27FC236}">
                <a16:creationId xmlns:a16="http://schemas.microsoft.com/office/drawing/2014/main" id="{688A0892-A420-44BE-B8A5-208DC456E84B}"/>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Tổng quan  Từ ảnh đầu vào đến hai kết quả đánh giá</a:t>
            </a:r>
          </a:p>
        </p:txBody>
      </p:sp>
      <p:sp>
        <p:nvSpPr>
          <p:cNvPr id="3" name="Hình chữ nhật 2">
            <a:extLst xmlns:a="http://schemas.openxmlformats.org/drawingml/2006/main">
              <a:ext uri="{FF2B5EF4-FFF2-40B4-BE49-F238E27FC236}">
                <a16:creationId xmlns:a16="http://schemas.microsoft.com/office/drawing/2014/main" id="{B6989741-8179-42F1-97E6-5221F11218C3}"/>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04</a:t>
            </a:r>
          </a:p>
        </p:txBody>
      </p:sp>
      <p:sp>
        <p:nvSpPr>
          <p:cNvPr id="4" name="Hình chữ nhật 3">
            <a:extLst xmlns:a="http://schemas.openxmlformats.org/drawingml/2006/main">
              <a:ext uri="{FF2B5EF4-FFF2-40B4-BE49-F238E27FC236}">
                <a16:creationId xmlns:a16="http://schemas.microsoft.com/office/drawing/2014/main" id="{3819FA45-D183-4E1E-B464-B5CDC6233277}"/>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sp>
        <p:nvSpPr>
          <p:cNvPr id="5" name="Hình chữ nhật 4">
            <a:extLst xmlns:a="http://schemas.openxmlformats.org/drawingml/2006/main">
              <a:ext uri="{FF2B5EF4-FFF2-40B4-BE49-F238E27FC236}">
                <a16:creationId xmlns:a16="http://schemas.microsoft.com/office/drawing/2014/main" id="{A2407CC7-C161-41CC-9FA1-BE371458AFFA}"/>
              </a:ext>
            </a:extLst>
          </p:cNvPr>
          <p:cNvSpPr>
            <a:spLocks xmlns:a="http://schemas.openxmlformats.org/drawingml/2006/main" noGrp="1"/>
          </p:cNvSpPr>
          <p:nvPr/>
        </p:nvSpPr>
        <p:spPr>
          <a:xfrm xmlns:a="http://schemas.openxmlformats.org/drawingml/2006/main">
            <a:off x="619125" y="20955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vl1pPr>
              <a:defRPr sz="2175" b="0">
                <a:solidFill>
                  <a:srgbClr val="142C40"/>
                </a:solidFill>
              </a:defRPr>
            </a:lvl1pPr>
            <a:lvl2pPr>
              <a:defRPr sz="2175" b="0">
                <a:solidFill>
                  <a:srgbClr val="142C40"/>
                </a:solidFill>
              </a:defRPr>
            </a:lvl2pPr>
            <a:lvl3pPr>
              <a:defRPr sz="2175" b="0">
                <a:solidFill>
                  <a:srgbClr val="142C40"/>
                </a:solidFill>
              </a:defRPr>
            </a:lvl3pPr>
            <a:lvl4pPr>
              <a:defRPr sz="2175" b="0">
                <a:solidFill>
                  <a:srgbClr val="142C40"/>
                </a:solidFill>
              </a:defRPr>
            </a:lvl4pPr>
            <a:lvl5pPr>
              <a:defRPr sz="2175" b="0">
                <a:solidFill>
                  <a:srgbClr val="142C40"/>
                </a:solidFill>
              </a:defRPr>
            </a:lvl5pPr>
            <a:lvl6pPr>
              <a:defRPr sz="2175" b="0">
                <a:solidFill>
                  <a:srgbClr val="142C40"/>
                </a:solidFill>
              </a:defRPr>
            </a:lvl6pPr>
            <a:lvl7pPr>
              <a:defRPr sz="2175" b="0">
                <a:solidFill>
                  <a:srgbClr val="142C40"/>
                </a:solidFill>
              </a:defRPr>
            </a:lvl7pPr>
            <a:lvl8pPr>
              <a:defRPr sz="2175" b="0">
                <a:solidFill>
                  <a:srgbClr val="142C40"/>
                </a:solidFill>
              </a:defRPr>
            </a:lvl8pPr>
            <a:lvl9pPr>
              <a:defRPr sz="2175" b="0">
                <a:solidFill>
                  <a:srgbClr val="142C40"/>
                </a:solidFill>
              </a:defRPr>
            </a:lvl9pPr>
          </a:lstStyle>
          <a:p xmlns:a="http://schemas.openxmlformats.org/drawingml/2006/main">
            <a:pPr>
              <a:buNone/>
              <a:defRPr sz="2175" b="0">
                <a:solidFill>
                  <a:srgbClr val="142C40"/>
                </a:solidFill>
              </a:defRPr>
            </a:pPr>
            <a:r>
              <a:rPr sz="2175" b="0">
                <a:solidFill>
                  <a:srgbClr val="142C40"/>
                </a:solidFill>
              </a:rPr>
              <a:t>Ảnh gốc → tiền xử lý 224 × 224 → mô phỏng suy giảm.</a:t>
            </a:r>
          </a:p>
        </p:txBody>
      </p:sp>
      <p:sp>
        <p:nvSpPr>
          <p:cNvPr id="6" name="Hình chữ nhật 5">
            <a:extLst xmlns:a="http://schemas.openxmlformats.org/drawingml/2006/main">
              <a:ext uri="{FF2B5EF4-FFF2-40B4-BE49-F238E27FC236}">
                <a16:creationId xmlns:a16="http://schemas.microsoft.com/office/drawing/2014/main" id="{E7E7E0DA-9339-4D9A-BF4F-473D51AC7AF6}"/>
              </a:ext>
            </a:extLst>
          </p:cNvPr>
          <p:cNvSpPr>
            <a:spLocks xmlns:a="http://schemas.openxmlformats.org/drawingml/2006/main" noGrp="1"/>
          </p:cNvSpPr>
          <p:nvPr/>
        </p:nvSpPr>
        <p:spPr>
          <a:xfrm xmlns:a="http://schemas.openxmlformats.org/drawingml/2006/main">
            <a:off x="619125" y="29718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vl1pPr>
              <a:defRPr sz="2175" b="0">
                <a:solidFill>
                  <a:srgbClr val="142C40"/>
                </a:solidFill>
              </a:defRPr>
            </a:lvl1pPr>
            <a:lvl2pPr>
              <a:defRPr sz="2175" b="0">
                <a:solidFill>
                  <a:srgbClr val="142C40"/>
                </a:solidFill>
              </a:defRPr>
            </a:lvl2pPr>
            <a:lvl3pPr>
              <a:defRPr sz="2175" b="0">
                <a:solidFill>
                  <a:srgbClr val="142C40"/>
                </a:solidFill>
              </a:defRPr>
            </a:lvl3pPr>
            <a:lvl4pPr>
              <a:defRPr sz="2175" b="0">
                <a:solidFill>
                  <a:srgbClr val="142C40"/>
                </a:solidFill>
              </a:defRPr>
            </a:lvl4pPr>
            <a:lvl5pPr>
              <a:defRPr sz="2175" b="0">
                <a:solidFill>
                  <a:srgbClr val="142C40"/>
                </a:solidFill>
              </a:defRPr>
            </a:lvl5pPr>
            <a:lvl6pPr>
              <a:defRPr sz="2175" b="0">
                <a:solidFill>
                  <a:srgbClr val="142C40"/>
                </a:solidFill>
              </a:defRPr>
            </a:lvl6pPr>
            <a:lvl7pPr>
              <a:defRPr sz="2175" b="0">
                <a:solidFill>
                  <a:srgbClr val="142C40"/>
                </a:solidFill>
              </a:defRPr>
            </a:lvl7pPr>
            <a:lvl8pPr>
              <a:defRPr sz="2175" b="0">
                <a:solidFill>
                  <a:srgbClr val="142C40"/>
                </a:solidFill>
              </a:defRPr>
            </a:lvl8pPr>
            <a:lvl9pPr>
              <a:defRPr sz="2175" b="0">
                <a:solidFill>
                  <a:srgbClr val="142C40"/>
                </a:solidFill>
              </a:defRPr>
            </a:lvl9pPr>
          </a:lstStyle>
          <a:p xmlns:a="http://schemas.openxmlformats.org/drawingml/2006/main">
            <a:pPr>
              <a:buNone/>
              <a:defRPr sz="2175" b="0">
                <a:solidFill>
                  <a:srgbClr val="142C40"/>
                </a:solidFill>
              </a:defRPr>
            </a:pPr>
            <a:r>
              <a:rPr sz="2175" b="0">
                <a:solidFill>
                  <a:srgbClr val="142C40"/>
                </a:solidFill>
              </a:rPr>
              <a:t>Ảnh suy giảm → từng phương pháp xử lý → ảnh sau xử lý.</a:t>
            </a:r>
          </a:p>
        </p:txBody>
      </p:sp>
      <p:sp>
        <p:nvSpPr>
          <p:cNvPr id="7" name="Hình chữ nhật 6">
            <a:extLst xmlns:a="http://schemas.openxmlformats.org/drawingml/2006/main">
              <a:ext uri="{FF2B5EF4-FFF2-40B4-BE49-F238E27FC236}">
                <a16:creationId xmlns:a16="http://schemas.microsoft.com/office/drawing/2014/main" id="{B7C138EC-321D-47C4-B5D3-16E08DBEC313}"/>
              </a:ext>
            </a:extLst>
          </p:cNvPr>
          <p:cNvSpPr>
            <a:spLocks xmlns:a="http://schemas.openxmlformats.org/drawingml/2006/main" noGrp="1"/>
          </p:cNvSpPr>
          <p:nvPr/>
        </p:nvSpPr>
        <p:spPr>
          <a:xfrm xmlns:a="http://schemas.openxmlformats.org/drawingml/2006/main">
            <a:off x="619125" y="38481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vl1pPr>
              <a:defRPr sz="2175" b="0">
                <a:solidFill>
                  <a:srgbClr val="142C40"/>
                </a:solidFill>
              </a:defRPr>
            </a:lvl1pPr>
            <a:lvl2pPr>
              <a:defRPr sz="2175" b="0">
                <a:solidFill>
                  <a:srgbClr val="142C40"/>
                </a:solidFill>
              </a:defRPr>
            </a:lvl2pPr>
            <a:lvl3pPr>
              <a:defRPr sz="2175" b="0">
                <a:solidFill>
                  <a:srgbClr val="142C40"/>
                </a:solidFill>
              </a:defRPr>
            </a:lvl3pPr>
            <a:lvl4pPr>
              <a:defRPr sz="2175" b="0">
                <a:solidFill>
                  <a:srgbClr val="142C40"/>
                </a:solidFill>
              </a:defRPr>
            </a:lvl4pPr>
            <a:lvl5pPr>
              <a:defRPr sz="2175" b="0">
                <a:solidFill>
                  <a:srgbClr val="142C40"/>
                </a:solidFill>
              </a:defRPr>
            </a:lvl5pPr>
            <a:lvl6pPr>
              <a:defRPr sz="2175" b="0">
                <a:solidFill>
                  <a:srgbClr val="142C40"/>
                </a:solidFill>
              </a:defRPr>
            </a:lvl6pPr>
            <a:lvl7pPr>
              <a:defRPr sz="2175" b="0">
                <a:solidFill>
                  <a:srgbClr val="142C40"/>
                </a:solidFill>
              </a:defRPr>
            </a:lvl7pPr>
            <a:lvl8pPr>
              <a:defRPr sz="2175" b="0">
                <a:solidFill>
                  <a:srgbClr val="142C40"/>
                </a:solidFill>
              </a:defRPr>
            </a:lvl8pPr>
            <a:lvl9pPr>
              <a:defRPr sz="2175" b="0">
                <a:solidFill>
                  <a:srgbClr val="142C40"/>
                </a:solidFill>
              </a:defRPr>
            </a:lvl9pPr>
          </a:lstStyle>
          <a:p xmlns:a="http://schemas.openxmlformats.org/drawingml/2006/main">
            <a:pPr>
              <a:buNone/>
              <a:defRPr sz="2175" b="0">
                <a:solidFill>
                  <a:srgbClr val="142C40"/>
                </a:solidFill>
              </a:defRPr>
            </a:pPr>
            <a:r>
              <a:rPr sz="2175" b="0">
                <a:solidFill>
                  <a:srgbClr val="142C40"/>
                </a:solidFill>
              </a:rPr>
              <a:t>Chất lượng ảnh: so với ảnh sạch bằng PSNR, SSIM và ΔE.</a:t>
            </a:r>
          </a:p>
        </p:txBody>
      </p:sp>
      <p:sp>
        <p:nvSpPr>
          <p:cNvPr id="8" name="Hình chữ nhật 7">
            <a:extLst xmlns:a="http://schemas.openxmlformats.org/drawingml/2006/main">
              <a:ext uri="{FF2B5EF4-FFF2-40B4-BE49-F238E27FC236}">
                <a16:creationId xmlns:a16="http://schemas.microsoft.com/office/drawing/2014/main" id="{4F4774E8-B230-43F6-8FFF-9DF9DDFA7F04}"/>
              </a:ext>
            </a:extLst>
          </p:cNvPr>
          <p:cNvSpPr>
            <a:spLocks xmlns:a="http://schemas.openxmlformats.org/drawingml/2006/main" noGrp="1"/>
          </p:cNvSpPr>
          <p:nvPr/>
        </p:nvSpPr>
        <p:spPr>
          <a:xfrm xmlns:a="http://schemas.openxmlformats.org/drawingml/2006/main">
            <a:off x="619125" y="47244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vl1pPr>
              <a:defRPr sz="2175" b="0">
                <a:solidFill>
                  <a:srgbClr val="142C40"/>
                </a:solidFill>
              </a:defRPr>
            </a:lvl1pPr>
            <a:lvl2pPr>
              <a:defRPr sz="2175" b="0">
                <a:solidFill>
                  <a:srgbClr val="142C40"/>
                </a:solidFill>
              </a:defRPr>
            </a:lvl2pPr>
            <a:lvl3pPr>
              <a:defRPr sz="2175" b="0">
                <a:solidFill>
                  <a:srgbClr val="142C40"/>
                </a:solidFill>
              </a:defRPr>
            </a:lvl3pPr>
            <a:lvl4pPr>
              <a:defRPr sz="2175" b="0">
                <a:solidFill>
                  <a:srgbClr val="142C40"/>
                </a:solidFill>
              </a:defRPr>
            </a:lvl4pPr>
            <a:lvl5pPr>
              <a:defRPr sz="2175" b="0">
                <a:solidFill>
                  <a:srgbClr val="142C40"/>
                </a:solidFill>
              </a:defRPr>
            </a:lvl5pPr>
            <a:lvl6pPr>
              <a:defRPr sz="2175" b="0">
                <a:solidFill>
                  <a:srgbClr val="142C40"/>
                </a:solidFill>
              </a:defRPr>
            </a:lvl6pPr>
            <a:lvl7pPr>
              <a:defRPr sz="2175" b="0">
                <a:solidFill>
                  <a:srgbClr val="142C40"/>
                </a:solidFill>
              </a:defRPr>
            </a:lvl7pPr>
            <a:lvl8pPr>
              <a:defRPr sz="2175" b="0">
                <a:solidFill>
                  <a:srgbClr val="142C40"/>
                </a:solidFill>
              </a:defRPr>
            </a:lvl8pPr>
            <a:lvl9pPr>
              <a:defRPr sz="2175" b="0">
                <a:solidFill>
                  <a:srgbClr val="142C40"/>
                </a:solidFill>
              </a:defRPr>
            </a:lvl9pPr>
          </a:lstStyle>
          <a:p xmlns:a="http://schemas.openxmlformats.org/drawingml/2006/main">
            <a:pPr>
              <a:buNone/>
              <a:defRPr sz="2175" b="0">
                <a:solidFill>
                  <a:srgbClr val="142C40"/>
                </a:solidFill>
              </a:defRPr>
            </a:pPr>
            <a:r>
              <a:rPr sz="2175" b="0">
                <a:solidFill>
                  <a:srgbClr val="142C40"/>
                </a:solidFill>
              </a:rPr>
              <a:t>Nhận diện: cùng MobileNetV2 → nhãn và Macro F1.</a:t>
            </a:r>
          </a:p>
        </p:txBody>
      </p:sp>
    </p:spTree>
    <p:extLst>
      <p:ext uri="{BB962C8B-B14F-4D97-AF65-F5344CB8AC3E}">
        <p14:creationId xmlns:p14="http://schemas.microsoft.com/office/powerpoint/2010/main" val="49710918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Hình chữ nhật 6">
            <a:extLst xmlns:a="http://schemas.openxmlformats.org/drawingml/2006/main">
              <a:ext uri="{FF2B5EF4-FFF2-40B4-BE49-F238E27FC236}">
                <a16:creationId xmlns:a16="http://schemas.microsoft.com/office/drawing/2014/main" id="{9561F769-3F5C-4291-8897-19DC25E05993}"/>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Dữ liệu và chia tập theo nhóm hash</a:t>
            </a:r>
          </a:p>
        </p:txBody>
      </p:sp>
      <p:sp>
        <p:nvSpPr>
          <p:cNvPr id="2" name="Hình chữ nhật 1">
            <a:extLst xmlns:a="http://schemas.openxmlformats.org/drawingml/2006/main">
              <a:ext uri="{FF2B5EF4-FFF2-40B4-BE49-F238E27FC236}">
                <a16:creationId xmlns:a16="http://schemas.microsoft.com/office/drawing/2014/main" id="{1D712D75-C1C7-48F2-90B6-E772393A8123}"/>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Chương 3  Dữ liệu và phân tích khám phá</a:t>
            </a:r>
          </a:p>
        </p:txBody>
      </p:sp>
      <p:sp>
        <p:nvSpPr>
          <p:cNvPr id="3" name="Hình chữ nhật 2">
            <a:extLst xmlns:a="http://schemas.openxmlformats.org/drawingml/2006/main">
              <a:ext uri="{FF2B5EF4-FFF2-40B4-BE49-F238E27FC236}">
                <a16:creationId xmlns:a16="http://schemas.microsoft.com/office/drawing/2014/main" id="{A059DEEB-FD10-4DBA-82BA-38A9283063C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05</a:t>
            </a:r>
          </a:p>
        </p:txBody>
      </p:sp>
      <p:sp>
        <p:nvSpPr>
          <p:cNvPr id="4" name="Hình chữ nhật 3">
            <a:extLst xmlns:a="http://schemas.openxmlformats.org/drawingml/2006/main">
              <a:ext uri="{FF2B5EF4-FFF2-40B4-BE49-F238E27FC236}">
                <a16:creationId xmlns:a16="http://schemas.microsoft.com/office/drawing/2014/main" id="{C568892E-6739-4984-9F9B-B8E08FD1BB3D}"/>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graphicFrame>
        <p:nvGraphicFramePr>
          <p:cNvPr id="5" name="Bảng 4">
            <a:extLst xmlns:a="http://schemas.openxmlformats.org/drawingml/2006/main">
              <a:ext uri="{FF2B5EF4-FFF2-40B4-BE49-F238E27FC236}">
                <a16:creationId xmlns:a16="http://schemas.microsoft.com/office/drawing/2014/main" id="{3671AC7B-07CD-4B24-9100-144EB0A5BB7C}"/>
              </a:ext>
            </a:extLst>
          </p:cNvPr>
          <p:cNvGraphicFramePr/>
          <p:nvPr/>
        </p:nvGraphicFramePr>
        <p:xfrm>
          <a:off xmlns:a="http://schemas.openxmlformats.org/drawingml/2006/main" x="619125" y="1952625"/>
          <a:ext xmlns:a="http://schemas.openxmlformats.org/drawingml/2006/main" cx="10953750" cy="3333750"/>
        </p:xfrm>
        <a:graphic xmlns:a="http://schemas.openxmlformats.org/drawingml/2006/main">
          <a:graphicData uri="http://schemas.openxmlformats.org/drawingml/2006/table">
            <a:tbl>
              <a:tblPr/>
              <a:tblGrid>
                <a:gridCol w="2952750"/>
                <a:gridCol w="2000250"/>
                <a:gridCol w="2000250"/>
                <a:gridCol w="2000250"/>
                <a:gridCol w="2000250"/>
              </a:tblGrid>
              <a:tr h="476250">
                <a:tc>
                  <a:txBody>
                    <a:bodyPr/>
                    <a:lstStyle/>
                    <a:p>
                      <a:r>
                        <a:rPr sz="1800" b="1">
                          <a:solidFill>
                            <a:srgbClr val="FFFFFF"/>
                          </a:solidFill>
                        </a:rPr>
                        <a:t>Lớp</a:t>
                      </a:r>
                    </a:p>
                  </a:txBody>
                  <a:tcPr marL="91440" marR="91440" marT="45720" marB="45720">
                    <a:lnL w="9525">
                      <a:solidFill>
                        <a:srgbClr val="D9D9D9"/>
                      </a:solidFill>
                      <a:prstDash val="solid"/>
                    </a:lnL>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c>
                  <a:txBody>
                    <a:bodyPr/>
                    <a:lstStyle/>
                    <a:p>
                      <a:r>
                        <a:rPr sz="1800" b="1">
                          <a:solidFill>
                            <a:srgbClr val="FFFFFF"/>
                          </a:solidFill>
                        </a:rPr>
                        <a:t>Tổng</a:t>
                      </a:r>
                    </a:p>
                  </a:txBody>
                  <a:tcPr marL="91440" marR="91440" marT="45720" marB="45720">
                    <a:lnL w="9525" cmpd="sng">
                      <a:solidFill>
                        <a:srgbClr val="D9D9D9"/>
                      </a:solidFill>
                      <a:prstDash val="solid"/>
                    </a:lnL>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c>
                  <a:txBody>
                    <a:bodyPr/>
                    <a:lstStyle/>
                    <a:p>
                      <a:r>
                        <a:rPr sz="1800" b="1">
                          <a:solidFill>
                            <a:srgbClr val="FFFFFF"/>
                          </a:solidFill>
                        </a:rPr>
                        <a:t>Train</a:t>
                      </a:r>
                    </a:p>
                  </a:txBody>
                  <a:tcPr marL="91440" marR="91440" marT="45720" marB="45720">
                    <a:lnL w="9525" cmpd="sng">
                      <a:solidFill>
                        <a:srgbClr val="D9D9D9"/>
                      </a:solidFill>
                      <a:prstDash val="solid"/>
                    </a:lnL>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c>
                  <a:txBody>
                    <a:bodyPr/>
                    <a:lstStyle/>
                    <a:p>
                      <a:r>
                        <a:rPr sz="1800" b="1">
                          <a:solidFill>
                            <a:srgbClr val="FFFFFF"/>
                          </a:solidFill>
                        </a:rPr>
                        <a:t>Validation</a:t>
                      </a:r>
                    </a:p>
                  </a:txBody>
                  <a:tcPr marL="91440" marR="91440" marT="45720" marB="45720">
                    <a:lnL w="9525" cmpd="sng">
                      <a:solidFill>
                        <a:srgbClr val="D9D9D9"/>
                      </a:solidFill>
                      <a:prstDash val="solid"/>
                    </a:lnL>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c>
                  <a:txBody>
                    <a:bodyPr/>
                    <a:lstStyle/>
                    <a:p>
                      <a:r>
                        <a:rPr sz="1800" b="1">
                          <a:solidFill>
                            <a:srgbClr val="FFFFFF"/>
                          </a:solidFill>
                        </a:rPr>
                        <a:t>Test</a:t>
                      </a:r>
                    </a:p>
                  </a:txBody>
                  <a:tcPr marL="91440" marR="91440" marT="45720" marB="45720">
                    <a:lnL w="9525" cmpd="sng">
                      <a:solidFill>
                        <a:srgbClr val="D9D9D9"/>
                      </a:solidFill>
                      <a:prstDash val="solid"/>
                    </a:lnL>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r>
              <a:tr h="476250">
                <a:tc>
                  <a:txBody>
                    <a:bodyPr/>
                    <a:lstStyle/>
                    <a:p>
                      <a:r>
                        <a:rPr sz="1800" b="0">
                          <a:solidFill>
                            <a:srgbClr val="142C40"/>
                          </a:solidFill>
                        </a:rPr>
                        <a:t>daisy</a:t>
                      </a:r>
                    </a:p>
                  </a:txBody>
                  <a:tcPr marL="91440" marR="91440" marT="45720" marB="45720">
                    <a:lnL w="9525">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633</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445</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94</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94</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r>
              <a:tr h="476250">
                <a:tc>
                  <a:txBody>
                    <a:bodyPr/>
                    <a:lstStyle/>
                    <a:p>
                      <a:r>
                        <a:rPr sz="1800" b="0">
                          <a:solidFill>
                            <a:srgbClr val="142C40"/>
                          </a:solidFill>
                        </a:rPr>
                        <a:t>dandelion</a:t>
                      </a:r>
                    </a:p>
                  </a:txBody>
                  <a:tcPr marL="91440" marR="91440" marT="45720" marB="45720">
                    <a:lnL w="9525">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c>
                  <a:txBody>
                    <a:bodyPr/>
                    <a:lstStyle/>
                    <a:p>
                      <a:r>
                        <a:rPr sz="1800" b="0">
                          <a:solidFill>
                            <a:srgbClr val="142C40"/>
                          </a:solidFill>
                        </a:rPr>
                        <a:t>898</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c>
                  <a:txBody>
                    <a:bodyPr/>
                    <a:lstStyle/>
                    <a:p>
                      <a:r>
                        <a:rPr sz="1800" b="0">
                          <a:solidFill>
                            <a:srgbClr val="142C40"/>
                          </a:solidFill>
                        </a:rPr>
                        <a:t>628</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c>
                  <a:txBody>
                    <a:bodyPr/>
                    <a:lstStyle/>
                    <a:p>
                      <a:r>
                        <a:rPr sz="1800" b="0">
                          <a:solidFill>
                            <a:srgbClr val="142C40"/>
                          </a:solidFill>
                        </a:rPr>
                        <a:t>135</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c>
                  <a:txBody>
                    <a:bodyPr/>
                    <a:lstStyle/>
                    <a:p>
                      <a:r>
                        <a:rPr sz="1800" b="0">
                          <a:solidFill>
                            <a:srgbClr val="142C40"/>
                          </a:solidFill>
                        </a:rPr>
                        <a:t>135</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r>
              <a:tr h="476250">
                <a:tc>
                  <a:txBody>
                    <a:bodyPr/>
                    <a:lstStyle/>
                    <a:p>
                      <a:r>
                        <a:rPr sz="1800" b="0">
                          <a:solidFill>
                            <a:srgbClr val="142C40"/>
                          </a:solidFill>
                        </a:rPr>
                        <a:t>roses</a:t>
                      </a:r>
                    </a:p>
                  </a:txBody>
                  <a:tcPr marL="91440" marR="91440" marT="45720" marB="45720">
                    <a:lnL w="9525">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641</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449</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96</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96</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r>
              <a:tr h="476250">
                <a:tc>
                  <a:txBody>
                    <a:bodyPr/>
                    <a:lstStyle/>
                    <a:p>
                      <a:r>
                        <a:rPr sz="1800" b="0">
                          <a:solidFill>
                            <a:srgbClr val="142C40"/>
                          </a:solidFill>
                        </a:rPr>
                        <a:t>sunflowers</a:t>
                      </a:r>
                    </a:p>
                  </a:txBody>
                  <a:tcPr marL="91440" marR="91440" marT="45720" marB="45720">
                    <a:lnL w="9525">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c>
                  <a:txBody>
                    <a:bodyPr/>
                    <a:lstStyle/>
                    <a:p>
                      <a:r>
                        <a:rPr sz="1800" b="0">
                          <a:solidFill>
                            <a:srgbClr val="142C40"/>
                          </a:solidFill>
                        </a:rPr>
                        <a:t>699</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c>
                  <a:txBody>
                    <a:bodyPr/>
                    <a:lstStyle/>
                    <a:p>
                      <a:r>
                        <a:rPr sz="1800" b="0">
                          <a:solidFill>
                            <a:srgbClr val="142C40"/>
                          </a:solidFill>
                        </a:rPr>
                        <a:t>490</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c>
                  <a:txBody>
                    <a:bodyPr/>
                    <a:lstStyle/>
                    <a:p>
                      <a:r>
                        <a:rPr sz="1800" b="0">
                          <a:solidFill>
                            <a:srgbClr val="142C40"/>
                          </a:solidFill>
                        </a:rPr>
                        <a:t>104</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c>
                  <a:txBody>
                    <a:bodyPr/>
                    <a:lstStyle/>
                    <a:p>
                      <a:r>
                        <a:rPr sz="1800" b="0">
                          <a:solidFill>
                            <a:srgbClr val="142C40"/>
                          </a:solidFill>
                        </a:rPr>
                        <a:t>105</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r>
              <a:tr h="476250">
                <a:tc>
                  <a:txBody>
                    <a:bodyPr/>
                    <a:lstStyle/>
                    <a:p>
                      <a:r>
                        <a:rPr sz="1800" b="0">
                          <a:solidFill>
                            <a:srgbClr val="142C40"/>
                          </a:solidFill>
                        </a:rPr>
                        <a:t>tulips</a:t>
                      </a:r>
                    </a:p>
                  </a:txBody>
                  <a:tcPr marL="91440" marR="91440" marT="45720" marB="45720">
                    <a:lnL w="9525">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799</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559</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120</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120</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r>
              <a:tr h="476250">
                <a:tc>
                  <a:txBody>
                    <a:bodyPr/>
                    <a:lstStyle/>
                    <a:p>
                      <a:r>
                        <a:rPr sz="1800" b="0">
                          <a:solidFill>
                            <a:srgbClr val="142C40"/>
                          </a:solidFill>
                        </a:rPr>
                        <a:t>Tổng</a:t>
                      </a:r>
                    </a:p>
                  </a:txBody>
                  <a:tcPr marL="91440" marR="91440" marT="45720" marB="45720">
                    <a:lnL w="9525">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c>
                  <a:txBody>
                    <a:bodyPr/>
                    <a:lstStyle/>
                    <a:p>
                      <a:r>
                        <a:rPr sz="1800" b="0">
                          <a:solidFill>
                            <a:srgbClr val="142C40"/>
                          </a:solidFill>
                        </a:rPr>
                        <a:t>3.670</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c>
                  <a:txBody>
                    <a:bodyPr/>
                    <a:lstStyle/>
                    <a:p>
                      <a:r>
                        <a:rPr sz="1800" b="0">
                          <a:solidFill>
                            <a:srgbClr val="142C40"/>
                          </a:solidFill>
                        </a:rPr>
                        <a:t>2.571</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c>
                  <a:txBody>
                    <a:bodyPr/>
                    <a:lstStyle/>
                    <a:p>
                      <a:r>
                        <a:rPr sz="1800" b="0">
                          <a:solidFill>
                            <a:srgbClr val="142C40"/>
                          </a:solidFill>
                        </a:rPr>
                        <a:t>549</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c>
                  <a:txBody>
                    <a:bodyPr/>
                    <a:lstStyle/>
                    <a:p>
                      <a:r>
                        <a:rPr sz="1800" b="0">
                          <a:solidFill>
                            <a:srgbClr val="142C40"/>
                          </a:solidFill>
                        </a:rPr>
                        <a:t>550</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r>
            </a:tbl>
          </a:graphicData>
        </a:graphic>
      </p:graphicFrame>
      <p:sp>
        <p:nvSpPr>
          <p:cNvPr id="6" name="Hình chữ nhật 5">
            <a:extLst xmlns:a="http://schemas.openxmlformats.org/drawingml/2006/main">
              <a:ext uri="{FF2B5EF4-FFF2-40B4-BE49-F238E27FC236}">
                <a16:creationId xmlns:a16="http://schemas.microsoft.com/office/drawing/2014/main" id="{46EFEE9E-59B1-48A5-854B-D03907D7C016}"/>
              </a:ext>
            </a:extLst>
          </p:cNvPr>
          <p:cNvSpPr>
            <a:spLocks xmlns:a="http://schemas.openxmlformats.org/drawingml/2006/main" noGrp="1"/>
          </p:cNvSpPr>
          <p:nvPr/>
        </p:nvSpPr>
        <p:spPr>
          <a:xfrm xmlns:a="http://schemas.openxmlformats.org/drawingml/2006/main">
            <a:off x="619125" y="56197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46C64"/>
                </a:solidFill>
              </a:defRPr>
            </a:defPPr>
            <a:lvl1pPr>
              <a:defRPr sz="1800" b="0">
                <a:solidFill>
                  <a:srgbClr val="146C64"/>
                </a:solidFill>
              </a:defRPr>
            </a:lvl1pPr>
            <a:lvl2pPr>
              <a:defRPr sz="1800" b="0">
                <a:solidFill>
                  <a:srgbClr val="146C64"/>
                </a:solidFill>
              </a:defRPr>
            </a:lvl2pPr>
            <a:lvl3pPr>
              <a:defRPr sz="1800" b="0">
                <a:solidFill>
                  <a:srgbClr val="146C64"/>
                </a:solidFill>
              </a:defRPr>
            </a:lvl3pPr>
            <a:lvl4pPr>
              <a:defRPr sz="1800" b="0">
                <a:solidFill>
                  <a:srgbClr val="146C64"/>
                </a:solidFill>
              </a:defRPr>
            </a:lvl4pPr>
            <a:lvl5pPr>
              <a:defRPr sz="1800" b="0">
                <a:solidFill>
                  <a:srgbClr val="146C64"/>
                </a:solidFill>
              </a:defRPr>
            </a:lvl5pPr>
            <a:lvl6pPr>
              <a:defRPr sz="1800" b="0">
                <a:solidFill>
                  <a:srgbClr val="146C64"/>
                </a:solidFill>
              </a:defRPr>
            </a:lvl6pPr>
            <a:lvl7pPr>
              <a:defRPr sz="1800" b="0">
                <a:solidFill>
                  <a:srgbClr val="146C64"/>
                </a:solidFill>
              </a:defRPr>
            </a:lvl7pPr>
            <a:lvl8pPr>
              <a:defRPr sz="1800" b="0">
                <a:solidFill>
                  <a:srgbClr val="146C64"/>
                </a:solidFill>
              </a:defRPr>
            </a:lvl8pPr>
            <a:lvl9pPr>
              <a:defRPr sz="1800" b="0">
                <a:solidFill>
                  <a:srgbClr val="146C64"/>
                </a:solidFill>
              </a:defRPr>
            </a:lvl9pPr>
          </a:lstStyle>
          <a:p xmlns:a="http://schemas.openxmlformats.org/drawingml/2006/main">
            <a:pPr>
              <a:buNone/>
              <a:defRPr sz="1800" b="0">
                <a:solidFill>
                  <a:srgbClr val="146C64"/>
                </a:solidFill>
              </a:defRPr>
            </a:pPr>
            <a:r>
              <a:rPr sz="1800" b="0">
                <a:solidFill>
                  <a:srgbClr val="146C64"/>
                </a:solidFill>
              </a:rPr>
              <a:t>0 ảnh lỗi  ·  3 nhóm trùng hash  ·  1 nhóm chéo nhãn  ·  seed 42</a:t>
            </a:r>
          </a:p>
        </p:txBody>
      </p:sp>
    </p:spTree>
    <p:extLst>
      <p:ext uri="{BB962C8B-B14F-4D97-AF65-F5344CB8AC3E}">
        <p14:creationId xmlns:p14="http://schemas.microsoft.com/office/powerpoint/2010/main" val="163346207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Hình chữ nhật 8">
            <a:extLst xmlns:a="http://schemas.openxmlformats.org/drawingml/2006/main">
              <a:ext uri="{FF2B5EF4-FFF2-40B4-BE49-F238E27FC236}">
                <a16:creationId xmlns:a16="http://schemas.microsoft.com/office/drawing/2014/main" id="{3A052FC0-D141-46B0-92A8-A5EFD25A2FE3}"/>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Tiền xử lý thống nhất cho mọi ảnh</a:t>
            </a:r>
          </a:p>
        </p:txBody>
      </p:sp>
      <p:sp>
        <p:nvSpPr>
          <p:cNvPr id="2" name="Hình chữ nhật 1">
            <a:extLst xmlns:a="http://schemas.openxmlformats.org/drawingml/2006/main">
              <a:ext uri="{FF2B5EF4-FFF2-40B4-BE49-F238E27FC236}">
                <a16:creationId xmlns:a16="http://schemas.microsoft.com/office/drawing/2014/main" id="{98B2FC95-78C5-496B-B6E3-13C0D3893294}"/>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Chương 3 và mục 4.1</a:t>
            </a:r>
          </a:p>
        </p:txBody>
      </p:sp>
      <p:sp>
        <p:nvSpPr>
          <p:cNvPr id="3" name="Hình chữ nhật 2">
            <a:extLst xmlns:a="http://schemas.openxmlformats.org/drawingml/2006/main">
              <a:ext uri="{FF2B5EF4-FFF2-40B4-BE49-F238E27FC236}">
                <a16:creationId xmlns:a16="http://schemas.microsoft.com/office/drawing/2014/main" id="{C17D8A02-C350-4480-9F74-E586DFA2A302}"/>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06</a:t>
            </a:r>
          </a:p>
        </p:txBody>
      </p:sp>
      <p:sp>
        <p:nvSpPr>
          <p:cNvPr id="4" name="Hình chữ nhật 3">
            <a:extLst xmlns:a="http://schemas.openxmlformats.org/drawingml/2006/main">
              <a:ext uri="{FF2B5EF4-FFF2-40B4-BE49-F238E27FC236}">
                <a16:creationId xmlns:a16="http://schemas.microsoft.com/office/drawing/2014/main" id="{AE3ED98B-387A-4348-BAC0-CD697B2E123F}"/>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sp>
        <p:nvSpPr>
          <p:cNvPr id="5" name="Hình chữ nhật 4">
            <a:extLst xmlns:a="http://schemas.openxmlformats.org/drawingml/2006/main">
              <a:ext uri="{FF2B5EF4-FFF2-40B4-BE49-F238E27FC236}">
                <a16:creationId xmlns:a16="http://schemas.microsoft.com/office/drawing/2014/main" id="{89A06421-602A-404B-ADC6-FEBB33B53568}"/>
              </a:ext>
            </a:extLst>
          </p:cNvPr>
          <p:cNvSpPr>
            <a:spLocks xmlns:a="http://schemas.openxmlformats.org/drawingml/2006/main" noGrp="1"/>
          </p:cNvSpPr>
          <p:nvPr/>
        </p:nvSpPr>
        <p:spPr>
          <a:xfrm xmlns:a="http://schemas.openxmlformats.org/drawingml/2006/main">
            <a:off x="619125" y="20955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vl1pPr>
              <a:defRPr sz="2175" b="0">
                <a:solidFill>
                  <a:srgbClr val="142C40"/>
                </a:solidFill>
              </a:defRPr>
            </a:lvl1pPr>
            <a:lvl2pPr>
              <a:defRPr sz="2175" b="0">
                <a:solidFill>
                  <a:srgbClr val="142C40"/>
                </a:solidFill>
              </a:defRPr>
            </a:lvl2pPr>
            <a:lvl3pPr>
              <a:defRPr sz="2175" b="0">
                <a:solidFill>
                  <a:srgbClr val="142C40"/>
                </a:solidFill>
              </a:defRPr>
            </a:lvl3pPr>
            <a:lvl4pPr>
              <a:defRPr sz="2175" b="0">
                <a:solidFill>
                  <a:srgbClr val="142C40"/>
                </a:solidFill>
              </a:defRPr>
            </a:lvl4pPr>
            <a:lvl5pPr>
              <a:defRPr sz="2175" b="0">
                <a:solidFill>
                  <a:srgbClr val="142C40"/>
                </a:solidFill>
              </a:defRPr>
            </a:lvl5pPr>
            <a:lvl6pPr>
              <a:defRPr sz="2175" b="0">
                <a:solidFill>
                  <a:srgbClr val="142C40"/>
                </a:solidFill>
              </a:defRPr>
            </a:lvl6pPr>
            <a:lvl7pPr>
              <a:defRPr sz="2175" b="0">
                <a:solidFill>
                  <a:srgbClr val="142C40"/>
                </a:solidFill>
              </a:defRPr>
            </a:lvl7pPr>
            <a:lvl8pPr>
              <a:defRPr sz="2175" b="0">
                <a:solidFill>
                  <a:srgbClr val="142C40"/>
                </a:solidFill>
              </a:defRPr>
            </a:lvl8pPr>
            <a:lvl9pPr>
              <a:defRPr sz="2175" b="0">
                <a:solidFill>
                  <a:srgbClr val="142C40"/>
                </a:solidFill>
              </a:defRPr>
            </a:lvl9pPr>
          </a:lstStyle>
          <a:p xmlns:a="http://schemas.openxmlformats.org/drawingml/2006/main">
            <a:pPr>
              <a:buNone/>
              <a:defRPr sz="2175" b="0">
                <a:solidFill>
                  <a:srgbClr val="142C40"/>
                </a:solidFill>
              </a:defRPr>
            </a:pPr>
            <a:r>
              <a:rPr sz="2175" b="0">
                <a:solidFill>
                  <a:srgbClr val="142C40"/>
                </a:solidFill>
              </a:rPr>
              <a:t>EXIF transpose → RGB → letterbox LANCZOS 224 × 224.</a:t>
            </a:r>
          </a:p>
        </p:txBody>
      </p:sp>
      <p:sp>
        <p:nvSpPr>
          <p:cNvPr id="6" name="Hình chữ nhật 5">
            <a:extLst xmlns:a="http://schemas.openxmlformats.org/drawingml/2006/main">
              <a:ext uri="{FF2B5EF4-FFF2-40B4-BE49-F238E27FC236}">
                <a16:creationId xmlns:a16="http://schemas.microsoft.com/office/drawing/2014/main" id="{E6E7FD28-B4B6-4E70-8415-D8F30AB6F5A1}"/>
              </a:ext>
            </a:extLst>
          </p:cNvPr>
          <p:cNvSpPr>
            <a:spLocks xmlns:a="http://schemas.openxmlformats.org/drawingml/2006/main" noGrp="1"/>
          </p:cNvSpPr>
          <p:nvPr/>
        </p:nvSpPr>
        <p:spPr>
          <a:xfrm xmlns:a="http://schemas.openxmlformats.org/drawingml/2006/main">
            <a:off x="619125" y="29718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vl1pPr>
              <a:defRPr sz="2175" b="0">
                <a:solidFill>
                  <a:srgbClr val="142C40"/>
                </a:solidFill>
              </a:defRPr>
            </a:lvl1pPr>
            <a:lvl2pPr>
              <a:defRPr sz="2175" b="0">
                <a:solidFill>
                  <a:srgbClr val="142C40"/>
                </a:solidFill>
              </a:defRPr>
            </a:lvl2pPr>
            <a:lvl3pPr>
              <a:defRPr sz="2175" b="0">
                <a:solidFill>
                  <a:srgbClr val="142C40"/>
                </a:solidFill>
              </a:defRPr>
            </a:lvl3pPr>
            <a:lvl4pPr>
              <a:defRPr sz="2175" b="0">
                <a:solidFill>
                  <a:srgbClr val="142C40"/>
                </a:solidFill>
              </a:defRPr>
            </a:lvl4pPr>
            <a:lvl5pPr>
              <a:defRPr sz="2175" b="0">
                <a:solidFill>
                  <a:srgbClr val="142C40"/>
                </a:solidFill>
              </a:defRPr>
            </a:lvl5pPr>
            <a:lvl6pPr>
              <a:defRPr sz="2175" b="0">
                <a:solidFill>
                  <a:srgbClr val="142C40"/>
                </a:solidFill>
              </a:defRPr>
            </a:lvl6pPr>
            <a:lvl7pPr>
              <a:defRPr sz="2175" b="0">
                <a:solidFill>
                  <a:srgbClr val="142C40"/>
                </a:solidFill>
              </a:defRPr>
            </a:lvl7pPr>
            <a:lvl8pPr>
              <a:defRPr sz="2175" b="0">
                <a:solidFill>
                  <a:srgbClr val="142C40"/>
                </a:solidFill>
              </a:defRPr>
            </a:lvl8pPr>
            <a:lvl9pPr>
              <a:defRPr sz="2175" b="0">
                <a:solidFill>
                  <a:srgbClr val="142C40"/>
                </a:solidFill>
              </a:defRPr>
            </a:lvl9pPr>
          </a:lstStyle>
          <a:p xmlns:a="http://schemas.openxmlformats.org/drawingml/2006/main">
            <a:pPr>
              <a:buNone/>
              <a:defRPr sz="2175" b="0">
                <a:solidFill>
                  <a:srgbClr val="142C40"/>
                </a:solidFill>
              </a:defRPr>
            </a:pPr>
            <a:r>
              <a:rPr sz="2175" b="0">
                <a:solidFill>
                  <a:srgbClr val="142C40"/>
                </a:solidFill>
              </a:rPr>
              <a:t>Letterbox giữ tỷ lệ hình hoa và thêm viền, tránh kéo méo.</a:t>
            </a:r>
          </a:p>
        </p:txBody>
      </p:sp>
      <p:sp>
        <p:nvSpPr>
          <p:cNvPr id="7" name="Hình chữ nhật 6">
            <a:extLst xmlns:a="http://schemas.openxmlformats.org/drawingml/2006/main">
              <a:ext uri="{FF2B5EF4-FFF2-40B4-BE49-F238E27FC236}">
                <a16:creationId xmlns:a16="http://schemas.microsoft.com/office/drawing/2014/main" id="{E9B54D1D-298F-49B6-A0C6-F3D0D7F829B0}"/>
              </a:ext>
            </a:extLst>
          </p:cNvPr>
          <p:cNvSpPr>
            <a:spLocks xmlns:a="http://schemas.openxmlformats.org/drawingml/2006/main" noGrp="1"/>
          </p:cNvSpPr>
          <p:nvPr/>
        </p:nvSpPr>
        <p:spPr>
          <a:xfrm xmlns:a="http://schemas.openxmlformats.org/drawingml/2006/main">
            <a:off x="619125" y="38481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vl1pPr>
              <a:defRPr sz="2175" b="0">
                <a:solidFill>
                  <a:srgbClr val="142C40"/>
                </a:solidFill>
              </a:defRPr>
            </a:lvl1pPr>
            <a:lvl2pPr>
              <a:defRPr sz="2175" b="0">
                <a:solidFill>
                  <a:srgbClr val="142C40"/>
                </a:solidFill>
              </a:defRPr>
            </a:lvl2pPr>
            <a:lvl3pPr>
              <a:defRPr sz="2175" b="0">
                <a:solidFill>
                  <a:srgbClr val="142C40"/>
                </a:solidFill>
              </a:defRPr>
            </a:lvl3pPr>
            <a:lvl4pPr>
              <a:defRPr sz="2175" b="0">
                <a:solidFill>
                  <a:srgbClr val="142C40"/>
                </a:solidFill>
              </a:defRPr>
            </a:lvl4pPr>
            <a:lvl5pPr>
              <a:defRPr sz="2175" b="0">
                <a:solidFill>
                  <a:srgbClr val="142C40"/>
                </a:solidFill>
              </a:defRPr>
            </a:lvl5pPr>
            <a:lvl6pPr>
              <a:defRPr sz="2175" b="0">
                <a:solidFill>
                  <a:srgbClr val="142C40"/>
                </a:solidFill>
              </a:defRPr>
            </a:lvl6pPr>
            <a:lvl7pPr>
              <a:defRPr sz="2175" b="0">
                <a:solidFill>
                  <a:srgbClr val="142C40"/>
                </a:solidFill>
              </a:defRPr>
            </a:lvl7pPr>
            <a:lvl8pPr>
              <a:defRPr sz="2175" b="0">
                <a:solidFill>
                  <a:srgbClr val="142C40"/>
                </a:solidFill>
              </a:defRPr>
            </a:lvl8pPr>
            <a:lvl9pPr>
              <a:defRPr sz="2175" b="0">
                <a:solidFill>
                  <a:srgbClr val="142C40"/>
                </a:solidFill>
              </a:defRPr>
            </a:lvl9pPr>
          </a:lstStyle>
          <a:p xmlns:a="http://schemas.openxmlformats.org/drawingml/2006/main">
            <a:pPr>
              <a:buNone/>
              <a:defRPr sz="2175" b="0">
                <a:solidFill>
                  <a:srgbClr val="142C40"/>
                </a:solidFill>
              </a:defRPr>
            </a:pPr>
            <a:r>
              <a:rPr sz="2175" b="0">
                <a:solidFill>
                  <a:srgbClr val="142C40"/>
                </a:solidFill>
              </a:rPr>
              <a:t>Xử lý: RGB uint8 0–255; suy luận: float32 0–255.</a:t>
            </a:r>
          </a:p>
        </p:txBody>
      </p:sp>
      <p:sp>
        <p:nvSpPr>
          <p:cNvPr id="8" name="Hình chữ nhật 7">
            <a:extLst xmlns:a="http://schemas.openxmlformats.org/drawingml/2006/main">
              <a:ext uri="{FF2B5EF4-FFF2-40B4-BE49-F238E27FC236}">
                <a16:creationId xmlns:a16="http://schemas.microsoft.com/office/drawing/2014/main" id="{C6EED533-B181-4FA2-99AA-A09D2D02B812}"/>
              </a:ext>
            </a:extLst>
          </p:cNvPr>
          <p:cNvSpPr>
            <a:spLocks xmlns:a="http://schemas.openxmlformats.org/drawingml/2006/main" noGrp="1"/>
          </p:cNvSpPr>
          <p:nvPr/>
        </p:nvSpPr>
        <p:spPr>
          <a:xfrm xmlns:a="http://schemas.openxmlformats.org/drawingml/2006/main">
            <a:off x="619125" y="47244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vl1pPr>
              <a:defRPr sz="2175" b="0">
                <a:solidFill>
                  <a:srgbClr val="142C40"/>
                </a:solidFill>
              </a:defRPr>
            </a:lvl1pPr>
            <a:lvl2pPr>
              <a:defRPr sz="2175" b="0">
                <a:solidFill>
                  <a:srgbClr val="142C40"/>
                </a:solidFill>
              </a:defRPr>
            </a:lvl2pPr>
            <a:lvl3pPr>
              <a:defRPr sz="2175" b="0">
                <a:solidFill>
                  <a:srgbClr val="142C40"/>
                </a:solidFill>
              </a:defRPr>
            </a:lvl3pPr>
            <a:lvl4pPr>
              <a:defRPr sz="2175" b="0">
                <a:solidFill>
                  <a:srgbClr val="142C40"/>
                </a:solidFill>
              </a:defRPr>
            </a:lvl4pPr>
            <a:lvl5pPr>
              <a:defRPr sz="2175" b="0">
                <a:solidFill>
                  <a:srgbClr val="142C40"/>
                </a:solidFill>
              </a:defRPr>
            </a:lvl5pPr>
            <a:lvl6pPr>
              <a:defRPr sz="2175" b="0">
                <a:solidFill>
                  <a:srgbClr val="142C40"/>
                </a:solidFill>
              </a:defRPr>
            </a:lvl6pPr>
            <a:lvl7pPr>
              <a:defRPr sz="2175" b="0">
                <a:solidFill>
                  <a:srgbClr val="142C40"/>
                </a:solidFill>
              </a:defRPr>
            </a:lvl7pPr>
            <a:lvl8pPr>
              <a:defRPr sz="2175" b="0">
                <a:solidFill>
                  <a:srgbClr val="142C40"/>
                </a:solidFill>
              </a:defRPr>
            </a:lvl8pPr>
            <a:lvl9pPr>
              <a:defRPr sz="2175" b="0">
                <a:solidFill>
                  <a:srgbClr val="142C40"/>
                </a:solidFill>
              </a:defRPr>
            </a:lvl9pPr>
          </a:lstStyle>
          <a:p xmlns:a="http://schemas.openxmlformats.org/drawingml/2006/main">
            <a:pPr>
              <a:buNone/>
              <a:defRPr sz="2175" b="0">
                <a:solidFill>
                  <a:srgbClr val="142C40"/>
                </a:solidFill>
              </a:defRPr>
            </a:pPr>
            <a:r>
              <a:rPr sz="2175" b="0">
                <a:solidFill>
                  <a:srgbClr val="142C40"/>
                </a:solidFill>
              </a:rPr>
              <a:t>preprocess_input nằm trong model; không chuẩn hóa lần hai.</a:t>
            </a:r>
          </a:p>
        </p:txBody>
      </p:sp>
    </p:spTree>
    <p:extLst>
      <p:ext uri="{BB962C8B-B14F-4D97-AF65-F5344CB8AC3E}">
        <p14:creationId xmlns:p14="http://schemas.microsoft.com/office/powerpoint/2010/main" val="123915735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Hình chữ nhật 6">
            <a:extLst xmlns:a="http://schemas.openxmlformats.org/drawingml/2006/main">
              <a:ext uri="{FF2B5EF4-FFF2-40B4-BE49-F238E27FC236}">
                <a16:creationId xmlns:a16="http://schemas.microsoft.com/office/drawing/2014/main" id="{B06B992F-44D6-47E1-8B73-6F29499672B1}"/>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Năm dạng suy giảm ở ba mức</a:t>
            </a:r>
          </a:p>
        </p:txBody>
      </p:sp>
      <p:sp>
        <p:nvSpPr>
          <p:cNvPr id="2" name="Hình chữ nhật 1">
            <a:extLst xmlns:a="http://schemas.openxmlformats.org/drawingml/2006/main">
              <a:ext uri="{FF2B5EF4-FFF2-40B4-BE49-F238E27FC236}">
                <a16:creationId xmlns:a16="http://schemas.microsoft.com/office/drawing/2014/main" id="{D5CE542F-BE96-420E-8294-06727E13FF9E}"/>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Mục 4.1  Tiền xử lý và mô hình suy giảm</a:t>
            </a:r>
          </a:p>
        </p:txBody>
      </p:sp>
      <p:sp>
        <p:nvSpPr>
          <p:cNvPr id="3" name="Hình chữ nhật 2">
            <a:extLst xmlns:a="http://schemas.openxmlformats.org/drawingml/2006/main">
              <a:ext uri="{FF2B5EF4-FFF2-40B4-BE49-F238E27FC236}">
                <a16:creationId xmlns:a16="http://schemas.microsoft.com/office/drawing/2014/main" id="{0CD21238-3F44-4CDE-BDEC-06EC0B7338E1}"/>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07</a:t>
            </a:r>
          </a:p>
        </p:txBody>
      </p:sp>
      <p:sp>
        <p:nvSpPr>
          <p:cNvPr id="4" name="Hình chữ nhật 3">
            <a:extLst xmlns:a="http://schemas.openxmlformats.org/drawingml/2006/main">
              <a:ext uri="{FF2B5EF4-FFF2-40B4-BE49-F238E27FC236}">
                <a16:creationId xmlns:a16="http://schemas.microsoft.com/office/drawing/2014/main" id="{65502B95-9AAE-4E2C-BE27-9635EEE9C8FA}"/>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graphicFrame>
        <p:nvGraphicFramePr>
          <p:cNvPr id="5" name="Bảng 4">
            <a:extLst xmlns:a="http://schemas.openxmlformats.org/drawingml/2006/main">
              <a:ext uri="{FF2B5EF4-FFF2-40B4-BE49-F238E27FC236}">
                <a16:creationId xmlns:a16="http://schemas.microsoft.com/office/drawing/2014/main" id="{C7DA6582-A911-4BB4-B968-D5C8385620BD}"/>
              </a:ext>
            </a:extLst>
          </p:cNvPr>
          <p:cNvGraphicFramePr/>
          <p:nvPr/>
        </p:nvGraphicFramePr>
        <p:xfrm>
          <a:off xmlns:a="http://schemas.openxmlformats.org/drawingml/2006/main" x="619125" y="2000250"/>
          <a:ext xmlns:a="http://schemas.openxmlformats.org/drawingml/2006/main" cx="10953750" cy="3429000"/>
        </p:xfrm>
        <a:graphic xmlns:a="http://schemas.openxmlformats.org/drawingml/2006/main">
          <a:graphicData uri="http://schemas.openxmlformats.org/drawingml/2006/table">
            <a:tbl>
              <a:tblPr/>
              <a:tblGrid>
                <a:gridCol w="3238500"/>
                <a:gridCol w="2571750"/>
                <a:gridCol w="2571750"/>
                <a:gridCol w="2571750"/>
              </a:tblGrid>
              <a:tr h="571500">
                <a:tc>
                  <a:txBody>
                    <a:bodyPr/>
                    <a:lstStyle/>
                    <a:p>
                      <a:r>
                        <a:rPr sz="1800" b="1">
                          <a:solidFill>
                            <a:srgbClr val="FFFFFF"/>
                          </a:solidFill>
                        </a:rPr>
                        <a:t>Suy giảm</a:t>
                      </a:r>
                    </a:p>
                  </a:txBody>
                  <a:tcPr marL="91440" marR="91440" marT="45720" marB="45720">
                    <a:lnL w="9525">
                      <a:solidFill>
                        <a:srgbClr val="D9D9D9"/>
                      </a:solidFill>
                      <a:prstDash val="solid"/>
                    </a:lnL>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c>
                  <a:txBody>
                    <a:bodyPr/>
                    <a:lstStyle/>
                    <a:p>
                      <a:r>
                        <a:rPr sz="1800" b="1">
                          <a:solidFill>
                            <a:srgbClr val="FFFFFF"/>
                          </a:solidFill>
                        </a:rPr>
                        <a:t>Nhẹ</a:t>
                      </a:r>
                    </a:p>
                  </a:txBody>
                  <a:tcPr marL="91440" marR="91440" marT="45720" marB="45720">
                    <a:lnL w="9525" cmpd="sng">
                      <a:solidFill>
                        <a:srgbClr val="D9D9D9"/>
                      </a:solidFill>
                      <a:prstDash val="solid"/>
                    </a:lnL>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c>
                  <a:txBody>
                    <a:bodyPr/>
                    <a:lstStyle/>
                    <a:p>
                      <a:r>
                        <a:rPr sz="1800" b="1">
                          <a:solidFill>
                            <a:srgbClr val="FFFFFF"/>
                          </a:solidFill>
                        </a:rPr>
                        <a:t>Vừa</a:t>
                      </a:r>
                    </a:p>
                  </a:txBody>
                  <a:tcPr marL="91440" marR="91440" marT="45720" marB="45720">
                    <a:lnL w="9525" cmpd="sng">
                      <a:solidFill>
                        <a:srgbClr val="D9D9D9"/>
                      </a:solidFill>
                      <a:prstDash val="solid"/>
                    </a:lnL>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c>
                  <a:txBody>
                    <a:bodyPr/>
                    <a:lstStyle/>
                    <a:p>
                      <a:r>
                        <a:rPr sz="1800" b="1">
                          <a:solidFill>
                            <a:srgbClr val="FFFFFF"/>
                          </a:solidFill>
                        </a:rPr>
                        <a:t>Mạnh</a:t>
                      </a:r>
                    </a:p>
                  </a:txBody>
                  <a:tcPr marL="91440" marR="91440" marT="45720" marB="45720">
                    <a:lnL w="9525" cmpd="sng">
                      <a:solidFill>
                        <a:srgbClr val="D9D9D9"/>
                      </a:solidFill>
                      <a:prstDash val="solid"/>
                    </a:lnL>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r>
              <a:tr h="571500">
                <a:tc>
                  <a:txBody>
                    <a:bodyPr/>
                    <a:lstStyle/>
                    <a:p>
                      <a:r>
                        <a:rPr sz="1800" b="0">
                          <a:solidFill>
                            <a:srgbClr val="142C40"/>
                          </a:solidFill>
                        </a:rPr>
                        <a:t>Thiếu sáng γ</a:t>
                      </a:r>
                    </a:p>
                  </a:txBody>
                  <a:tcPr marL="91440" marR="91440" marT="45720" marB="45720">
                    <a:lnL w="9525">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1,5</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2,5</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4,0</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r>
              <a:tr h="571500">
                <a:tc>
                  <a:txBody>
                    <a:bodyPr/>
                    <a:lstStyle/>
                    <a:p>
                      <a:r>
                        <a:rPr sz="1800" b="0">
                          <a:solidFill>
                            <a:srgbClr val="142C40"/>
                          </a:solidFill>
                        </a:rPr>
                        <a:t>Gaussian noise σ</a:t>
                      </a:r>
                    </a:p>
                  </a:txBody>
                  <a:tcPr marL="91440" marR="91440" marT="45720" marB="45720">
                    <a:lnL w="9525">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c>
                  <a:txBody>
                    <a:bodyPr/>
                    <a:lstStyle/>
                    <a:p>
                      <a:r>
                        <a:rPr sz="1800" b="0">
                          <a:solidFill>
                            <a:srgbClr val="142C40"/>
                          </a:solidFill>
                        </a:rPr>
                        <a:t>10</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c>
                  <a:txBody>
                    <a:bodyPr/>
                    <a:lstStyle/>
                    <a:p>
                      <a:r>
                        <a:rPr sz="1800" b="0">
                          <a:solidFill>
                            <a:srgbClr val="142C40"/>
                          </a:solidFill>
                        </a:rPr>
                        <a:t>25</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c>
                  <a:txBody>
                    <a:bodyPr/>
                    <a:lstStyle/>
                    <a:p>
                      <a:r>
                        <a:rPr sz="1800" b="0">
                          <a:solidFill>
                            <a:srgbClr val="142C40"/>
                          </a:solidFill>
                        </a:rPr>
                        <a:t>50</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r>
              <a:tr h="571500">
                <a:tc>
                  <a:txBody>
                    <a:bodyPr/>
                    <a:lstStyle/>
                    <a:p>
                      <a:r>
                        <a:rPr sz="1800" b="0">
                          <a:solidFill>
                            <a:srgbClr val="142C40"/>
                          </a:solidFill>
                        </a:rPr>
                        <a:t>Muối tiêu p</a:t>
                      </a:r>
                    </a:p>
                  </a:txBody>
                  <a:tcPr marL="91440" marR="91440" marT="45720" marB="45720">
                    <a:lnL w="9525">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0,01</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0,03</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0,07</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r>
              <a:tr h="571500">
                <a:tc>
                  <a:txBody>
                    <a:bodyPr/>
                    <a:lstStyle/>
                    <a:p>
                      <a:r>
                        <a:rPr sz="1800" b="0">
                          <a:solidFill>
                            <a:srgbClr val="142C40"/>
                          </a:solidFill>
                        </a:rPr>
                        <a:t>Mờ Gaussian σ</a:t>
                      </a:r>
                    </a:p>
                  </a:txBody>
                  <a:tcPr marL="91440" marR="91440" marT="45720" marB="45720">
                    <a:lnL w="9525">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c>
                  <a:txBody>
                    <a:bodyPr/>
                    <a:lstStyle/>
                    <a:p>
                      <a:r>
                        <a:rPr sz="1800" b="0">
                          <a:solidFill>
                            <a:srgbClr val="142C40"/>
                          </a:solidFill>
                        </a:rPr>
                        <a:t>0,8</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c>
                  <a:txBody>
                    <a:bodyPr/>
                    <a:lstStyle/>
                    <a:p>
                      <a:r>
                        <a:rPr sz="1800" b="0">
                          <a:solidFill>
                            <a:srgbClr val="142C40"/>
                          </a:solidFill>
                        </a:rPr>
                        <a:t>1,4</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c>
                  <a:txBody>
                    <a:bodyPr/>
                    <a:lstStyle/>
                    <a:p>
                      <a:r>
                        <a:rPr sz="1800" b="0">
                          <a:solidFill>
                            <a:srgbClr val="142C40"/>
                          </a:solidFill>
                        </a:rPr>
                        <a:t>2,6</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r>
              <a:tr h="571500">
                <a:tc>
                  <a:txBody>
                    <a:bodyPr/>
                    <a:lstStyle/>
                    <a:p>
                      <a:r>
                        <a:rPr sz="1800" b="0">
                          <a:solidFill>
                            <a:srgbClr val="142C40"/>
                          </a:solidFill>
                        </a:rPr>
                        <a:t>Gain RGB</a:t>
                      </a:r>
                    </a:p>
                  </a:txBody>
                  <a:tcPr marL="91440" marR="91440" marT="45720" marB="45720">
                    <a:lnL w="9525">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1,05 / 1 / 0,95</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1,15 / 1 / 0,85</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1,30 / 1 / 0,70</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r>
            </a:tbl>
          </a:graphicData>
        </a:graphic>
      </p:graphicFrame>
    </p:spTree>
    <p:extLst>
      <p:ext uri="{BB962C8B-B14F-4D97-AF65-F5344CB8AC3E}">
        <p14:creationId xmlns:p14="http://schemas.microsoft.com/office/powerpoint/2010/main" val="133479495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Hình chữ nhật 14">
            <a:extLst xmlns:a="http://schemas.openxmlformats.org/drawingml/2006/main">
              <a:ext uri="{FF2B5EF4-FFF2-40B4-BE49-F238E27FC236}">
                <a16:creationId xmlns:a16="http://schemas.microsoft.com/office/drawing/2014/main" id="{5612BB87-3F4E-4F68-96CD-F35AC2F7A7BE}"/>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Gamma và CLAHE</a:t>
            </a:r>
          </a:p>
        </p:txBody>
      </p:sp>
      <p:sp>
        <p:nvSpPr>
          <p:cNvPr id="2" name="Hình chữ nhật 1">
            <a:extLst xmlns:a="http://schemas.openxmlformats.org/drawingml/2006/main">
              <a:ext uri="{FF2B5EF4-FFF2-40B4-BE49-F238E27FC236}">
                <a16:creationId xmlns:a16="http://schemas.microsoft.com/office/drawing/2014/main" id="{32749E7F-4DD5-4DAF-A74E-4FF8D26536EA}"/>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Mục 4.2  Cải thiện độ sáng</a:t>
            </a:r>
          </a:p>
        </p:txBody>
      </p:sp>
      <p:sp>
        <p:nvSpPr>
          <p:cNvPr id="3" name="Hình chữ nhật 2">
            <a:extLst xmlns:a="http://schemas.openxmlformats.org/drawingml/2006/main">
              <a:ext uri="{FF2B5EF4-FFF2-40B4-BE49-F238E27FC236}">
                <a16:creationId xmlns:a16="http://schemas.microsoft.com/office/drawing/2014/main" id="{867FEF46-30E5-4D83-9A1D-2A6E0A57F819}"/>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08</a:t>
            </a:r>
          </a:p>
        </p:txBody>
      </p:sp>
      <p:sp>
        <p:nvSpPr>
          <p:cNvPr id="4" name="Hình chữ nhật 3">
            <a:extLst xmlns:a="http://schemas.openxmlformats.org/drawingml/2006/main">
              <a:ext uri="{FF2B5EF4-FFF2-40B4-BE49-F238E27FC236}">
                <a16:creationId xmlns:a16="http://schemas.microsoft.com/office/drawing/2014/main" id="{A005E9C3-0502-4B50-9073-2926B940CA88}"/>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sp>
        <p:nvSpPr>
          <p:cNvPr id="5" name="Hình chữ nhật 4">
            <a:extLst xmlns:a="http://schemas.openxmlformats.org/drawingml/2006/main">
              <a:ext uri="{FF2B5EF4-FFF2-40B4-BE49-F238E27FC236}">
                <a16:creationId xmlns:a16="http://schemas.microsoft.com/office/drawing/2014/main" id="{6D4CD685-E77E-41BE-830C-33B518976BC4}"/>
              </a:ext>
            </a:extLst>
          </p:cNvPr>
          <p:cNvSpPr>
            <a:spLocks xmlns:a="http://schemas.openxmlformats.org/drawingml/2006/main" noGrp="1"/>
          </p:cNvSpPr>
          <p:nvPr/>
        </p:nvSpPr>
        <p:spPr>
          <a:xfrm xmlns:a="http://schemas.openxmlformats.org/drawingml/2006/main">
            <a:off x="619125" y="19050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46C64"/>
                </a:solidFill>
              </a:defRPr>
            </a:defPPr>
            <a:lvl1pPr>
              <a:defRPr sz="2100" b="1">
                <a:solidFill>
                  <a:srgbClr val="146C64"/>
                </a:solidFill>
              </a:defRPr>
            </a:lvl1pPr>
            <a:lvl2pPr>
              <a:defRPr sz="2100" b="1">
                <a:solidFill>
                  <a:srgbClr val="146C64"/>
                </a:solidFill>
              </a:defRPr>
            </a:lvl2pPr>
            <a:lvl3pPr>
              <a:defRPr sz="2100" b="1">
                <a:solidFill>
                  <a:srgbClr val="146C64"/>
                </a:solidFill>
              </a:defRPr>
            </a:lvl3pPr>
            <a:lvl4pPr>
              <a:defRPr sz="2100" b="1">
                <a:solidFill>
                  <a:srgbClr val="146C64"/>
                </a:solidFill>
              </a:defRPr>
            </a:lvl4pPr>
            <a:lvl5pPr>
              <a:defRPr sz="2100" b="1">
                <a:solidFill>
                  <a:srgbClr val="146C64"/>
                </a:solidFill>
              </a:defRPr>
            </a:lvl5pPr>
            <a:lvl6pPr>
              <a:defRPr sz="2100" b="1">
                <a:solidFill>
                  <a:srgbClr val="146C64"/>
                </a:solidFill>
              </a:defRPr>
            </a:lvl6pPr>
            <a:lvl7pPr>
              <a:defRPr sz="2100" b="1">
                <a:solidFill>
                  <a:srgbClr val="146C64"/>
                </a:solidFill>
              </a:defRPr>
            </a:lvl7pPr>
            <a:lvl8pPr>
              <a:defRPr sz="2100" b="1">
                <a:solidFill>
                  <a:srgbClr val="146C64"/>
                </a:solidFill>
              </a:defRPr>
            </a:lvl8pPr>
            <a:lvl9pPr>
              <a:defRPr sz="2100" b="1">
                <a:solidFill>
                  <a:srgbClr val="146C64"/>
                </a:solidFill>
              </a:defRPr>
            </a:lvl9pPr>
          </a:lstStyle>
          <a:p xmlns:a="http://schemas.openxmlformats.org/drawingml/2006/main">
            <a:pPr>
              <a:buNone/>
              <a:defRPr sz="2100" b="1">
                <a:solidFill>
                  <a:srgbClr val="146C64"/>
                </a:solidFill>
              </a:defRPr>
            </a:pPr>
            <a:r>
              <a:rPr sz="2100" b="1">
                <a:solidFill>
                  <a:srgbClr val="146C64"/>
                </a:solidFill>
              </a:rPr>
              <a:t>GAMMA</a:t>
            </a:r>
          </a:p>
        </p:txBody>
      </p:sp>
      <p:sp>
        <p:nvSpPr>
          <p:cNvPr id="6" name="Hình chữ nhật 5">
            <a:extLst xmlns:a="http://schemas.openxmlformats.org/drawingml/2006/main">
              <a:ext uri="{FF2B5EF4-FFF2-40B4-BE49-F238E27FC236}">
                <a16:creationId xmlns:a16="http://schemas.microsoft.com/office/drawing/2014/main" id="{56277427-02DF-4809-B65E-48D45C76587C}"/>
              </a:ext>
            </a:extLst>
          </p:cNvPr>
          <p:cNvSpPr>
            <a:spLocks xmlns:a="http://schemas.openxmlformats.org/drawingml/2006/main" noGrp="1"/>
          </p:cNvSpPr>
          <p:nvPr/>
        </p:nvSpPr>
        <p:spPr>
          <a:xfrm xmlns:a="http://schemas.openxmlformats.org/drawingml/2006/main">
            <a:off x="619125" y="2362200"/>
            <a:ext cx="4953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42C40"/>
                </a:solidFill>
              </a:defRPr>
            </a:defPPr>
            <a:lvl1pPr>
              <a:defRPr sz="2025" b="0">
                <a:solidFill>
                  <a:srgbClr val="142C40"/>
                </a:solidFill>
              </a:defRPr>
            </a:lvl1pPr>
            <a:lvl2pPr>
              <a:defRPr sz="2025" b="0">
                <a:solidFill>
                  <a:srgbClr val="142C40"/>
                </a:solidFill>
              </a:defRPr>
            </a:lvl2pPr>
            <a:lvl3pPr>
              <a:defRPr sz="2025" b="0">
                <a:solidFill>
                  <a:srgbClr val="142C40"/>
                </a:solidFill>
              </a:defRPr>
            </a:lvl3pPr>
            <a:lvl4pPr>
              <a:defRPr sz="2025" b="0">
                <a:solidFill>
                  <a:srgbClr val="142C40"/>
                </a:solidFill>
              </a:defRPr>
            </a:lvl4pPr>
            <a:lvl5pPr>
              <a:defRPr sz="2025" b="0">
                <a:solidFill>
                  <a:srgbClr val="142C40"/>
                </a:solidFill>
              </a:defRPr>
            </a:lvl5pPr>
            <a:lvl6pPr>
              <a:defRPr sz="2025" b="0">
                <a:solidFill>
                  <a:srgbClr val="142C40"/>
                </a:solidFill>
              </a:defRPr>
            </a:lvl6pPr>
            <a:lvl7pPr>
              <a:defRPr sz="2025" b="0">
                <a:solidFill>
                  <a:srgbClr val="142C40"/>
                </a:solidFill>
              </a:defRPr>
            </a:lvl7pPr>
            <a:lvl8pPr>
              <a:defRPr sz="2025" b="0">
                <a:solidFill>
                  <a:srgbClr val="142C40"/>
                </a:solidFill>
              </a:defRPr>
            </a:lvl8pPr>
            <a:lvl9pPr>
              <a:defRPr sz="2025" b="0">
                <a:solidFill>
                  <a:srgbClr val="142C40"/>
                </a:solidFill>
              </a:defRPr>
            </a:lvl9pPr>
          </a:lstStyle>
          <a:p xmlns:a="http://schemas.openxmlformats.org/drawingml/2006/main">
            <a:pPr>
              <a:buNone/>
              <a:defRPr sz="2025" b="0">
                <a:solidFill>
                  <a:srgbClr val="142C40"/>
                </a:solidFill>
              </a:defRPr>
            </a:pPr>
            <a:r>
              <a:rPr sz="2025" b="0">
                <a:solidFill>
                  <a:srgbClr val="142C40"/>
                </a:solidFill>
              </a:rPr>
              <a:t>y = 255(x/255)^(1/γ)</a:t>
            </a:r>
          </a:p>
        </p:txBody>
      </p:sp>
      <p:sp>
        <p:nvSpPr>
          <p:cNvPr id="7" name="Hình chữ nhật 6">
            <a:extLst xmlns:a="http://schemas.openxmlformats.org/drawingml/2006/main">
              <a:ext uri="{FF2B5EF4-FFF2-40B4-BE49-F238E27FC236}">
                <a16:creationId xmlns:a16="http://schemas.microsoft.com/office/drawing/2014/main" id="{B3795B9A-950C-424D-9870-184EF5E86DAD}"/>
              </a:ext>
            </a:extLst>
          </p:cNvPr>
          <p:cNvSpPr>
            <a:spLocks xmlns:a="http://schemas.openxmlformats.org/drawingml/2006/main" noGrp="1"/>
          </p:cNvSpPr>
          <p:nvPr/>
        </p:nvSpPr>
        <p:spPr>
          <a:xfrm xmlns:a="http://schemas.openxmlformats.org/drawingml/2006/main">
            <a:off x="619125" y="2905125"/>
            <a:ext cx="4953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42C40"/>
                </a:solidFill>
              </a:defRPr>
            </a:defPPr>
            <a:lvl1pPr>
              <a:defRPr sz="2025" b="0">
                <a:solidFill>
                  <a:srgbClr val="142C40"/>
                </a:solidFill>
              </a:defRPr>
            </a:lvl1pPr>
            <a:lvl2pPr>
              <a:defRPr sz="2025" b="0">
                <a:solidFill>
                  <a:srgbClr val="142C40"/>
                </a:solidFill>
              </a:defRPr>
            </a:lvl2pPr>
            <a:lvl3pPr>
              <a:defRPr sz="2025" b="0">
                <a:solidFill>
                  <a:srgbClr val="142C40"/>
                </a:solidFill>
              </a:defRPr>
            </a:lvl3pPr>
            <a:lvl4pPr>
              <a:defRPr sz="2025" b="0">
                <a:solidFill>
                  <a:srgbClr val="142C40"/>
                </a:solidFill>
              </a:defRPr>
            </a:lvl4pPr>
            <a:lvl5pPr>
              <a:defRPr sz="2025" b="0">
                <a:solidFill>
                  <a:srgbClr val="142C40"/>
                </a:solidFill>
              </a:defRPr>
            </a:lvl5pPr>
            <a:lvl6pPr>
              <a:defRPr sz="2025" b="0">
                <a:solidFill>
                  <a:srgbClr val="142C40"/>
                </a:solidFill>
              </a:defRPr>
            </a:lvl6pPr>
            <a:lvl7pPr>
              <a:defRPr sz="2025" b="0">
                <a:solidFill>
                  <a:srgbClr val="142C40"/>
                </a:solidFill>
              </a:defRPr>
            </a:lvl7pPr>
            <a:lvl8pPr>
              <a:defRPr sz="2025" b="0">
                <a:solidFill>
                  <a:srgbClr val="142C40"/>
                </a:solidFill>
              </a:defRPr>
            </a:lvl8pPr>
            <a:lvl9pPr>
              <a:defRPr sz="2025" b="0">
                <a:solidFill>
                  <a:srgbClr val="142C40"/>
                </a:solidFill>
              </a:defRPr>
            </a:lvl9pPr>
          </a:lstStyle>
          <a:p xmlns:a="http://schemas.openxmlformats.org/drawingml/2006/main">
            <a:pPr>
              <a:buNone/>
              <a:defRPr sz="2025" b="0">
                <a:solidFill>
                  <a:srgbClr val="142C40"/>
                </a:solidFill>
              </a:defRPr>
            </a:pPr>
            <a:r>
              <a:rPr sz="2025" b="0">
                <a:solidFill>
                  <a:srgbClr val="142C40"/>
                </a:solidFill>
              </a:rPr>
              <a:t>Ánh xạ cường độ toàn cục.</a:t>
            </a:r>
          </a:p>
        </p:txBody>
      </p:sp>
      <p:sp>
        <p:nvSpPr>
          <p:cNvPr id="8" name="Hình chữ nhật 7">
            <a:extLst xmlns:a="http://schemas.openxmlformats.org/drawingml/2006/main">
              <a:ext uri="{FF2B5EF4-FFF2-40B4-BE49-F238E27FC236}">
                <a16:creationId xmlns:a16="http://schemas.microsoft.com/office/drawing/2014/main" id="{152122F6-26BE-4F53-8414-A3302F7AD8D4}"/>
              </a:ext>
            </a:extLst>
          </p:cNvPr>
          <p:cNvSpPr>
            <a:spLocks xmlns:a="http://schemas.openxmlformats.org/drawingml/2006/main" noGrp="1"/>
          </p:cNvSpPr>
          <p:nvPr/>
        </p:nvSpPr>
        <p:spPr>
          <a:xfrm xmlns:a="http://schemas.openxmlformats.org/drawingml/2006/main">
            <a:off x="619125" y="3457575"/>
            <a:ext cx="4953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42C40"/>
                </a:solidFill>
              </a:defRPr>
            </a:defPPr>
            <a:lvl1pPr>
              <a:defRPr sz="2025" b="0">
                <a:solidFill>
                  <a:srgbClr val="142C40"/>
                </a:solidFill>
              </a:defRPr>
            </a:lvl1pPr>
            <a:lvl2pPr>
              <a:defRPr sz="2025" b="0">
                <a:solidFill>
                  <a:srgbClr val="142C40"/>
                </a:solidFill>
              </a:defRPr>
            </a:lvl2pPr>
            <a:lvl3pPr>
              <a:defRPr sz="2025" b="0">
                <a:solidFill>
                  <a:srgbClr val="142C40"/>
                </a:solidFill>
              </a:defRPr>
            </a:lvl3pPr>
            <a:lvl4pPr>
              <a:defRPr sz="2025" b="0">
                <a:solidFill>
                  <a:srgbClr val="142C40"/>
                </a:solidFill>
              </a:defRPr>
            </a:lvl4pPr>
            <a:lvl5pPr>
              <a:defRPr sz="2025" b="0">
                <a:solidFill>
                  <a:srgbClr val="142C40"/>
                </a:solidFill>
              </a:defRPr>
            </a:lvl5pPr>
            <a:lvl6pPr>
              <a:defRPr sz="2025" b="0">
                <a:solidFill>
                  <a:srgbClr val="142C40"/>
                </a:solidFill>
              </a:defRPr>
            </a:lvl6pPr>
            <a:lvl7pPr>
              <a:defRPr sz="2025" b="0">
                <a:solidFill>
                  <a:srgbClr val="142C40"/>
                </a:solidFill>
              </a:defRPr>
            </a:lvl7pPr>
            <a:lvl8pPr>
              <a:defRPr sz="2025" b="0">
                <a:solidFill>
                  <a:srgbClr val="142C40"/>
                </a:solidFill>
              </a:defRPr>
            </a:lvl8pPr>
            <a:lvl9pPr>
              <a:defRPr sz="2025" b="0">
                <a:solidFill>
                  <a:srgbClr val="142C40"/>
                </a:solidFill>
              </a:defRPr>
            </a:lvl9pPr>
          </a:lstStyle>
          <a:p xmlns:a="http://schemas.openxmlformats.org/drawingml/2006/main">
            <a:pPr>
              <a:buNone/>
              <a:defRPr sz="2025" b="0">
                <a:solidFill>
                  <a:srgbClr val="142C40"/>
                </a:solidFill>
              </a:defRPr>
            </a:pPr>
            <a:r>
              <a:rPr sz="2025" b="0">
                <a:solidFill>
                  <a:srgbClr val="142C40"/>
                </a:solidFill>
              </a:rPr>
              <a:t>Biết γ; lượng tử hóa vẫn mất thông tin.</a:t>
            </a:r>
          </a:p>
        </p:txBody>
      </p:sp>
      <p:sp>
        <p:nvSpPr>
          <p:cNvPr id="9" name="Hình chữ nhật 8">
            <a:extLst xmlns:a="http://schemas.openxmlformats.org/drawingml/2006/main">
              <a:ext uri="{FF2B5EF4-FFF2-40B4-BE49-F238E27FC236}">
                <a16:creationId xmlns:a16="http://schemas.microsoft.com/office/drawing/2014/main" id="{201A4EFF-B492-47E8-9CEC-0819EA031995}"/>
              </a:ext>
            </a:extLst>
          </p:cNvPr>
          <p:cNvSpPr>
            <a:spLocks xmlns:a="http://schemas.openxmlformats.org/drawingml/2006/main" noGrp="1"/>
          </p:cNvSpPr>
          <p:nvPr/>
        </p:nvSpPr>
        <p:spPr>
          <a:xfrm xmlns:a="http://schemas.openxmlformats.org/drawingml/2006/main">
            <a:off x="619125" y="4667250"/>
            <a:ext cx="4953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42C40"/>
                </a:solidFill>
              </a:defRPr>
            </a:defPPr>
            <a:lvl1pPr>
              <a:defRPr sz="2025" b="0">
                <a:solidFill>
                  <a:srgbClr val="142C40"/>
                </a:solidFill>
              </a:defRPr>
            </a:lvl1pPr>
            <a:lvl2pPr>
              <a:defRPr sz="2025" b="0">
                <a:solidFill>
                  <a:srgbClr val="142C40"/>
                </a:solidFill>
              </a:defRPr>
            </a:lvl2pPr>
            <a:lvl3pPr>
              <a:defRPr sz="2025" b="0">
                <a:solidFill>
                  <a:srgbClr val="142C40"/>
                </a:solidFill>
              </a:defRPr>
            </a:lvl3pPr>
            <a:lvl4pPr>
              <a:defRPr sz="2025" b="0">
                <a:solidFill>
                  <a:srgbClr val="142C40"/>
                </a:solidFill>
              </a:defRPr>
            </a:lvl4pPr>
            <a:lvl5pPr>
              <a:defRPr sz="2025" b="0">
                <a:solidFill>
                  <a:srgbClr val="142C40"/>
                </a:solidFill>
              </a:defRPr>
            </a:lvl5pPr>
            <a:lvl6pPr>
              <a:defRPr sz="2025" b="0">
                <a:solidFill>
                  <a:srgbClr val="142C40"/>
                </a:solidFill>
              </a:defRPr>
            </a:lvl6pPr>
            <a:lvl7pPr>
              <a:defRPr sz="2025" b="0">
                <a:solidFill>
                  <a:srgbClr val="142C40"/>
                </a:solidFill>
              </a:defRPr>
            </a:lvl7pPr>
            <a:lvl8pPr>
              <a:defRPr sz="2025" b="0">
                <a:solidFill>
                  <a:srgbClr val="142C40"/>
                </a:solidFill>
              </a:defRPr>
            </a:lvl8pPr>
            <a:lvl9pPr>
              <a:defRPr sz="2025" b="0">
                <a:solidFill>
                  <a:srgbClr val="142C40"/>
                </a:solidFill>
              </a:defRPr>
            </a:lvl9pPr>
          </a:lstStyle>
          <a:p xmlns:a="http://schemas.openxmlformats.org/drawingml/2006/main">
            <a:pPr>
              <a:buNone/>
              <a:defRPr sz="2025" b="0">
                <a:solidFill>
                  <a:srgbClr val="142C40"/>
                </a:solidFill>
              </a:defRPr>
            </a:pPr>
            <a:r>
              <a:rPr sz="2025" b="0">
                <a:solidFill>
                  <a:srgbClr val="142C40"/>
                </a:solidFill>
              </a:rPr>
              <a:t/>
            </a:r>
          </a:p>
        </p:txBody>
      </p:sp>
      <p:sp>
        <p:nvSpPr>
          <p:cNvPr id="10" name="Hình chữ nhật 9">
            <a:extLst xmlns:a="http://schemas.openxmlformats.org/drawingml/2006/main">
              <a:ext uri="{FF2B5EF4-FFF2-40B4-BE49-F238E27FC236}">
                <a16:creationId xmlns:a16="http://schemas.microsoft.com/office/drawing/2014/main" id="{D00B087B-F121-40C7-AC82-F89D54767245}"/>
              </a:ext>
            </a:extLst>
          </p:cNvPr>
          <p:cNvSpPr>
            <a:spLocks xmlns:a="http://schemas.openxmlformats.org/drawingml/2006/main" noGrp="1"/>
          </p:cNvSpPr>
          <p:nvPr/>
        </p:nvSpPr>
        <p:spPr>
          <a:xfrm xmlns:a="http://schemas.openxmlformats.org/drawingml/2006/main">
            <a:off x="6429375" y="19050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46C64"/>
                </a:solidFill>
              </a:defRPr>
            </a:defPPr>
            <a:lvl1pPr>
              <a:defRPr sz="2100" b="1">
                <a:solidFill>
                  <a:srgbClr val="146C64"/>
                </a:solidFill>
              </a:defRPr>
            </a:lvl1pPr>
            <a:lvl2pPr>
              <a:defRPr sz="2100" b="1">
                <a:solidFill>
                  <a:srgbClr val="146C64"/>
                </a:solidFill>
              </a:defRPr>
            </a:lvl2pPr>
            <a:lvl3pPr>
              <a:defRPr sz="2100" b="1">
                <a:solidFill>
                  <a:srgbClr val="146C64"/>
                </a:solidFill>
              </a:defRPr>
            </a:lvl3pPr>
            <a:lvl4pPr>
              <a:defRPr sz="2100" b="1">
                <a:solidFill>
                  <a:srgbClr val="146C64"/>
                </a:solidFill>
              </a:defRPr>
            </a:lvl4pPr>
            <a:lvl5pPr>
              <a:defRPr sz="2100" b="1">
                <a:solidFill>
                  <a:srgbClr val="146C64"/>
                </a:solidFill>
              </a:defRPr>
            </a:lvl5pPr>
            <a:lvl6pPr>
              <a:defRPr sz="2100" b="1">
                <a:solidFill>
                  <a:srgbClr val="146C64"/>
                </a:solidFill>
              </a:defRPr>
            </a:lvl6pPr>
            <a:lvl7pPr>
              <a:defRPr sz="2100" b="1">
                <a:solidFill>
                  <a:srgbClr val="146C64"/>
                </a:solidFill>
              </a:defRPr>
            </a:lvl7pPr>
            <a:lvl8pPr>
              <a:defRPr sz="2100" b="1">
                <a:solidFill>
                  <a:srgbClr val="146C64"/>
                </a:solidFill>
              </a:defRPr>
            </a:lvl8pPr>
            <a:lvl9pPr>
              <a:defRPr sz="2100" b="1">
                <a:solidFill>
                  <a:srgbClr val="146C64"/>
                </a:solidFill>
              </a:defRPr>
            </a:lvl9pPr>
          </a:lstStyle>
          <a:p xmlns:a="http://schemas.openxmlformats.org/drawingml/2006/main">
            <a:pPr>
              <a:buNone/>
              <a:defRPr sz="2100" b="1">
                <a:solidFill>
                  <a:srgbClr val="146C64"/>
                </a:solidFill>
              </a:defRPr>
            </a:pPr>
            <a:r>
              <a:rPr sz="2100" b="1">
                <a:solidFill>
                  <a:srgbClr val="146C64"/>
                </a:solidFill>
              </a:rPr>
              <a:t>CLAHE TRÊN V CỦA HSV</a:t>
            </a:r>
          </a:p>
        </p:txBody>
      </p:sp>
      <p:sp>
        <p:nvSpPr>
          <p:cNvPr id="11" name="Hình chữ nhật 10">
            <a:extLst xmlns:a="http://schemas.openxmlformats.org/drawingml/2006/main">
              <a:ext uri="{FF2B5EF4-FFF2-40B4-BE49-F238E27FC236}">
                <a16:creationId xmlns:a16="http://schemas.microsoft.com/office/drawing/2014/main" id="{196E8205-8DB5-4A70-91A0-D2045E305388}"/>
              </a:ext>
            </a:extLst>
          </p:cNvPr>
          <p:cNvSpPr>
            <a:spLocks xmlns:a="http://schemas.openxmlformats.org/drawingml/2006/main" noGrp="1"/>
          </p:cNvSpPr>
          <p:nvPr/>
        </p:nvSpPr>
        <p:spPr>
          <a:xfrm xmlns:a="http://schemas.openxmlformats.org/drawingml/2006/main">
            <a:off x="6429375" y="2362200"/>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42C40"/>
                </a:solidFill>
              </a:defRPr>
            </a:defPPr>
            <a:lvl1pPr>
              <a:defRPr sz="2025" b="0">
                <a:solidFill>
                  <a:srgbClr val="142C40"/>
                </a:solidFill>
              </a:defRPr>
            </a:lvl1pPr>
            <a:lvl2pPr>
              <a:defRPr sz="2025" b="0">
                <a:solidFill>
                  <a:srgbClr val="142C40"/>
                </a:solidFill>
              </a:defRPr>
            </a:lvl2pPr>
            <a:lvl3pPr>
              <a:defRPr sz="2025" b="0">
                <a:solidFill>
                  <a:srgbClr val="142C40"/>
                </a:solidFill>
              </a:defRPr>
            </a:lvl3pPr>
            <a:lvl4pPr>
              <a:defRPr sz="2025" b="0">
                <a:solidFill>
                  <a:srgbClr val="142C40"/>
                </a:solidFill>
              </a:defRPr>
            </a:lvl4pPr>
            <a:lvl5pPr>
              <a:defRPr sz="2025" b="0">
                <a:solidFill>
                  <a:srgbClr val="142C40"/>
                </a:solidFill>
              </a:defRPr>
            </a:lvl5pPr>
            <a:lvl6pPr>
              <a:defRPr sz="2025" b="0">
                <a:solidFill>
                  <a:srgbClr val="142C40"/>
                </a:solidFill>
              </a:defRPr>
            </a:lvl6pPr>
            <a:lvl7pPr>
              <a:defRPr sz="2025" b="0">
                <a:solidFill>
                  <a:srgbClr val="142C40"/>
                </a:solidFill>
              </a:defRPr>
            </a:lvl7pPr>
            <a:lvl8pPr>
              <a:defRPr sz="2025" b="0">
                <a:solidFill>
                  <a:srgbClr val="142C40"/>
                </a:solidFill>
              </a:defRPr>
            </a:lvl8pPr>
            <a:lvl9pPr>
              <a:defRPr sz="2025" b="0">
                <a:solidFill>
                  <a:srgbClr val="142C40"/>
                </a:solidFill>
              </a:defRPr>
            </a:lvl9pPr>
          </a:lstStyle>
          <a:p xmlns:a="http://schemas.openxmlformats.org/drawingml/2006/main">
            <a:pPr>
              <a:buNone/>
              <a:defRPr sz="2025" b="0">
                <a:solidFill>
                  <a:srgbClr val="142C40"/>
                </a:solidFill>
              </a:defRPr>
            </a:pPr>
            <a:r>
              <a:rPr sz="2025" b="0">
                <a:solidFill>
                  <a:srgbClr val="142C40"/>
                </a:solidFill>
              </a:rPr>
              <a:t>Chia 8 × 8 vùng; cắt histogram.</a:t>
            </a:r>
          </a:p>
        </p:txBody>
      </p:sp>
      <p:sp>
        <p:nvSpPr>
          <p:cNvPr id="12" name="Hình chữ nhật 11">
            <a:extLst xmlns:a="http://schemas.openxmlformats.org/drawingml/2006/main">
              <a:ext uri="{FF2B5EF4-FFF2-40B4-BE49-F238E27FC236}">
                <a16:creationId xmlns:a16="http://schemas.microsoft.com/office/drawing/2014/main" id="{46BCAA97-E630-423A-AB0A-12368A90A17C}"/>
              </a:ext>
            </a:extLst>
          </p:cNvPr>
          <p:cNvSpPr>
            <a:spLocks xmlns:a="http://schemas.openxmlformats.org/drawingml/2006/main" noGrp="1"/>
          </p:cNvSpPr>
          <p:nvPr/>
        </p:nvSpPr>
        <p:spPr>
          <a:xfrm xmlns:a="http://schemas.openxmlformats.org/drawingml/2006/main">
            <a:off x="6429375" y="2905125"/>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42C40"/>
                </a:solidFill>
              </a:defRPr>
            </a:defPPr>
            <a:lvl1pPr>
              <a:defRPr sz="2025" b="0">
                <a:solidFill>
                  <a:srgbClr val="142C40"/>
                </a:solidFill>
              </a:defRPr>
            </a:lvl1pPr>
            <a:lvl2pPr>
              <a:defRPr sz="2025" b="0">
                <a:solidFill>
                  <a:srgbClr val="142C40"/>
                </a:solidFill>
              </a:defRPr>
            </a:lvl2pPr>
            <a:lvl3pPr>
              <a:defRPr sz="2025" b="0">
                <a:solidFill>
                  <a:srgbClr val="142C40"/>
                </a:solidFill>
              </a:defRPr>
            </a:lvl3pPr>
            <a:lvl4pPr>
              <a:defRPr sz="2025" b="0">
                <a:solidFill>
                  <a:srgbClr val="142C40"/>
                </a:solidFill>
              </a:defRPr>
            </a:lvl4pPr>
            <a:lvl5pPr>
              <a:defRPr sz="2025" b="0">
                <a:solidFill>
                  <a:srgbClr val="142C40"/>
                </a:solidFill>
              </a:defRPr>
            </a:lvl5pPr>
            <a:lvl6pPr>
              <a:defRPr sz="2025" b="0">
                <a:solidFill>
                  <a:srgbClr val="142C40"/>
                </a:solidFill>
              </a:defRPr>
            </a:lvl6pPr>
            <a:lvl7pPr>
              <a:defRPr sz="2025" b="0">
                <a:solidFill>
                  <a:srgbClr val="142C40"/>
                </a:solidFill>
              </a:defRPr>
            </a:lvl7pPr>
            <a:lvl8pPr>
              <a:defRPr sz="2025" b="0">
                <a:solidFill>
                  <a:srgbClr val="142C40"/>
                </a:solidFill>
              </a:defRPr>
            </a:lvl8pPr>
            <a:lvl9pPr>
              <a:defRPr sz="2025" b="0">
                <a:solidFill>
                  <a:srgbClr val="142C40"/>
                </a:solidFill>
              </a:defRPr>
            </a:lvl9pPr>
          </a:lstStyle>
          <a:p xmlns:a="http://schemas.openxmlformats.org/drawingml/2006/main">
            <a:pPr>
              <a:buNone/>
              <a:defRPr sz="2025" b="0">
                <a:solidFill>
                  <a:srgbClr val="142C40"/>
                </a:solidFill>
              </a:defRPr>
            </a:pPr>
            <a:r>
              <a:rPr sz="2025" b="0">
                <a:solidFill>
                  <a:srgbClr val="142C40"/>
                </a:solidFill>
              </a:rPr>
              <a:t>CDF tích lũy → LUT ánh xạ.</a:t>
            </a:r>
          </a:p>
        </p:txBody>
      </p:sp>
      <p:sp>
        <p:nvSpPr>
          <p:cNvPr id="13" name="Hình chữ nhật 12">
            <a:extLst xmlns:a="http://schemas.openxmlformats.org/drawingml/2006/main">
              <a:ext uri="{FF2B5EF4-FFF2-40B4-BE49-F238E27FC236}">
                <a16:creationId xmlns:a16="http://schemas.microsoft.com/office/drawing/2014/main" id="{D3714500-CADC-49BC-8DBA-FB43BAD02DF7}"/>
              </a:ext>
            </a:extLst>
          </p:cNvPr>
          <p:cNvSpPr>
            <a:spLocks xmlns:a="http://schemas.openxmlformats.org/drawingml/2006/main" noGrp="1"/>
          </p:cNvSpPr>
          <p:nvPr/>
        </p:nvSpPr>
        <p:spPr>
          <a:xfrm xmlns:a="http://schemas.openxmlformats.org/drawingml/2006/main">
            <a:off x="6429375" y="3457575"/>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42C40"/>
                </a:solidFill>
              </a:defRPr>
            </a:defPPr>
            <a:lvl1pPr>
              <a:defRPr sz="2025" b="0">
                <a:solidFill>
                  <a:srgbClr val="142C40"/>
                </a:solidFill>
              </a:defRPr>
            </a:lvl1pPr>
            <a:lvl2pPr>
              <a:defRPr sz="2025" b="0">
                <a:solidFill>
                  <a:srgbClr val="142C40"/>
                </a:solidFill>
              </a:defRPr>
            </a:lvl2pPr>
            <a:lvl3pPr>
              <a:defRPr sz="2025" b="0">
                <a:solidFill>
                  <a:srgbClr val="142C40"/>
                </a:solidFill>
              </a:defRPr>
            </a:lvl3pPr>
            <a:lvl4pPr>
              <a:defRPr sz="2025" b="0">
                <a:solidFill>
                  <a:srgbClr val="142C40"/>
                </a:solidFill>
              </a:defRPr>
            </a:lvl4pPr>
            <a:lvl5pPr>
              <a:defRPr sz="2025" b="0">
                <a:solidFill>
                  <a:srgbClr val="142C40"/>
                </a:solidFill>
              </a:defRPr>
            </a:lvl5pPr>
            <a:lvl6pPr>
              <a:defRPr sz="2025" b="0">
                <a:solidFill>
                  <a:srgbClr val="142C40"/>
                </a:solidFill>
              </a:defRPr>
            </a:lvl6pPr>
            <a:lvl7pPr>
              <a:defRPr sz="2025" b="0">
                <a:solidFill>
                  <a:srgbClr val="142C40"/>
                </a:solidFill>
              </a:defRPr>
            </a:lvl7pPr>
            <a:lvl8pPr>
              <a:defRPr sz="2025" b="0">
                <a:solidFill>
                  <a:srgbClr val="142C40"/>
                </a:solidFill>
              </a:defRPr>
            </a:lvl8pPr>
            <a:lvl9pPr>
              <a:defRPr sz="2025" b="0">
                <a:solidFill>
                  <a:srgbClr val="142C40"/>
                </a:solidFill>
              </a:defRPr>
            </a:lvl9pPr>
          </a:lstStyle>
          <a:p xmlns:a="http://schemas.openxmlformats.org/drawingml/2006/main">
            <a:pPr>
              <a:buNone/>
              <a:defRPr sz="2025" b="0">
                <a:solidFill>
                  <a:srgbClr val="142C40"/>
                </a:solidFill>
              </a:defRPr>
            </a:pPr>
            <a:r>
              <a:rPr sz="2025" b="0">
                <a:solidFill>
                  <a:srgbClr val="142C40"/>
                </a:solidFill>
              </a:rPr>
              <a:t>Nội suy; clip_limit: 1,5 / 2,0 / 2,5.</a:t>
            </a:r>
          </a:p>
        </p:txBody>
      </p:sp>
      <p:sp>
        <p:nvSpPr>
          <p:cNvPr id="14" name="Hình chữ nhật 13">
            <a:extLst xmlns:a="http://schemas.openxmlformats.org/drawingml/2006/main">
              <a:ext uri="{FF2B5EF4-FFF2-40B4-BE49-F238E27FC236}">
                <a16:creationId xmlns:a16="http://schemas.microsoft.com/office/drawing/2014/main" id="{9634891A-EB22-476C-B6C4-0576F56FDA10}"/>
              </a:ext>
            </a:extLst>
          </p:cNvPr>
          <p:cNvSpPr>
            <a:spLocks xmlns:a="http://schemas.openxmlformats.org/drawingml/2006/main" noGrp="1"/>
          </p:cNvSpPr>
          <p:nvPr/>
        </p:nvSpPr>
        <p:spPr>
          <a:xfrm xmlns:a="http://schemas.openxmlformats.org/drawingml/2006/main">
            <a:off x="6429375" y="4667250"/>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42C40"/>
                </a:solidFill>
              </a:defRPr>
            </a:defPPr>
            <a:lvl1pPr>
              <a:defRPr sz="2025" b="0">
                <a:solidFill>
                  <a:srgbClr val="142C40"/>
                </a:solidFill>
              </a:defRPr>
            </a:lvl1pPr>
            <a:lvl2pPr>
              <a:defRPr sz="2025" b="0">
                <a:solidFill>
                  <a:srgbClr val="142C40"/>
                </a:solidFill>
              </a:defRPr>
            </a:lvl2pPr>
            <a:lvl3pPr>
              <a:defRPr sz="2025" b="0">
                <a:solidFill>
                  <a:srgbClr val="142C40"/>
                </a:solidFill>
              </a:defRPr>
            </a:lvl3pPr>
            <a:lvl4pPr>
              <a:defRPr sz="2025" b="0">
                <a:solidFill>
                  <a:srgbClr val="142C40"/>
                </a:solidFill>
              </a:defRPr>
            </a:lvl4pPr>
            <a:lvl5pPr>
              <a:defRPr sz="2025" b="0">
                <a:solidFill>
                  <a:srgbClr val="142C40"/>
                </a:solidFill>
              </a:defRPr>
            </a:lvl5pPr>
            <a:lvl6pPr>
              <a:defRPr sz="2025" b="0">
                <a:solidFill>
                  <a:srgbClr val="142C40"/>
                </a:solidFill>
              </a:defRPr>
            </a:lvl6pPr>
            <a:lvl7pPr>
              <a:defRPr sz="2025" b="0">
                <a:solidFill>
                  <a:srgbClr val="142C40"/>
                </a:solidFill>
              </a:defRPr>
            </a:lvl7pPr>
            <a:lvl8pPr>
              <a:defRPr sz="2025" b="0">
                <a:solidFill>
                  <a:srgbClr val="142C40"/>
                </a:solidFill>
              </a:defRPr>
            </a:lvl8pPr>
            <a:lvl9pPr>
              <a:defRPr sz="2025" b="0">
                <a:solidFill>
                  <a:srgbClr val="142C40"/>
                </a:solidFill>
              </a:defRPr>
            </a:lvl9pPr>
          </a:lstStyle>
          <a:p xmlns:a="http://schemas.openxmlformats.org/drawingml/2006/main">
            <a:pPr>
              <a:buNone/>
              <a:defRPr sz="2025" b="0">
                <a:solidFill>
                  <a:srgbClr val="142C40"/>
                </a:solidFill>
              </a:defRPr>
            </a:pPr>
            <a:r>
              <a:rPr sz="2025" b="0">
                <a:solidFill>
                  <a:srgbClr val="142C40"/>
                </a:solidFill>
              </a:rPr>
              <a:t/>
            </a:r>
          </a:p>
        </p:txBody>
      </p:sp>
      <p:sp>
        <p:nvSpPr>
          <p:cNvPr id="16" name="sync-8-440-165">
            <a:extLst xmlns:a="http://schemas.openxmlformats.org/drawingml/2006/main">
              <a:ext uri="{FF2B5EF4-FFF2-40B4-BE49-F238E27FC236}">
                <a16:creationId xmlns:a16="http://schemas.microsoft.com/office/drawing/2014/main" id="{60C9F9DC-C369-4600-B13F-58879469CA2F}"/>
              </a:ext>
            </a:extLst>
          </p:cNvPr>
          <p:cNvSpPr>
            <a:spLocks xmlns:a="http://schemas.openxmlformats.org/drawingml/2006/main" noGrp="1"/>
          </p:cNvSpPr>
          <p:nvPr/>
        </p:nvSpPr>
        <p:spPr>
          <a:xfrm xmlns:a="http://schemas.openxmlformats.org/drawingml/2006/main">
            <a:off x="1571625" y="4191000"/>
            <a:ext cx="190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46C64"/>
                </a:solidFill>
              </a:defRPr>
            </a:defPPr>
            <a:lvl1pPr>
              <a:defRPr sz="1425" b="1">
                <a:solidFill>
                  <a:srgbClr val="146C64"/>
                </a:solidFill>
              </a:defRPr>
            </a:lvl1pPr>
            <a:lvl2pPr>
              <a:defRPr sz="1425" b="1">
                <a:solidFill>
                  <a:srgbClr val="146C64"/>
                </a:solidFill>
              </a:defRPr>
            </a:lvl2pPr>
            <a:lvl3pPr>
              <a:defRPr sz="1425" b="1">
                <a:solidFill>
                  <a:srgbClr val="146C64"/>
                </a:solidFill>
              </a:defRPr>
            </a:lvl3pPr>
            <a:lvl4pPr>
              <a:defRPr sz="1425" b="1">
                <a:solidFill>
                  <a:srgbClr val="146C64"/>
                </a:solidFill>
              </a:defRPr>
            </a:lvl4pPr>
            <a:lvl5pPr>
              <a:defRPr sz="1425" b="1">
                <a:solidFill>
                  <a:srgbClr val="146C64"/>
                </a:solidFill>
              </a:defRPr>
            </a:lvl5pPr>
            <a:lvl6pPr>
              <a:defRPr sz="1425" b="1">
                <a:solidFill>
                  <a:srgbClr val="146C64"/>
                </a:solidFill>
              </a:defRPr>
            </a:lvl6pPr>
            <a:lvl7pPr>
              <a:defRPr sz="1425" b="1">
                <a:solidFill>
                  <a:srgbClr val="146C64"/>
                </a:solidFill>
              </a:defRPr>
            </a:lvl7pPr>
            <a:lvl8pPr>
              <a:defRPr sz="1425" b="1">
                <a:solidFill>
                  <a:srgbClr val="146C64"/>
                </a:solidFill>
              </a:defRPr>
            </a:lvl8pPr>
            <a:lvl9pPr>
              <a:defRPr sz="1425" b="1">
                <a:solidFill>
                  <a:srgbClr val="146C64"/>
                </a:solidFill>
              </a:defRPr>
            </a:lvl9pPr>
          </a:lstStyle>
          <a:p xmlns:a="http://schemas.openxmlformats.org/drawingml/2006/main">
            <a:pPr>
              <a:defRPr sz="1425" b="1">
                <a:solidFill>
                  <a:srgbClr val="146C64"/>
                </a:solidFill>
              </a:defRPr>
            </a:pPr>
            <a:r>
              <a:rPr sz="1425" b="1">
                <a:solidFill>
                  <a:srgbClr val="146C64"/>
                </a:solidFill>
              </a:rPr>
              <a:t>Ảnh sạch</a:t>
            </a:r>
          </a:p>
        </p:txBody>
      </p:sp>
      <p:pic>
        <p:nvPicPr>
          <p:cNvPr id="17" name="">
            <a:extLst xmlns:a="http://schemas.openxmlformats.org/drawingml/2006/main">
              <a:ext uri="{FF2B5EF4-FFF2-40B4-BE49-F238E27FC236}">
                <a16:creationId xmlns:a16="http://schemas.microsoft.com/office/drawing/2014/main" id="{E299EA76-CABF-454A-A84C-E8530A6E218F}"/>
              </a:ext>
            </a:extLst>
          </p:cNvPr>
          <p:cNvPicPr>
            <a:picLocks xmlns:a="http://schemas.openxmlformats.org/drawingml/2006/main" noChangeAspect="1"/>
          </p:cNvPicPr>
          <p:nvPr/>
        </p:nvPicPr>
        <p:blipFill>
          <a:blip xmlns:r="http://schemas.openxmlformats.org/officeDocument/2006/relationships" xmlns:a="http://schemas.openxmlformats.org/drawingml/2006/main" r:embed="Rfbaecbd5b3e547e8"/>
          <a:stretch xmlns:a="http://schemas.openxmlformats.org/drawingml/2006/main"/>
        </p:blipFill>
        <p:spPr>
          <a:xfrm xmlns:a="http://schemas.openxmlformats.org/drawingml/2006/main">
            <a:off x="1857375" y="4524375"/>
            <a:ext cx="1333500" cy="1333500"/>
          </a:xfrm>
          <a:prstGeom xmlns:a="http://schemas.openxmlformats.org/drawingml/2006/main" prst="rect">
            <a:avLst/>
          </a:prstGeom>
        </p:spPr>
      </p:pic>
      <p:sp>
        <p:nvSpPr>
          <p:cNvPr id="18" name="sync-8-440-410">
            <a:extLst xmlns:a="http://schemas.openxmlformats.org/drawingml/2006/main">
              <a:ext uri="{FF2B5EF4-FFF2-40B4-BE49-F238E27FC236}">
                <a16:creationId xmlns:a16="http://schemas.microsoft.com/office/drawing/2014/main" id="{3758D8AB-ACC5-469E-ADAD-70109D28AF76}"/>
              </a:ext>
            </a:extLst>
          </p:cNvPr>
          <p:cNvSpPr>
            <a:spLocks xmlns:a="http://schemas.openxmlformats.org/drawingml/2006/main" noGrp="1"/>
          </p:cNvSpPr>
          <p:nvPr/>
        </p:nvSpPr>
        <p:spPr>
          <a:xfrm xmlns:a="http://schemas.openxmlformats.org/drawingml/2006/main">
            <a:off x="3905250" y="4191000"/>
            <a:ext cx="190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46C64"/>
                </a:solidFill>
              </a:defRPr>
            </a:defPPr>
            <a:lvl1pPr>
              <a:defRPr sz="1425" b="1">
                <a:solidFill>
                  <a:srgbClr val="146C64"/>
                </a:solidFill>
              </a:defRPr>
            </a:lvl1pPr>
            <a:lvl2pPr>
              <a:defRPr sz="1425" b="1">
                <a:solidFill>
                  <a:srgbClr val="146C64"/>
                </a:solidFill>
              </a:defRPr>
            </a:lvl2pPr>
            <a:lvl3pPr>
              <a:defRPr sz="1425" b="1">
                <a:solidFill>
                  <a:srgbClr val="146C64"/>
                </a:solidFill>
              </a:defRPr>
            </a:lvl3pPr>
            <a:lvl4pPr>
              <a:defRPr sz="1425" b="1">
                <a:solidFill>
                  <a:srgbClr val="146C64"/>
                </a:solidFill>
              </a:defRPr>
            </a:lvl4pPr>
            <a:lvl5pPr>
              <a:defRPr sz="1425" b="1">
                <a:solidFill>
                  <a:srgbClr val="146C64"/>
                </a:solidFill>
              </a:defRPr>
            </a:lvl5pPr>
            <a:lvl6pPr>
              <a:defRPr sz="1425" b="1">
                <a:solidFill>
                  <a:srgbClr val="146C64"/>
                </a:solidFill>
              </a:defRPr>
            </a:lvl6pPr>
            <a:lvl7pPr>
              <a:defRPr sz="1425" b="1">
                <a:solidFill>
                  <a:srgbClr val="146C64"/>
                </a:solidFill>
              </a:defRPr>
            </a:lvl7pPr>
            <a:lvl8pPr>
              <a:defRPr sz="1425" b="1">
                <a:solidFill>
                  <a:srgbClr val="146C64"/>
                </a:solidFill>
              </a:defRPr>
            </a:lvl8pPr>
            <a:lvl9pPr>
              <a:defRPr sz="1425" b="1">
                <a:solidFill>
                  <a:srgbClr val="146C64"/>
                </a:solidFill>
              </a:defRPr>
            </a:lvl9pPr>
          </a:lstStyle>
          <a:p xmlns:a="http://schemas.openxmlformats.org/drawingml/2006/main">
            <a:pPr>
              <a:defRPr sz="1425" b="1">
                <a:solidFill>
                  <a:srgbClr val="146C64"/>
                </a:solidFill>
              </a:defRPr>
            </a:pPr>
            <a:r>
              <a:rPr sz="1425" b="1">
                <a:solidFill>
                  <a:srgbClr val="146C64"/>
                </a:solidFill>
              </a:rPr>
              <a:t>Tối vừa</a:t>
            </a:r>
          </a:p>
        </p:txBody>
      </p:sp>
      <p:pic>
        <p:nvPicPr>
          <p:cNvPr id="19" name="">
            <a:extLst xmlns:a="http://schemas.openxmlformats.org/drawingml/2006/main">
              <a:ext uri="{FF2B5EF4-FFF2-40B4-BE49-F238E27FC236}">
                <a16:creationId xmlns:a16="http://schemas.microsoft.com/office/drawing/2014/main" id="{DAAA31C9-6370-486F-BD99-B6D2178FEB66}"/>
              </a:ext>
            </a:extLst>
          </p:cNvPr>
          <p:cNvPicPr>
            <a:picLocks xmlns:a="http://schemas.openxmlformats.org/drawingml/2006/main" noChangeAspect="1"/>
          </p:cNvPicPr>
          <p:nvPr/>
        </p:nvPicPr>
        <p:blipFill>
          <a:blip xmlns:r="http://schemas.openxmlformats.org/officeDocument/2006/relationships" xmlns:a="http://schemas.openxmlformats.org/drawingml/2006/main" r:embed="R92d77077f1374f00"/>
          <a:stretch xmlns:a="http://schemas.openxmlformats.org/drawingml/2006/main"/>
        </p:blipFill>
        <p:spPr>
          <a:xfrm xmlns:a="http://schemas.openxmlformats.org/drawingml/2006/main">
            <a:off x="4191000" y="4524375"/>
            <a:ext cx="1333500" cy="1333500"/>
          </a:xfrm>
          <a:prstGeom xmlns:a="http://schemas.openxmlformats.org/drawingml/2006/main" prst="rect">
            <a:avLst/>
          </a:prstGeom>
        </p:spPr>
      </p:pic>
      <p:sp>
        <p:nvSpPr>
          <p:cNvPr id="20" name="sync-8-440-655">
            <a:extLst xmlns:a="http://schemas.openxmlformats.org/drawingml/2006/main">
              <a:ext uri="{FF2B5EF4-FFF2-40B4-BE49-F238E27FC236}">
                <a16:creationId xmlns:a16="http://schemas.microsoft.com/office/drawing/2014/main" id="{9E06465E-24CC-4A0E-B003-D45ED74893D7}"/>
              </a:ext>
            </a:extLst>
          </p:cNvPr>
          <p:cNvSpPr>
            <a:spLocks xmlns:a="http://schemas.openxmlformats.org/drawingml/2006/main" noGrp="1"/>
          </p:cNvSpPr>
          <p:nvPr/>
        </p:nvSpPr>
        <p:spPr>
          <a:xfrm xmlns:a="http://schemas.openxmlformats.org/drawingml/2006/main">
            <a:off x="6238875" y="4191000"/>
            <a:ext cx="190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46C64"/>
                </a:solidFill>
              </a:defRPr>
            </a:defPPr>
            <a:lvl1pPr>
              <a:defRPr sz="1425" b="1">
                <a:solidFill>
                  <a:srgbClr val="146C64"/>
                </a:solidFill>
              </a:defRPr>
            </a:lvl1pPr>
            <a:lvl2pPr>
              <a:defRPr sz="1425" b="1">
                <a:solidFill>
                  <a:srgbClr val="146C64"/>
                </a:solidFill>
              </a:defRPr>
            </a:lvl2pPr>
            <a:lvl3pPr>
              <a:defRPr sz="1425" b="1">
                <a:solidFill>
                  <a:srgbClr val="146C64"/>
                </a:solidFill>
              </a:defRPr>
            </a:lvl3pPr>
            <a:lvl4pPr>
              <a:defRPr sz="1425" b="1">
                <a:solidFill>
                  <a:srgbClr val="146C64"/>
                </a:solidFill>
              </a:defRPr>
            </a:lvl4pPr>
            <a:lvl5pPr>
              <a:defRPr sz="1425" b="1">
                <a:solidFill>
                  <a:srgbClr val="146C64"/>
                </a:solidFill>
              </a:defRPr>
            </a:lvl5pPr>
            <a:lvl6pPr>
              <a:defRPr sz="1425" b="1">
                <a:solidFill>
                  <a:srgbClr val="146C64"/>
                </a:solidFill>
              </a:defRPr>
            </a:lvl6pPr>
            <a:lvl7pPr>
              <a:defRPr sz="1425" b="1">
                <a:solidFill>
                  <a:srgbClr val="146C64"/>
                </a:solidFill>
              </a:defRPr>
            </a:lvl7pPr>
            <a:lvl8pPr>
              <a:defRPr sz="1425" b="1">
                <a:solidFill>
                  <a:srgbClr val="146C64"/>
                </a:solidFill>
              </a:defRPr>
            </a:lvl8pPr>
            <a:lvl9pPr>
              <a:defRPr sz="1425" b="1">
                <a:solidFill>
                  <a:srgbClr val="146C64"/>
                </a:solidFill>
              </a:defRPr>
            </a:lvl9pPr>
          </a:lstStyle>
          <a:p xmlns:a="http://schemas.openxmlformats.org/drawingml/2006/main">
            <a:pPr>
              <a:defRPr sz="1425" b="1">
                <a:solidFill>
                  <a:srgbClr val="146C64"/>
                </a:solidFill>
              </a:defRPr>
            </a:pPr>
            <a:r>
              <a:rPr sz="1425" b="1">
                <a:solidFill>
                  <a:srgbClr val="146C64"/>
                </a:solidFill>
              </a:rPr>
              <a:t>Gamma</a:t>
            </a:r>
          </a:p>
        </p:txBody>
      </p:sp>
      <p:pic>
        <p:nvPicPr>
          <p:cNvPr id="21" name="">
            <a:extLst xmlns:a="http://schemas.openxmlformats.org/drawingml/2006/main">
              <a:ext uri="{FF2B5EF4-FFF2-40B4-BE49-F238E27FC236}">
                <a16:creationId xmlns:a16="http://schemas.microsoft.com/office/drawing/2014/main" id="{73E48AF9-9E47-49A3-9090-CDFE055AB77B}"/>
              </a:ext>
            </a:extLst>
          </p:cNvPr>
          <p:cNvPicPr>
            <a:picLocks xmlns:a="http://schemas.openxmlformats.org/drawingml/2006/main" noChangeAspect="1"/>
          </p:cNvPicPr>
          <p:nvPr/>
        </p:nvPicPr>
        <p:blipFill>
          <a:blip xmlns:r="http://schemas.openxmlformats.org/officeDocument/2006/relationships" xmlns:a="http://schemas.openxmlformats.org/drawingml/2006/main" r:embed="Rb11e7cd9cb854b98"/>
          <a:stretch xmlns:a="http://schemas.openxmlformats.org/drawingml/2006/main"/>
        </p:blipFill>
        <p:spPr>
          <a:xfrm xmlns:a="http://schemas.openxmlformats.org/drawingml/2006/main">
            <a:off x="6524625" y="4524375"/>
            <a:ext cx="1333500" cy="1333500"/>
          </a:xfrm>
          <a:prstGeom xmlns:a="http://schemas.openxmlformats.org/drawingml/2006/main" prst="rect">
            <a:avLst/>
          </a:prstGeom>
        </p:spPr>
      </p:pic>
      <p:sp>
        <p:nvSpPr>
          <p:cNvPr id="22" name="sync-8-440-900">
            <a:extLst xmlns:a="http://schemas.openxmlformats.org/drawingml/2006/main">
              <a:ext uri="{FF2B5EF4-FFF2-40B4-BE49-F238E27FC236}">
                <a16:creationId xmlns:a16="http://schemas.microsoft.com/office/drawing/2014/main" id="{5D703609-2888-4304-874A-BA052BD04659}"/>
              </a:ext>
            </a:extLst>
          </p:cNvPr>
          <p:cNvSpPr>
            <a:spLocks xmlns:a="http://schemas.openxmlformats.org/drawingml/2006/main" noGrp="1"/>
          </p:cNvSpPr>
          <p:nvPr/>
        </p:nvSpPr>
        <p:spPr>
          <a:xfrm xmlns:a="http://schemas.openxmlformats.org/drawingml/2006/main">
            <a:off x="8572500" y="4191000"/>
            <a:ext cx="190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46C64"/>
                </a:solidFill>
              </a:defRPr>
            </a:defPPr>
            <a:lvl1pPr>
              <a:defRPr sz="1425" b="1">
                <a:solidFill>
                  <a:srgbClr val="146C64"/>
                </a:solidFill>
              </a:defRPr>
            </a:lvl1pPr>
            <a:lvl2pPr>
              <a:defRPr sz="1425" b="1">
                <a:solidFill>
                  <a:srgbClr val="146C64"/>
                </a:solidFill>
              </a:defRPr>
            </a:lvl2pPr>
            <a:lvl3pPr>
              <a:defRPr sz="1425" b="1">
                <a:solidFill>
                  <a:srgbClr val="146C64"/>
                </a:solidFill>
              </a:defRPr>
            </a:lvl3pPr>
            <a:lvl4pPr>
              <a:defRPr sz="1425" b="1">
                <a:solidFill>
                  <a:srgbClr val="146C64"/>
                </a:solidFill>
              </a:defRPr>
            </a:lvl4pPr>
            <a:lvl5pPr>
              <a:defRPr sz="1425" b="1">
                <a:solidFill>
                  <a:srgbClr val="146C64"/>
                </a:solidFill>
              </a:defRPr>
            </a:lvl5pPr>
            <a:lvl6pPr>
              <a:defRPr sz="1425" b="1">
                <a:solidFill>
                  <a:srgbClr val="146C64"/>
                </a:solidFill>
              </a:defRPr>
            </a:lvl6pPr>
            <a:lvl7pPr>
              <a:defRPr sz="1425" b="1">
                <a:solidFill>
                  <a:srgbClr val="146C64"/>
                </a:solidFill>
              </a:defRPr>
            </a:lvl7pPr>
            <a:lvl8pPr>
              <a:defRPr sz="1425" b="1">
                <a:solidFill>
                  <a:srgbClr val="146C64"/>
                </a:solidFill>
              </a:defRPr>
            </a:lvl8pPr>
            <a:lvl9pPr>
              <a:defRPr sz="1425" b="1">
                <a:solidFill>
                  <a:srgbClr val="146C64"/>
                </a:solidFill>
              </a:defRPr>
            </a:lvl9pPr>
          </a:lstStyle>
          <a:p xmlns:a="http://schemas.openxmlformats.org/drawingml/2006/main">
            <a:pPr>
              <a:defRPr sz="1425" b="1">
                <a:solidFill>
                  <a:srgbClr val="146C64"/>
                </a:solidFill>
              </a:defRPr>
            </a:pPr>
            <a:r>
              <a:rPr sz="1425" b="1">
                <a:solidFill>
                  <a:srgbClr val="146C64"/>
                </a:solidFill>
              </a:rPr>
              <a:t>CLAHE</a:t>
            </a:r>
          </a:p>
        </p:txBody>
      </p:sp>
      <p:pic>
        <p:nvPicPr>
          <p:cNvPr id="23" name="">
            <a:extLst xmlns:a="http://schemas.openxmlformats.org/drawingml/2006/main">
              <a:ext uri="{FF2B5EF4-FFF2-40B4-BE49-F238E27FC236}">
                <a16:creationId xmlns:a16="http://schemas.microsoft.com/office/drawing/2014/main" id="{39274484-1FB9-4E05-A135-AD2A83FA5579}"/>
              </a:ext>
            </a:extLst>
          </p:cNvPr>
          <p:cNvPicPr>
            <a:picLocks xmlns:a="http://schemas.openxmlformats.org/drawingml/2006/main" noChangeAspect="1"/>
          </p:cNvPicPr>
          <p:nvPr/>
        </p:nvPicPr>
        <p:blipFill>
          <a:blip xmlns:r="http://schemas.openxmlformats.org/officeDocument/2006/relationships" xmlns:a="http://schemas.openxmlformats.org/drawingml/2006/main" r:embed="Rb758fc4ee1154fb3"/>
          <a:stretch xmlns:a="http://schemas.openxmlformats.org/drawingml/2006/main"/>
        </p:blipFill>
        <p:spPr>
          <a:xfrm xmlns:a="http://schemas.openxmlformats.org/drawingml/2006/main">
            <a:off x="8858250" y="4524375"/>
            <a:ext cx="1333500" cy="1333500"/>
          </a:xfrm>
          <a:prstGeom xmlns:a="http://schemas.openxmlformats.org/drawingml/2006/main" prst="rect">
            <a:avLst/>
          </a:prstGeom>
        </p:spPr>
      </p:pic>
      <p:sp>
        <p:nvSpPr>
          <p:cNvPr id="24" name="sync-8-632-65">
            <a:extLst xmlns:a="http://schemas.openxmlformats.org/drawingml/2006/main">
              <a:ext uri="{FF2B5EF4-FFF2-40B4-BE49-F238E27FC236}">
                <a16:creationId xmlns:a16="http://schemas.microsoft.com/office/drawing/2014/main" id="{ABA4011E-CFB6-468D-A098-4C9B20B513EB}"/>
              </a:ext>
            </a:extLst>
          </p:cNvPr>
          <p:cNvSpPr>
            <a:spLocks xmlns:a="http://schemas.openxmlformats.org/drawingml/2006/main" noGrp="1"/>
          </p:cNvSpPr>
          <p:nvPr/>
        </p:nvSpPr>
        <p:spPr>
          <a:xfrm xmlns:a="http://schemas.openxmlformats.org/drawingml/2006/main">
            <a:off x="619125" y="6019800"/>
            <a:ext cx="10953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0616D"/>
                </a:solidFill>
              </a:defRPr>
            </a:defPPr>
            <a:lvl1pPr>
              <a:defRPr sz="1200" b="0">
                <a:solidFill>
                  <a:srgbClr val="50616D"/>
                </a:solidFill>
              </a:defRPr>
            </a:lvl1pPr>
            <a:lvl2pPr>
              <a:defRPr sz="1200" b="0">
                <a:solidFill>
                  <a:srgbClr val="50616D"/>
                </a:solidFill>
              </a:defRPr>
            </a:lvl2pPr>
            <a:lvl3pPr>
              <a:defRPr sz="1200" b="0">
                <a:solidFill>
                  <a:srgbClr val="50616D"/>
                </a:solidFill>
              </a:defRPr>
            </a:lvl3pPr>
            <a:lvl4pPr>
              <a:defRPr sz="1200" b="0">
                <a:solidFill>
                  <a:srgbClr val="50616D"/>
                </a:solidFill>
              </a:defRPr>
            </a:lvl4pPr>
            <a:lvl5pPr>
              <a:defRPr sz="1200" b="0">
                <a:solidFill>
                  <a:srgbClr val="50616D"/>
                </a:solidFill>
              </a:defRPr>
            </a:lvl5pPr>
            <a:lvl6pPr>
              <a:defRPr sz="1200" b="0">
                <a:solidFill>
                  <a:srgbClr val="50616D"/>
                </a:solidFill>
              </a:defRPr>
            </a:lvl6pPr>
            <a:lvl7pPr>
              <a:defRPr sz="1200" b="0">
                <a:solidFill>
                  <a:srgbClr val="50616D"/>
                </a:solidFill>
              </a:defRPr>
            </a:lvl7pPr>
            <a:lvl8pPr>
              <a:defRPr sz="1200" b="0">
                <a:solidFill>
                  <a:srgbClr val="50616D"/>
                </a:solidFill>
              </a:defRPr>
            </a:lvl8pPr>
            <a:lvl9pPr>
              <a:defRPr sz="1200" b="0">
                <a:solidFill>
                  <a:srgbClr val="50616D"/>
                </a:solidFill>
              </a:defRPr>
            </a:lvl9pPr>
          </a:lstStyle>
          <a:p xmlns:a="http://schemas.openxmlformats.org/drawingml/2006/main">
            <a:pPr>
              <a:defRPr sz="1200" b="0">
                <a:solidFill>
                  <a:srgbClr val="50616D"/>
                </a:solidFill>
              </a:defRPr>
            </a:pPr>
            <a:r>
              <a:rPr sz="1200" b="0">
                <a:solidFill>
                  <a:srgbClr val="50616D"/>
                </a:solidFill>
              </a:rPr>
              <a:t>Minh họa một ảnh; số liệu toàn Test nằm ở phần kết quả.</a:t>
            </a:r>
          </a:p>
        </p:txBody>
      </p:sp>
    </p:spTree>
    <p:extLst>
      <p:ext uri="{BB962C8B-B14F-4D97-AF65-F5344CB8AC3E}">
        <p14:creationId xmlns:p14="http://schemas.microsoft.com/office/powerpoint/2010/main" val="97744677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Hình chữ nhật 9">
            <a:extLst xmlns:a="http://schemas.openxmlformats.org/drawingml/2006/main">
              <a:ext uri="{FF2B5EF4-FFF2-40B4-BE49-F238E27FC236}">
                <a16:creationId xmlns:a16="http://schemas.microsoft.com/office/drawing/2014/main" id="{15E12350-52FF-4DD3-B9F5-D65245DA3618}"/>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Gaussian và median</a:t>
            </a:r>
          </a:p>
        </p:txBody>
      </p:sp>
      <p:sp>
        <p:nvSpPr>
          <p:cNvPr id="2" name="Hình chữ nhật 1">
            <a:extLst xmlns:a="http://schemas.openxmlformats.org/drawingml/2006/main">
              <a:ext uri="{FF2B5EF4-FFF2-40B4-BE49-F238E27FC236}">
                <a16:creationId xmlns:a16="http://schemas.microsoft.com/office/drawing/2014/main" id="{2F92DBDD-8B7B-4123-B89B-C7422EB5ECB3}"/>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Mục 4.3  Khử nhiễu</a:t>
            </a:r>
          </a:p>
        </p:txBody>
      </p:sp>
      <p:sp>
        <p:nvSpPr>
          <p:cNvPr id="3" name="Hình chữ nhật 2">
            <a:extLst xmlns:a="http://schemas.openxmlformats.org/drawingml/2006/main">
              <a:ext uri="{FF2B5EF4-FFF2-40B4-BE49-F238E27FC236}">
                <a16:creationId xmlns:a16="http://schemas.microsoft.com/office/drawing/2014/main" id="{5AAE7CE3-27B8-466B-B82A-678C06E7C30D}"/>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09</a:t>
            </a:r>
          </a:p>
        </p:txBody>
      </p:sp>
      <p:sp>
        <p:nvSpPr>
          <p:cNvPr id="4" name="Hình chữ nhật 3">
            <a:extLst xmlns:a="http://schemas.openxmlformats.org/drawingml/2006/main">
              <a:ext uri="{FF2B5EF4-FFF2-40B4-BE49-F238E27FC236}">
                <a16:creationId xmlns:a16="http://schemas.microsoft.com/office/drawing/2014/main" id="{76F733CE-1640-48E7-A69E-24264987729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sp>
        <p:nvSpPr>
          <p:cNvPr id="5" name="Hình chữ nhật 4">
            <a:extLst xmlns:a="http://schemas.openxmlformats.org/drawingml/2006/main">
              <a:ext uri="{FF2B5EF4-FFF2-40B4-BE49-F238E27FC236}">
                <a16:creationId xmlns:a16="http://schemas.microsoft.com/office/drawing/2014/main" id="{E59AFF38-C883-4071-82D4-E2AB886B771F}"/>
              </a:ext>
            </a:extLst>
          </p:cNvPr>
          <p:cNvSpPr>
            <a:spLocks xmlns:a="http://schemas.openxmlformats.org/drawingml/2006/main" noGrp="1"/>
          </p:cNvSpPr>
          <p:nvPr/>
        </p:nvSpPr>
        <p:spPr>
          <a:xfrm xmlns:a="http://schemas.openxmlformats.org/drawingml/2006/main">
            <a:off x="619125" y="19526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vl1pPr>
              <a:defRPr sz="2100" b="0">
                <a:solidFill>
                  <a:srgbClr val="142C40"/>
                </a:solidFill>
              </a:defRPr>
            </a:lvl1pPr>
            <a:lvl2pPr>
              <a:defRPr sz="2100" b="0">
                <a:solidFill>
                  <a:srgbClr val="142C40"/>
                </a:solidFill>
              </a:defRPr>
            </a:lvl2pPr>
            <a:lvl3pPr>
              <a:defRPr sz="2100" b="0">
                <a:solidFill>
                  <a:srgbClr val="142C40"/>
                </a:solidFill>
              </a:defRPr>
            </a:lvl3pPr>
            <a:lvl4pPr>
              <a:defRPr sz="2100" b="0">
                <a:solidFill>
                  <a:srgbClr val="142C40"/>
                </a:solidFill>
              </a:defRPr>
            </a:lvl4pPr>
            <a:lvl5pPr>
              <a:defRPr sz="2100" b="0">
                <a:solidFill>
                  <a:srgbClr val="142C40"/>
                </a:solidFill>
              </a:defRPr>
            </a:lvl5pPr>
            <a:lvl6pPr>
              <a:defRPr sz="2100" b="0">
                <a:solidFill>
                  <a:srgbClr val="142C40"/>
                </a:solidFill>
              </a:defRPr>
            </a:lvl6pPr>
            <a:lvl7pPr>
              <a:defRPr sz="2100" b="0">
                <a:solidFill>
                  <a:srgbClr val="142C40"/>
                </a:solidFill>
              </a:defRPr>
            </a:lvl7pPr>
            <a:lvl8pPr>
              <a:defRPr sz="2100" b="0">
                <a:solidFill>
                  <a:srgbClr val="142C40"/>
                </a:solidFill>
              </a:defRPr>
            </a:lvl8pPr>
            <a:lvl9pPr>
              <a:defRPr sz="2100" b="0">
                <a:solidFill>
                  <a:srgbClr val="142C40"/>
                </a:solidFill>
              </a:defRPr>
            </a:lvl9pPr>
          </a:lstStyle>
          <a:p xmlns:a="http://schemas.openxmlformats.org/drawingml/2006/main">
            <a:pPr>
              <a:buNone/>
              <a:defRPr sz="2100" b="0">
                <a:solidFill>
                  <a:srgbClr val="142C40"/>
                </a:solidFill>
              </a:defRPr>
            </a:pPr>
            <a:r>
              <a:rPr sz="2100" b="0">
                <a:solidFill>
                  <a:srgbClr val="142C40"/>
                </a:solidFill>
              </a:rPr>
              <a:t>Gaussian: trung bình có trọng số; σ = 0,7 / 1,0 / 1,3.</a:t>
            </a:r>
          </a:p>
        </p:txBody>
      </p:sp>
      <p:sp>
        <p:nvSpPr>
          <p:cNvPr id="6" name="Hình chữ nhật 5">
            <a:extLst xmlns:a="http://schemas.openxmlformats.org/drawingml/2006/main">
              <a:ext uri="{FF2B5EF4-FFF2-40B4-BE49-F238E27FC236}">
                <a16:creationId xmlns:a16="http://schemas.microsoft.com/office/drawing/2014/main" id="{DC5FEAF9-FBA6-458D-BB32-2F008DCF97BD}"/>
              </a:ext>
            </a:extLst>
          </p:cNvPr>
          <p:cNvSpPr>
            <a:spLocks xmlns:a="http://schemas.openxmlformats.org/drawingml/2006/main" noGrp="1"/>
          </p:cNvSpPr>
          <p:nvPr/>
        </p:nvSpPr>
        <p:spPr>
          <a:xfrm xmlns:a="http://schemas.openxmlformats.org/drawingml/2006/main">
            <a:off x="619125" y="26193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vl1pPr>
              <a:defRPr sz="2100" b="0">
                <a:solidFill>
                  <a:srgbClr val="142C40"/>
                </a:solidFill>
              </a:defRPr>
            </a:lvl1pPr>
            <a:lvl2pPr>
              <a:defRPr sz="2100" b="0">
                <a:solidFill>
                  <a:srgbClr val="142C40"/>
                </a:solidFill>
              </a:defRPr>
            </a:lvl2pPr>
            <a:lvl3pPr>
              <a:defRPr sz="2100" b="0">
                <a:solidFill>
                  <a:srgbClr val="142C40"/>
                </a:solidFill>
              </a:defRPr>
            </a:lvl3pPr>
            <a:lvl4pPr>
              <a:defRPr sz="2100" b="0">
                <a:solidFill>
                  <a:srgbClr val="142C40"/>
                </a:solidFill>
              </a:defRPr>
            </a:lvl4pPr>
            <a:lvl5pPr>
              <a:defRPr sz="2100" b="0">
                <a:solidFill>
                  <a:srgbClr val="142C40"/>
                </a:solidFill>
              </a:defRPr>
            </a:lvl5pPr>
            <a:lvl6pPr>
              <a:defRPr sz="2100" b="0">
                <a:solidFill>
                  <a:srgbClr val="142C40"/>
                </a:solidFill>
              </a:defRPr>
            </a:lvl6pPr>
            <a:lvl7pPr>
              <a:defRPr sz="2100" b="0">
                <a:solidFill>
                  <a:srgbClr val="142C40"/>
                </a:solidFill>
              </a:defRPr>
            </a:lvl7pPr>
            <a:lvl8pPr>
              <a:defRPr sz="2100" b="0">
                <a:solidFill>
                  <a:srgbClr val="142C40"/>
                </a:solidFill>
              </a:defRPr>
            </a:lvl8pPr>
            <a:lvl9pPr>
              <a:defRPr sz="2100" b="0">
                <a:solidFill>
                  <a:srgbClr val="142C40"/>
                </a:solidFill>
              </a:defRPr>
            </a:lvl9pPr>
          </a:lstStyle>
          <a:p xmlns:a="http://schemas.openxmlformats.org/drawingml/2006/main">
            <a:pPr>
              <a:buNone/>
              <a:defRPr sz="2100" b="0">
                <a:solidFill>
                  <a:srgbClr val="142C40"/>
                </a:solidFill>
              </a:defRPr>
            </a:pPr>
            <a:r>
              <a:rPr sz="2100" b="0">
                <a:solidFill>
                  <a:srgbClr val="142C40"/>
                </a:solidFill>
              </a:rPr>
              <a:t>Median: trung vị cửa sổ 3 × 3 hoặc 5 × 5; ít bị outlier chi phối.</a:t>
            </a:r>
          </a:p>
        </p:txBody>
      </p:sp>
      <p:sp>
        <p:nvSpPr>
          <p:cNvPr id="7" name="Hình chữ nhật 6">
            <a:extLst xmlns:a="http://schemas.openxmlformats.org/drawingml/2006/main">
              <a:ext uri="{FF2B5EF4-FFF2-40B4-BE49-F238E27FC236}">
                <a16:creationId xmlns:a16="http://schemas.microsoft.com/office/drawing/2014/main" id="{38BCCCAA-CDB0-419C-BE57-2A4E03F281ED}"/>
              </a:ext>
            </a:extLst>
          </p:cNvPr>
          <p:cNvSpPr>
            <a:spLocks xmlns:a="http://schemas.openxmlformats.org/drawingml/2006/main" noGrp="1"/>
          </p:cNvSpPr>
          <p:nvPr/>
        </p:nvSpPr>
        <p:spPr>
          <a:xfrm xmlns:a="http://schemas.openxmlformats.org/drawingml/2006/main">
            <a:off x="619125" y="32861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vl1pPr>
              <a:defRPr sz="2100" b="0">
                <a:solidFill>
                  <a:srgbClr val="142C40"/>
                </a:solidFill>
              </a:defRPr>
            </a:lvl1pPr>
            <a:lvl2pPr>
              <a:defRPr sz="2100" b="0">
                <a:solidFill>
                  <a:srgbClr val="142C40"/>
                </a:solidFill>
              </a:defRPr>
            </a:lvl2pPr>
            <a:lvl3pPr>
              <a:defRPr sz="2100" b="0">
                <a:solidFill>
                  <a:srgbClr val="142C40"/>
                </a:solidFill>
              </a:defRPr>
            </a:lvl3pPr>
            <a:lvl4pPr>
              <a:defRPr sz="2100" b="0">
                <a:solidFill>
                  <a:srgbClr val="142C40"/>
                </a:solidFill>
              </a:defRPr>
            </a:lvl4pPr>
            <a:lvl5pPr>
              <a:defRPr sz="2100" b="0">
                <a:solidFill>
                  <a:srgbClr val="142C40"/>
                </a:solidFill>
              </a:defRPr>
            </a:lvl5pPr>
            <a:lvl6pPr>
              <a:defRPr sz="2100" b="0">
                <a:solidFill>
                  <a:srgbClr val="142C40"/>
                </a:solidFill>
              </a:defRPr>
            </a:lvl6pPr>
            <a:lvl7pPr>
              <a:defRPr sz="2100" b="0">
                <a:solidFill>
                  <a:srgbClr val="142C40"/>
                </a:solidFill>
              </a:defRPr>
            </a:lvl7pPr>
            <a:lvl8pPr>
              <a:defRPr sz="2100" b="0">
                <a:solidFill>
                  <a:srgbClr val="142C40"/>
                </a:solidFill>
              </a:defRPr>
            </a:lvl8pPr>
            <a:lvl9pPr>
              <a:defRPr sz="2100" b="0">
                <a:solidFill>
                  <a:srgbClr val="142C40"/>
                </a:solidFill>
              </a:defRPr>
            </a:lvl9pPr>
          </a:lstStyle>
          <a:p xmlns:a="http://schemas.openxmlformats.org/drawingml/2006/main">
            <a:pPr>
              <a:buNone/>
              <a:defRPr sz="2100" b="0">
                <a:solidFill>
                  <a:srgbClr val="142C40"/>
                </a:solidFill>
              </a:defRPr>
            </a:pPr>
            <a:r>
              <a:rPr sz="2100" b="0">
                <a:solidFill>
                  <a:srgbClr val="142C40"/>
                </a:solidFill>
              </a:rPr>
              <a:t>8 pixel 10 và 1 pixel 255: median = 10; trung bình đều ≈ 37,22.</a:t>
            </a:r>
          </a:p>
        </p:txBody>
      </p:sp>
      <p:sp>
        <p:nvSpPr>
          <p:cNvPr id="8" name="Hình chữ nhật 7">
            <a:extLst xmlns:a="http://schemas.openxmlformats.org/drawingml/2006/main">
              <a:ext uri="{FF2B5EF4-FFF2-40B4-BE49-F238E27FC236}">
                <a16:creationId xmlns:a16="http://schemas.microsoft.com/office/drawing/2014/main" id="{4426872F-C7D1-4ADB-ACB9-AF397034AF61}"/>
              </a:ext>
            </a:extLst>
          </p:cNvPr>
          <p:cNvSpPr>
            <a:spLocks xmlns:a="http://schemas.openxmlformats.org/drawingml/2006/main" noGrp="1"/>
          </p:cNvSpPr>
          <p:nvPr/>
        </p:nvSpPr>
        <p:spPr>
          <a:xfrm xmlns:a="http://schemas.openxmlformats.org/drawingml/2006/main">
            <a:off x="619125" y="429577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vl1pPr>
              <a:defRPr sz="2100" b="0">
                <a:solidFill>
                  <a:srgbClr val="142C40"/>
                </a:solidFill>
              </a:defRPr>
            </a:lvl1pPr>
            <a:lvl2pPr>
              <a:defRPr sz="2100" b="0">
                <a:solidFill>
                  <a:srgbClr val="142C40"/>
                </a:solidFill>
              </a:defRPr>
            </a:lvl2pPr>
            <a:lvl3pPr>
              <a:defRPr sz="2100" b="0">
                <a:solidFill>
                  <a:srgbClr val="142C40"/>
                </a:solidFill>
              </a:defRPr>
            </a:lvl3pPr>
            <a:lvl4pPr>
              <a:defRPr sz="2100" b="0">
                <a:solidFill>
                  <a:srgbClr val="142C40"/>
                </a:solidFill>
              </a:defRPr>
            </a:lvl4pPr>
            <a:lvl5pPr>
              <a:defRPr sz="2100" b="0">
                <a:solidFill>
                  <a:srgbClr val="142C40"/>
                </a:solidFill>
              </a:defRPr>
            </a:lvl5pPr>
            <a:lvl6pPr>
              <a:defRPr sz="2100" b="0">
                <a:solidFill>
                  <a:srgbClr val="142C40"/>
                </a:solidFill>
              </a:defRPr>
            </a:lvl6pPr>
            <a:lvl7pPr>
              <a:defRPr sz="2100" b="0">
                <a:solidFill>
                  <a:srgbClr val="142C40"/>
                </a:solidFill>
              </a:defRPr>
            </a:lvl7pPr>
            <a:lvl8pPr>
              <a:defRPr sz="2100" b="0">
                <a:solidFill>
                  <a:srgbClr val="142C40"/>
                </a:solidFill>
              </a:defRPr>
            </a:lvl8pPr>
            <a:lvl9pPr>
              <a:defRPr sz="2100" b="0">
                <a:solidFill>
                  <a:srgbClr val="142C40"/>
                </a:solidFill>
              </a:defRPr>
            </a:lvl9pPr>
          </a:lstStyle>
          <a:p xmlns:a="http://schemas.openxmlformats.org/drawingml/2006/main">
            <a:pPr>
              <a:buNone/>
              <a:defRPr sz="2100" b="0">
                <a:solidFill>
                  <a:srgbClr val="142C40"/>
                </a:solidFill>
              </a:defRPr>
            </a:pPr>
            <a:r>
              <a:rPr sz="2100" b="0">
                <a:solidFill>
                  <a:srgbClr val="142C40"/>
                </a:solidFill>
              </a:rPr>
              <a:t/>
            </a:r>
          </a:p>
        </p:txBody>
      </p:sp>
      <p:sp>
        <p:nvSpPr>
          <p:cNvPr id="9" name="Hình chữ nhật 8">
            <a:extLst xmlns:a="http://schemas.openxmlformats.org/drawingml/2006/main">
              <a:ext uri="{FF2B5EF4-FFF2-40B4-BE49-F238E27FC236}">
                <a16:creationId xmlns:a16="http://schemas.microsoft.com/office/drawing/2014/main" id="{8E771A5F-4BED-4335-90B1-174D1B123D24}"/>
              </a:ext>
            </a:extLst>
          </p:cNvPr>
          <p:cNvSpPr>
            <a:spLocks xmlns:a="http://schemas.openxmlformats.org/drawingml/2006/main" noGrp="1"/>
          </p:cNvSpPr>
          <p:nvPr/>
        </p:nvSpPr>
        <p:spPr>
          <a:xfrm xmlns:a="http://schemas.openxmlformats.org/drawingml/2006/main">
            <a:off x="619125" y="507682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vl1pPr>
              <a:defRPr sz="2100" b="0">
                <a:solidFill>
                  <a:srgbClr val="142C40"/>
                </a:solidFill>
              </a:defRPr>
            </a:lvl1pPr>
            <a:lvl2pPr>
              <a:defRPr sz="2100" b="0">
                <a:solidFill>
                  <a:srgbClr val="142C40"/>
                </a:solidFill>
              </a:defRPr>
            </a:lvl2pPr>
            <a:lvl3pPr>
              <a:defRPr sz="2100" b="0">
                <a:solidFill>
                  <a:srgbClr val="142C40"/>
                </a:solidFill>
              </a:defRPr>
            </a:lvl3pPr>
            <a:lvl4pPr>
              <a:defRPr sz="2100" b="0">
                <a:solidFill>
                  <a:srgbClr val="142C40"/>
                </a:solidFill>
              </a:defRPr>
            </a:lvl4pPr>
            <a:lvl5pPr>
              <a:defRPr sz="2100" b="0">
                <a:solidFill>
                  <a:srgbClr val="142C40"/>
                </a:solidFill>
              </a:defRPr>
            </a:lvl5pPr>
            <a:lvl6pPr>
              <a:defRPr sz="2100" b="0">
                <a:solidFill>
                  <a:srgbClr val="142C40"/>
                </a:solidFill>
              </a:defRPr>
            </a:lvl6pPr>
            <a:lvl7pPr>
              <a:defRPr sz="2100" b="0">
                <a:solidFill>
                  <a:srgbClr val="142C40"/>
                </a:solidFill>
              </a:defRPr>
            </a:lvl7pPr>
            <a:lvl8pPr>
              <a:defRPr sz="2100" b="0">
                <a:solidFill>
                  <a:srgbClr val="142C40"/>
                </a:solidFill>
              </a:defRPr>
            </a:lvl8pPr>
            <a:lvl9pPr>
              <a:defRPr sz="2100" b="0">
                <a:solidFill>
                  <a:srgbClr val="142C40"/>
                </a:solidFill>
              </a:defRPr>
            </a:lvl9pPr>
          </a:lstStyle>
          <a:p xmlns:a="http://schemas.openxmlformats.org/drawingml/2006/main">
            <a:pPr>
              <a:buNone/>
              <a:defRPr sz="2100" b="0">
                <a:solidFill>
                  <a:srgbClr val="142C40"/>
                </a:solidFill>
              </a:defRPr>
            </a:pPr>
            <a:r>
              <a:rPr sz="2100" b="0">
                <a:solidFill>
                  <a:srgbClr val="142C40"/>
                </a:solidFill>
              </a:rPr>
              <a:t/>
            </a:r>
          </a:p>
        </p:txBody>
      </p:sp>
      <p:sp>
        <p:nvSpPr>
          <p:cNvPr id="11" name="sync-9-440-285">
            <a:extLst xmlns:a="http://schemas.openxmlformats.org/drawingml/2006/main">
              <a:ext uri="{FF2B5EF4-FFF2-40B4-BE49-F238E27FC236}">
                <a16:creationId xmlns:a16="http://schemas.microsoft.com/office/drawing/2014/main" id="{C6511D14-E9EF-40DA-801F-BFE0A2229FF3}"/>
              </a:ext>
            </a:extLst>
          </p:cNvPr>
          <p:cNvSpPr>
            <a:spLocks xmlns:a="http://schemas.openxmlformats.org/drawingml/2006/main" noGrp="1"/>
          </p:cNvSpPr>
          <p:nvPr/>
        </p:nvSpPr>
        <p:spPr>
          <a:xfrm xmlns:a="http://schemas.openxmlformats.org/drawingml/2006/main">
            <a:off x="2714625" y="4191000"/>
            <a:ext cx="190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46C64"/>
                </a:solidFill>
              </a:defRPr>
            </a:defPPr>
            <a:lvl1pPr>
              <a:defRPr sz="1425" b="1">
                <a:solidFill>
                  <a:srgbClr val="146C64"/>
                </a:solidFill>
              </a:defRPr>
            </a:lvl1pPr>
            <a:lvl2pPr>
              <a:defRPr sz="1425" b="1">
                <a:solidFill>
                  <a:srgbClr val="146C64"/>
                </a:solidFill>
              </a:defRPr>
            </a:lvl2pPr>
            <a:lvl3pPr>
              <a:defRPr sz="1425" b="1">
                <a:solidFill>
                  <a:srgbClr val="146C64"/>
                </a:solidFill>
              </a:defRPr>
            </a:lvl3pPr>
            <a:lvl4pPr>
              <a:defRPr sz="1425" b="1">
                <a:solidFill>
                  <a:srgbClr val="146C64"/>
                </a:solidFill>
              </a:defRPr>
            </a:lvl4pPr>
            <a:lvl5pPr>
              <a:defRPr sz="1425" b="1">
                <a:solidFill>
                  <a:srgbClr val="146C64"/>
                </a:solidFill>
              </a:defRPr>
            </a:lvl5pPr>
            <a:lvl6pPr>
              <a:defRPr sz="1425" b="1">
                <a:solidFill>
                  <a:srgbClr val="146C64"/>
                </a:solidFill>
              </a:defRPr>
            </a:lvl6pPr>
            <a:lvl7pPr>
              <a:defRPr sz="1425" b="1">
                <a:solidFill>
                  <a:srgbClr val="146C64"/>
                </a:solidFill>
              </a:defRPr>
            </a:lvl7pPr>
            <a:lvl8pPr>
              <a:defRPr sz="1425" b="1">
                <a:solidFill>
                  <a:srgbClr val="146C64"/>
                </a:solidFill>
              </a:defRPr>
            </a:lvl8pPr>
            <a:lvl9pPr>
              <a:defRPr sz="1425" b="1">
                <a:solidFill>
                  <a:srgbClr val="146C64"/>
                </a:solidFill>
              </a:defRPr>
            </a:lvl9pPr>
          </a:lstStyle>
          <a:p xmlns:a="http://schemas.openxmlformats.org/drawingml/2006/main">
            <a:pPr>
              <a:defRPr sz="1425" b="1">
                <a:solidFill>
                  <a:srgbClr val="146C64"/>
                </a:solidFill>
              </a:defRPr>
            </a:pPr>
            <a:r>
              <a:rPr sz="1425" b="1">
                <a:solidFill>
                  <a:srgbClr val="146C64"/>
                </a:solidFill>
              </a:rPr>
              <a:t>Nhiễu xung mạnh</a:t>
            </a:r>
          </a:p>
        </p:txBody>
      </p:sp>
      <p:pic>
        <p:nvPicPr>
          <p:cNvPr id="12" name="">
            <a:extLst xmlns:a="http://schemas.openxmlformats.org/drawingml/2006/main">
              <a:ext uri="{FF2B5EF4-FFF2-40B4-BE49-F238E27FC236}">
                <a16:creationId xmlns:a16="http://schemas.microsoft.com/office/drawing/2014/main" id="{6EA487D4-6768-4048-A158-4E64EFDEC1E9}"/>
              </a:ext>
            </a:extLst>
          </p:cNvPr>
          <p:cNvPicPr>
            <a:picLocks xmlns:a="http://schemas.openxmlformats.org/drawingml/2006/main" noChangeAspect="1"/>
          </p:cNvPicPr>
          <p:nvPr/>
        </p:nvPicPr>
        <p:blipFill>
          <a:blip xmlns:r="http://schemas.openxmlformats.org/officeDocument/2006/relationships" xmlns:a="http://schemas.openxmlformats.org/drawingml/2006/main" r:embed="Raddf6ea17b0d4f4a"/>
          <a:stretch xmlns:a="http://schemas.openxmlformats.org/drawingml/2006/main"/>
        </p:blipFill>
        <p:spPr>
          <a:xfrm xmlns:a="http://schemas.openxmlformats.org/drawingml/2006/main">
            <a:off x="3000375" y="4524375"/>
            <a:ext cx="1333500" cy="1333500"/>
          </a:xfrm>
          <a:prstGeom xmlns:a="http://schemas.openxmlformats.org/drawingml/2006/main" prst="rect">
            <a:avLst/>
          </a:prstGeom>
        </p:spPr>
      </p:pic>
      <p:sp>
        <p:nvSpPr>
          <p:cNvPr id="13" name="sync-9-440-525">
            <a:extLst xmlns:a="http://schemas.openxmlformats.org/drawingml/2006/main">
              <a:ext uri="{FF2B5EF4-FFF2-40B4-BE49-F238E27FC236}">
                <a16:creationId xmlns:a16="http://schemas.microsoft.com/office/drawing/2014/main" id="{F2308714-70B9-4DF0-829E-E2F728C33F19}"/>
              </a:ext>
            </a:extLst>
          </p:cNvPr>
          <p:cNvSpPr>
            <a:spLocks xmlns:a="http://schemas.openxmlformats.org/drawingml/2006/main" noGrp="1"/>
          </p:cNvSpPr>
          <p:nvPr/>
        </p:nvSpPr>
        <p:spPr>
          <a:xfrm xmlns:a="http://schemas.openxmlformats.org/drawingml/2006/main">
            <a:off x="5000625" y="4191000"/>
            <a:ext cx="190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46C64"/>
                </a:solidFill>
              </a:defRPr>
            </a:defPPr>
            <a:lvl1pPr>
              <a:defRPr sz="1425" b="1">
                <a:solidFill>
                  <a:srgbClr val="146C64"/>
                </a:solidFill>
              </a:defRPr>
            </a:lvl1pPr>
            <a:lvl2pPr>
              <a:defRPr sz="1425" b="1">
                <a:solidFill>
                  <a:srgbClr val="146C64"/>
                </a:solidFill>
              </a:defRPr>
            </a:lvl2pPr>
            <a:lvl3pPr>
              <a:defRPr sz="1425" b="1">
                <a:solidFill>
                  <a:srgbClr val="146C64"/>
                </a:solidFill>
              </a:defRPr>
            </a:lvl3pPr>
            <a:lvl4pPr>
              <a:defRPr sz="1425" b="1">
                <a:solidFill>
                  <a:srgbClr val="146C64"/>
                </a:solidFill>
              </a:defRPr>
            </a:lvl4pPr>
            <a:lvl5pPr>
              <a:defRPr sz="1425" b="1">
                <a:solidFill>
                  <a:srgbClr val="146C64"/>
                </a:solidFill>
              </a:defRPr>
            </a:lvl5pPr>
            <a:lvl6pPr>
              <a:defRPr sz="1425" b="1">
                <a:solidFill>
                  <a:srgbClr val="146C64"/>
                </a:solidFill>
              </a:defRPr>
            </a:lvl6pPr>
            <a:lvl7pPr>
              <a:defRPr sz="1425" b="1">
                <a:solidFill>
                  <a:srgbClr val="146C64"/>
                </a:solidFill>
              </a:defRPr>
            </a:lvl7pPr>
            <a:lvl8pPr>
              <a:defRPr sz="1425" b="1">
                <a:solidFill>
                  <a:srgbClr val="146C64"/>
                </a:solidFill>
              </a:defRPr>
            </a:lvl8pPr>
            <a:lvl9pPr>
              <a:defRPr sz="1425" b="1">
                <a:solidFill>
                  <a:srgbClr val="146C64"/>
                </a:solidFill>
              </a:defRPr>
            </a:lvl9pPr>
          </a:lstStyle>
          <a:p xmlns:a="http://schemas.openxmlformats.org/drawingml/2006/main">
            <a:pPr>
              <a:defRPr sz="1425" b="1">
                <a:solidFill>
                  <a:srgbClr val="146C64"/>
                </a:solidFill>
              </a:defRPr>
            </a:pPr>
            <a:r>
              <a:rPr sz="1425" b="1">
                <a:solidFill>
                  <a:srgbClr val="146C64"/>
                </a:solidFill>
              </a:rPr>
              <a:t>Gaussian</a:t>
            </a:r>
          </a:p>
        </p:txBody>
      </p:sp>
      <p:pic>
        <p:nvPicPr>
          <p:cNvPr id="14" name="">
            <a:extLst xmlns:a="http://schemas.openxmlformats.org/drawingml/2006/main">
              <a:ext uri="{FF2B5EF4-FFF2-40B4-BE49-F238E27FC236}">
                <a16:creationId xmlns:a16="http://schemas.microsoft.com/office/drawing/2014/main" id="{EE75F7A1-C81C-44CB-A67A-C86500C5D92B}"/>
              </a:ext>
            </a:extLst>
          </p:cNvPr>
          <p:cNvPicPr>
            <a:picLocks xmlns:a="http://schemas.openxmlformats.org/drawingml/2006/main" noChangeAspect="1"/>
          </p:cNvPicPr>
          <p:nvPr/>
        </p:nvPicPr>
        <p:blipFill>
          <a:blip xmlns:r="http://schemas.openxmlformats.org/officeDocument/2006/relationships" xmlns:a="http://schemas.openxmlformats.org/drawingml/2006/main" r:embed="R8c27c7ade2124af5"/>
          <a:stretch xmlns:a="http://schemas.openxmlformats.org/drawingml/2006/main"/>
        </p:blipFill>
        <p:spPr>
          <a:xfrm xmlns:a="http://schemas.openxmlformats.org/drawingml/2006/main">
            <a:off x="5286375" y="4524375"/>
            <a:ext cx="1333500" cy="1333500"/>
          </a:xfrm>
          <a:prstGeom xmlns:a="http://schemas.openxmlformats.org/drawingml/2006/main" prst="rect">
            <a:avLst/>
          </a:prstGeom>
        </p:spPr>
      </p:pic>
      <p:sp>
        <p:nvSpPr>
          <p:cNvPr id="15" name="sync-9-440-765">
            <a:extLst xmlns:a="http://schemas.openxmlformats.org/drawingml/2006/main">
              <a:ext uri="{FF2B5EF4-FFF2-40B4-BE49-F238E27FC236}">
                <a16:creationId xmlns:a16="http://schemas.microsoft.com/office/drawing/2014/main" id="{AE2A427F-A2DE-4921-A851-43407621B9D5}"/>
              </a:ext>
            </a:extLst>
          </p:cNvPr>
          <p:cNvSpPr>
            <a:spLocks xmlns:a="http://schemas.openxmlformats.org/drawingml/2006/main" noGrp="1"/>
          </p:cNvSpPr>
          <p:nvPr/>
        </p:nvSpPr>
        <p:spPr>
          <a:xfrm xmlns:a="http://schemas.openxmlformats.org/drawingml/2006/main">
            <a:off x="7286625" y="4191000"/>
            <a:ext cx="190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46C64"/>
                </a:solidFill>
              </a:defRPr>
            </a:defPPr>
            <a:lvl1pPr>
              <a:defRPr sz="1425" b="1">
                <a:solidFill>
                  <a:srgbClr val="146C64"/>
                </a:solidFill>
              </a:defRPr>
            </a:lvl1pPr>
            <a:lvl2pPr>
              <a:defRPr sz="1425" b="1">
                <a:solidFill>
                  <a:srgbClr val="146C64"/>
                </a:solidFill>
              </a:defRPr>
            </a:lvl2pPr>
            <a:lvl3pPr>
              <a:defRPr sz="1425" b="1">
                <a:solidFill>
                  <a:srgbClr val="146C64"/>
                </a:solidFill>
              </a:defRPr>
            </a:lvl3pPr>
            <a:lvl4pPr>
              <a:defRPr sz="1425" b="1">
                <a:solidFill>
                  <a:srgbClr val="146C64"/>
                </a:solidFill>
              </a:defRPr>
            </a:lvl4pPr>
            <a:lvl5pPr>
              <a:defRPr sz="1425" b="1">
                <a:solidFill>
                  <a:srgbClr val="146C64"/>
                </a:solidFill>
              </a:defRPr>
            </a:lvl5pPr>
            <a:lvl6pPr>
              <a:defRPr sz="1425" b="1">
                <a:solidFill>
                  <a:srgbClr val="146C64"/>
                </a:solidFill>
              </a:defRPr>
            </a:lvl6pPr>
            <a:lvl7pPr>
              <a:defRPr sz="1425" b="1">
                <a:solidFill>
                  <a:srgbClr val="146C64"/>
                </a:solidFill>
              </a:defRPr>
            </a:lvl7pPr>
            <a:lvl8pPr>
              <a:defRPr sz="1425" b="1">
                <a:solidFill>
                  <a:srgbClr val="146C64"/>
                </a:solidFill>
              </a:defRPr>
            </a:lvl8pPr>
            <a:lvl9pPr>
              <a:defRPr sz="1425" b="1">
                <a:solidFill>
                  <a:srgbClr val="146C64"/>
                </a:solidFill>
              </a:defRPr>
            </a:lvl9pPr>
          </a:lstStyle>
          <a:p xmlns:a="http://schemas.openxmlformats.org/drawingml/2006/main">
            <a:pPr>
              <a:defRPr sz="1425" b="1">
                <a:solidFill>
                  <a:srgbClr val="146C64"/>
                </a:solidFill>
              </a:defRPr>
            </a:pPr>
            <a:r>
              <a:rPr sz="1425" b="1">
                <a:solidFill>
                  <a:srgbClr val="146C64"/>
                </a:solidFill>
              </a:rPr>
              <a:t>Median</a:t>
            </a:r>
          </a:p>
        </p:txBody>
      </p:sp>
      <p:pic>
        <p:nvPicPr>
          <p:cNvPr id="16" name="">
            <a:extLst xmlns:a="http://schemas.openxmlformats.org/drawingml/2006/main">
              <a:ext uri="{FF2B5EF4-FFF2-40B4-BE49-F238E27FC236}">
                <a16:creationId xmlns:a16="http://schemas.microsoft.com/office/drawing/2014/main" id="{D20E752D-A77F-4D3F-B8B8-EED5DE4AB072}"/>
              </a:ext>
            </a:extLst>
          </p:cNvPr>
          <p:cNvPicPr>
            <a:picLocks xmlns:a="http://schemas.openxmlformats.org/drawingml/2006/main" noChangeAspect="1"/>
          </p:cNvPicPr>
          <p:nvPr/>
        </p:nvPicPr>
        <p:blipFill>
          <a:blip xmlns:r="http://schemas.openxmlformats.org/officeDocument/2006/relationships" xmlns:a="http://schemas.openxmlformats.org/drawingml/2006/main" r:embed="Rfacd99da47b340e9"/>
          <a:stretch xmlns:a="http://schemas.openxmlformats.org/drawingml/2006/main"/>
        </p:blipFill>
        <p:spPr>
          <a:xfrm xmlns:a="http://schemas.openxmlformats.org/drawingml/2006/main">
            <a:off x="7572375" y="4524375"/>
            <a:ext cx="1333500" cy="1333500"/>
          </a:xfrm>
          <a:prstGeom xmlns:a="http://schemas.openxmlformats.org/drawingml/2006/main" prst="rect">
            <a:avLst/>
          </a:prstGeom>
        </p:spPr>
      </p:pic>
      <p:sp>
        <p:nvSpPr>
          <p:cNvPr id="17" name="sync-9-632-65">
            <a:extLst xmlns:a="http://schemas.openxmlformats.org/drawingml/2006/main">
              <a:ext uri="{FF2B5EF4-FFF2-40B4-BE49-F238E27FC236}">
                <a16:creationId xmlns:a16="http://schemas.microsoft.com/office/drawing/2014/main" id="{40CBB989-F8A1-4C80-AAEF-E88D4E2C690E}"/>
              </a:ext>
            </a:extLst>
          </p:cNvPr>
          <p:cNvSpPr>
            <a:spLocks xmlns:a="http://schemas.openxmlformats.org/drawingml/2006/main" noGrp="1"/>
          </p:cNvSpPr>
          <p:nvPr/>
        </p:nvSpPr>
        <p:spPr>
          <a:xfrm xmlns:a="http://schemas.openxmlformats.org/drawingml/2006/main">
            <a:off x="619125" y="6019800"/>
            <a:ext cx="10953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0616D"/>
                </a:solidFill>
              </a:defRPr>
            </a:defPPr>
            <a:lvl1pPr>
              <a:defRPr sz="1200" b="0">
                <a:solidFill>
                  <a:srgbClr val="50616D"/>
                </a:solidFill>
              </a:defRPr>
            </a:lvl1pPr>
            <a:lvl2pPr>
              <a:defRPr sz="1200" b="0">
                <a:solidFill>
                  <a:srgbClr val="50616D"/>
                </a:solidFill>
              </a:defRPr>
            </a:lvl2pPr>
            <a:lvl3pPr>
              <a:defRPr sz="1200" b="0">
                <a:solidFill>
                  <a:srgbClr val="50616D"/>
                </a:solidFill>
              </a:defRPr>
            </a:lvl3pPr>
            <a:lvl4pPr>
              <a:defRPr sz="1200" b="0">
                <a:solidFill>
                  <a:srgbClr val="50616D"/>
                </a:solidFill>
              </a:defRPr>
            </a:lvl4pPr>
            <a:lvl5pPr>
              <a:defRPr sz="1200" b="0">
                <a:solidFill>
                  <a:srgbClr val="50616D"/>
                </a:solidFill>
              </a:defRPr>
            </a:lvl5pPr>
            <a:lvl6pPr>
              <a:defRPr sz="1200" b="0">
                <a:solidFill>
                  <a:srgbClr val="50616D"/>
                </a:solidFill>
              </a:defRPr>
            </a:lvl6pPr>
            <a:lvl7pPr>
              <a:defRPr sz="1200" b="0">
                <a:solidFill>
                  <a:srgbClr val="50616D"/>
                </a:solidFill>
              </a:defRPr>
            </a:lvl7pPr>
            <a:lvl8pPr>
              <a:defRPr sz="1200" b="0">
                <a:solidFill>
                  <a:srgbClr val="50616D"/>
                </a:solidFill>
              </a:defRPr>
            </a:lvl8pPr>
            <a:lvl9pPr>
              <a:defRPr sz="1200" b="0">
                <a:solidFill>
                  <a:srgbClr val="50616D"/>
                </a:solidFill>
              </a:defRPr>
            </a:lvl9pPr>
          </a:lstStyle>
          <a:p xmlns:a="http://schemas.openxmlformats.org/drawingml/2006/main">
            <a:pPr>
              <a:defRPr sz="1200" b="0">
                <a:solidFill>
                  <a:srgbClr val="50616D"/>
                </a:solidFill>
              </a:defRPr>
            </a:pPr>
            <a:r>
              <a:rPr sz="1200" b="0">
                <a:solidFill>
                  <a:srgbClr val="50616D"/>
                </a:solidFill>
              </a:rPr>
              <a:t>Cùng một ảnh nhiễu xung; cửa sổ quá lớn có thể xóa chi tiết.</a:t>
            </a:r>
          </a:p>
        </p:txBody>
      </p:sp>
    </p:spTree>
    <p:extLst>
      <p:ext uri="{BB962C8B-B14F-4D97-AF65-F5344CB8AC3E}">
        <p14:creationId xmlns:p14="http://schemas.microsoft.com/office/powerpoint/2010/main" val="200335846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Hình chữ nhật 9">
            <a:extLst xmlns:a="http://schemas.openxmlformats.org/drawingml/2006/main">
              <a:ext uri="{FF2B5EF4-FFF2-40B4-BE49-F238E27FC236}">
                <a16:creationId xmlns:a16="http://schemas.microsoft.com/office/drawing/2014/main" id="{0D08191E-408C-432D-AC38-8B8F3CFD5609}"/>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Bilateral giữ biên bằng khoảng cách màu</a:t>
            </a:r>
          </a:p>
        </p:txBody>
      </p:sp>
      <p:sp>
        <p:nvSpPr>
          <p:cNvPr id="2" name="Hình chữ nhật 1">
            <a:extLst xmlns:a="http://schemas.openxmlformats.org/drawingml/2006/main">
              <a:ext uri="{FF2B5EF4-FFF2-40B4-BE49-F238E27FC236}">
                <a16:creationId xmlns:a16="http://schemas.microsoft.com/office/drawing/2014/main" id="{779FB2A2-B708-4D9D-B5A6-91F261C51A80}"/>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Mục 4.3  Khử nhiễu</a:t>
            </a:r>
          </a:p>
        </p:txBody>
      </p:sp>
      <p:sp>
        <p:nvSpPr>
          <p:cNvPr id="3" name="Hình chữ nhật 2">
            <a:extLst xmlns:a="http://schemas.openxmlformats.org/drawingml/2006/main">
              <a:ext uri="{FF2B5EF4-FFF2-40B4-BE49-F238E27FC236}">
                <a16:creationId xmlns:a16="http://schemas.microsoft.com/office/drawing/2014/main" id="{3C320CD2-CDEB-4B31-AF8A-D2C00D28D798}"/>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10</a:t>
            </a:r>
          </a:p>
        </p:txBody>
      </p:sp>
      <p:sp>
        <p:nvSpPr>
          <p:cNvPr id="4" name="Hình chữ nhật 3">
            <a:extLst xmlns:a="http://schemas.openxmlformats.org/drawingml/2006/main">
              <a:ext uri="{FF2B5EF4-FFF2-40B4-BE49-F238E27FC236}">
                <a16:creationId xmlns:a16="http://schemas.microsoft.com/office/drawing/2014/main" id="{428E8052-8AAF-4AAB-9E1D-1393648EB0D6}"/>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sp>
        <p:nvSpPr>
          <p:cNvPr id="5" name="Hình chữ nhật 4">
            <a:extLst xmlns:a="http://schemas.openxmlformats.org/drawingml/2006/main">
              <a:ext uri="{FF2B5EF4-FFF2-40B4-BE49-F238E27FC236}">
                <a16:creationId xmlns:a16="http://schemas.microsoft.com/office/drawing/2014/main" id="{6F193BAE-7D90-4136-8C8F-48BD84FAF098}"/>
              </a:ext>
            </a:extLst>
          </p:cNvPr>
          <p:cNvSpPr>
            <a:spLocks xmlns:a="http://schemas.openxmlformats.org/drawingml/2006/main" noGrp="1"/>
          </p:cNvSpPr>
          <p:nvPr/>
        </p:nvSpPr>
        <p:spPr>
          <a:xfrm xmlns:a="http://schemas.openxmlformats.org/drawingml/2006/main">
            <a:off x="619125" y="19526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vl1pPr>
              <a:defRPr sz="2100" b="0">
                <a:solidFill>
                  <a:srgbClr val="142C40"/>
                </a:solidFill>
              </a:defRPr>
            </a:lvl1pPr>
            <a:lvl2pPr>
              <a:defRPr sz="2100" b="0">
                <a:solidFill>
                  <a:srgbClr val="142C40"/>
                </a:solidFill>
              </a:defRPr>
            </a:lvl2pPr>
            <a:lvl3pPr>
              <a:defRPr sz="2100" b="0">
                <a:solidFill>
                  <a:srgbClr val="142C40"/>
                </a:solidFill>
              </a:defRPr>
            </a:lvl3pPr>
            <a:lvl4pPr>
              <a:defRPr sz="2100" b="0">
                <a:solidFill>
                  <a:srgbClr val="142C40"/>
                </a:solidFill>
              </a:defRPr>
            </a:lvl4pPr>
            <a:lvl5pPr>
              <a:defRPr sz="2100" b="0">
                <a:solidFill>
                  <a:srgbClr val="142C40"/>
                </a:solidFill>
              </a:defRPr>
            </a:lvl5pPr>
            <a:lvl6pPr>
              <a:defRPr sz="2100" b="0">
                <a:solidFill>
                  <a:srgbClr val="142C40"/>
                </a:solidFill>
              </a:defRPr>
            </a:lvl6pPr>
            <a:lvl7pPr>
              <a:defRPr sz="2100" b="0">
                <a:solidFill>
                  <a:srgbClr val="142C40"/>
                </a:solidFill>
              </a:defRPr>
            </a:lvl7pPr>
            <a:lvl8pPr>
              <a:defRPr sz="2100" b="0">
                <a:solidFill>
                  <a:srgbClr val="142C40"/>
                </a:solidFill>
              </a:defRPr>
            </a:lvl8pPr>
            <a:lvl9pPr>
              <a:defRPr sz="2100" b="0">
                <a:solidFill>
                  <a:srgbClr val="142C40"/>
                </a:solidFill>
              </a:defRPr>
            </a:lvl9pPr>
          </a:lstStyle>
          <a:p xmlns:a="http://schemas.openxmlformats.org/drawingml/2006/main">
            <a:pPr>
              <a:buNone/>
              <a:defRPr sz="2100" b="0">
                <a:solidFill>
                  <a:srgbClr val="142C40"/>
                </a:solidFill>
              </a:defRPr>
            </a:pPr>
            <a:r>
              <a:rPr sz="2100" b="0">
                <a:solidFill>
                  <a:srgbClr val="142C40"/>
                </a:solidFill>
              </a:rPr>
              <a:t>Trọng số = gần nhau trong không gian × gần nhau về màu.</a:t>
            </a:r>
          </a:p>
        </p:txBody>
      </p:sp>
      <p:sp>
        <p:nvSpPr>
          <p:cNvPr id="6" name="Hình chữ nhật 5">
            <a:extLst xmlns:a="http://schemas.openxmlformats.org/drawingml/2006/main">
              <a:ext uri="{FF2B5EF4-FFF2-40B4-BE49-F238E27FC236}">
                <a16:creationId xmlns:a16="http://schemas.microsoft.com/office/drawing/2014/main" id="{F027EF04-74C5-432C-A032-6E4EE0CA5E54}"/>
              </a:ext>
            </a:extLst>
          </p:cNvPr>
          <p:cNvSpPr>
            <a:spLocks xmlns:a="http://schemas.openxmlformats.org/drawingml/2006/main" noGrp="1"/>
          </p:cNvSpPr>
          <p:nvPr/>
        </p:nvSpPr>
        <p:spPr>
          <a:xfrm xmlns:a="http://schemas.openxmlformats.org/drawingml/2006/main">
            <a:off x="619125" y="26193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vl1pPr>
              <a:defRPr sz="2100" b="0">
                <a:solidFill>
                  <a:srgbClr val="142C40"/>
                </a:solidFill>
              </a:defRPr>
            </a:lvl1pPr>
            <a:lvl2pPr>
              <a:defRPr sz="2100" b="0">
                <a:solidFill>
                  <a:srgbClr val="142C40"/>
                </a:solidFill>
              </a:defRPr>
            </a:lvl2pPr>
            <a:lvl3pPr>
              <a:defRPr sz="2100" b="0">
                <a:solidFill>
                  <a:srgbClr val="142C40"/>
                </a:solidFill>
              </a:defRPr>
            </a:lvl3pPr>
            <a:lvl4pPr>
              <a:defRPr sz="2100" b="0">
                <a:solidFill>
                  <a:srgbClr val="142C40"/>
                </a:solidFill>
              </a:defRPr>
            </a:lvl4pPr>
            <a:lvl5pPr>
              <a:defRPr sz="2100" b="0">
                <a:solidFill>
                  <a:srgbClr val="142C40"/>
                </a:solidFill>
              </a:defRPr>
            </a:lvl5pPr>
            <a:lvl6pPr>
              <a:defRPr sz="2100" b="0">
                <a:solidFill>
                  <a:srgbClr val="142C40"/>
                </a:solidFill>
              </a:defRPr>
            </a:lvl6pPr>
            <a:lvl7pPr>
              <a:defRPr sz="2100" b="0">
                <a:solidFill>
                  <a:srgbClr val="142C40"/>
                </a:solidFill>
              </a:defRPr>
            </a:lvl7pPr>
            <a:lvl8pPr>
              <a:defRPr sz="2100" b="0">
                <a:solidFill>
                  <a:srgbClr val="142C40"/>
                </a:solidFill>
              </a:defRPr>
            </a:lvl8pPr>
            <a:lvl9pPr>
              <a:defRPr sz="2100" b="0">
                <a:solidFill>
                  <a:srgbClr val="142C40"/>
                </a:solidFill>
              </a:defRPr>
            </a:lvl9pPr>
          </a:lstStyle>
          <a:p xmlns:a="http://schemas.openxmlformats.org/drawingml/2006/main">
            <a:pPr>
              <a:buNone/>
              <a:defRPr sz="2100" b="0">
                <a:solidFill>
                  <a:srgbClr val="142C40"/>
                </a:solidFill>
              </a:defRPr>
            </a:pPr>
            <a:r>
              <a:rPr sz="2100" b="0">
                <a:solidFill>
                  <a:srgbClr val="142C40"/>
                </a:solidFill>
              </a:rPr>
              <a:t>Cửa sổ 5 × 5; σs = 1,6; σr = 25 / 40 / 60.</a:t>
            </a:r>
          </a:p>
        </p:txBody>
      </p:sp>
      <p:sp>
        <p:nvSpPr>
          <p:cNvPr id="7" name="Hình chữ nhật 6">
            <a:extLst xmlns:a="http://schemas.openxmlformats.org/drawingml/2006/main">
              <a:ext uri="{FF2B5EF4-FFF2-40B4-BE49-F238E27FC236}">
                <a16:creationId xmlns:a16="http://schemas.microsoft.com/office/drawing/2014/main" id="{78C83DBA-198F-4EDF-9C9B-47DE79B1C67D}"/>
              </a:ext>
            </a:extLst>
          </p:cNvPr>
          <p:cNvSpPr>
            <a:spLocks xmlns:a="http://schemas.openxmlformats.org/drawingml/2006/main" noGrp="1"/>
          </p:cNvSpPr>
          <p:nvPr/>
        </p:nvSpPr>
        <p:spPr>
          <a:xfrm xmlns:a="http://schemas.openxmlformats.org/drawingml/2006/main">
            <a:off x="619125" y="32861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vl1pPr>
              <a:defRPr sz="2100" b="0">
                <a:solidFill>
                  <a:srgbClr val="142C40"/>
                </a:solidFill>
              </a:defRPr>
            </a:lvl1pPr>
            <a:lvl2pPr>
              <a:defRPr sz="2100" b="0">
                <a:solidFill>
                  <a:srgbClr val="142C40"/>
                </a:solidFill>
              </a:defRPr>
            </a:lvl2pPr>
            <a:lvl3pPr>
              <a:defRPr sz="2100" b="0">
                <a:solidFill>
                  <a:srgbClr val="142C40"/>
                </a:solidFill>
              </a:defRPr>
            </a:lvl3pPr>
            <a:lvl4pPr>
              <a:defRPr sz="2100" b="0">
                <a:solidFill>
                  <a:srgbClr val="142C40"/>
                </a:solidFill>
              </a:defRPr>
            </a:lvl4pPr>
            <a:lvl5pPr>
              <a:defRPr sz="2100" b="0">
                <a:solidFill>
                  <a:srgbClr val="142C40"/>
                </a:solidFill>
              </a:defRPr>
            </a:lvl5pPr>
            <a:lvl6pPr>
              <a:defRPr sz="2100" b="0">
                <a:solidFill>
                  <a:srgbClr val="142C40"/>
                </a:solidFill>
              </a:defRPr>
            </a:lvl6pPr>
            <a:lvl7pPr>
              <a:defRPr sz="2100" b="0">
                <a:solidFill>
                  <a:srgbClr val="142C40"/>
                </a:solidFill>
              </a:defRPr>
            </a:lvl7pPr>
            <a:lvl8pPr>
              <a:defRPr sz="2100" b="0">
                <a:solidFill>
                  <a:srgbClr val="142C40"/>
                </a:solidFill>
              </a:defRPr>
            </a:lvl8pPr>
            <a:lvl9pPr>
              <a:defRPr sz="2100" b="0">
                <a:solidFill>
                  <a:srgbClr val="142C40"/>
                </a:solidFill>
              </a:defRPr>
            </a:lvl9pPr>
          </a:lstStyle>
          <a:p xmlns:a="http://schemas.openxmlformats.org/drawingml/2006/main">
            <a:pPr>
              <a:buNone/>
              <a:defRPr sz="2100" b="0">
                <a:solidFill>
                  <a:srgbClr val="142C40"/>
                </a:solidFill>
              </a:defRPr>
            </a:pPr>
            <a:r>
              <a:rPr sz="2100" b="0">
                <a:solidFill>
                  <a:srgbClr val="142C40"/>
                </a:solidFill>
              </a:rPr>
              <a:t>σr nhỏ giữ biên nhưng có thể giữ nhiễu; σr lớn làm mượt hơn.</a:t>
            </a:r>
          </a:p>
        </p:txBody>
      </p:sp>
      <p:sp>
        <p:nvSpPr>
          <p:cNvPr id="8" name="Hình chữ nhật 7">
            <a:extLst xmlns:a="http://schemas.openxmlformats.org/drawingml/2006/main">
              <a:ext uri="{FF2B5EF4-FFF2-40B4-BE49-F238E27FC236}">
                <a16:creationId xmlns:a16="http://schemas.microsoft.com/office/drawing/2014/main" id="{1310172F-7ED4-49C4-92FA-44D16D0E5E64}"/>
              </a:ext>
            </a:extLst>
          </p:cNvPr>
          <p:cNvSpPr>
            <a:spLocks xmlns:a="http://schemas.openxmlformats.org/drawingml/2006/main" noGrp="1"/>
          </p:cNvSpPr>
          <p:nvPr/>
        </p:nvSpPr>
        <p:spPr>
          <a:xfrm xmlns:a="http://schemas.openxmlformats.org/drawingml/2006/main">
            <a:off x="619125" y="429577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vl1pPr>
              <a:defRPr sz="2100" b="0">
                <a:solidFill>
                  <a:srgbClr val="142C40"/>
                </a:solidFill>
              </a:defRPr>
            </a:lvl1pPr>
            <a:lvl2pPr>
              <a:defRPr sz="2100" b="0">
                <a:solidFill>
                  <a:srgbClr val="142C40"/>
                </a:solidFill>
              </a:defRPr>
            </a:lvl2pPr>
            <a:lvl3pPr>
              <a:defRPr sz="2100" b="0">
                <a:solidFill>
                  <a:srgbClr val="142C40"/>
                </a:solidFill>
              </a:defRPr>
            </a:lvl3pPr>
            <a:lvl4pPr>
              <a:defRPr sz="2100" b="0">
                <a:solidFill>
                  <a:srgbClr val="142C40"/>
                </a:solidFill>
              </a:defRPr>
            </a:lvl4pPr>
            <a:lvl5pPr>
              <a:defRPr sz="2100" b="0">
                <a:solidFill>
                  <a:srgbClr val="142C40"/>
                </a:solidFill>
              </a:defRPr>
            </a:lvl5pPr>
            <a:lvl6pPr>
              <a:defRPr sz="2100" b="0">
                <a:solidFill>
                  <a:srgbClr val="142C40"/>
                </a:solidFill>
              </a:defRPr>
            </a:lvl6pPr>
            <a:lvl7pPr>
              <a:defRPr sz="2100" b="0">
                <a:solidFill>
                  <a:srgbClr val="142C40"/>
                </a:solidFill>
              </a:defRPr>
            </a:lvl7pPr>
            <a:lvl8pPr>
              <a:defRPr sz="2100" b="0">
                <a:solidFill>
                  <a:srgbClr val="142C40"/>
                </a:solidFill>
              </a:defRPr>
            </a:lvl8pPr>
            <a:lvl9pPr>
              <a:defRPr sz="2100" b="0">
                <a:solidFill>
                  <a:srgbClr val="142C40"/>
                </a:solidFill>
              </a:defRPr>
            </a:lvl9pPr>
          </a:lstStyle>
          <a:p xmlns:a="http://schemas.openxmlformats.org/drawingml/2006/main">
            <a:pPr>
              <a:buNone/>
              <a:defRPr sz="2100" b="0">
                <a:solidFill>
                  <a:srgbClr val="142C40"/>
                </a:solidFill>
              </a:defRPr>
            </a:pPr>
            <a:r>
              <a:rPr sz="2100" b="0">
                <a:solidFill>
                  <a:srgbClr val="142C40"/>
                </a:solidFill>
              </a:rPr>
              <a:t/>
            </a:r>
          </a:p>
        </p:txBody>
      </p:sp>
      <p:sp>
        <p:nvSpPr>
          <p:cNvPr id="9" name="Hình chữ nhật 8">
            <a:extLst xmlns:a="http://schemas.openxmlformats.org/drawingml/2006/main">
              <a:ext uri="{FF2B5EF4-FFF2-40B4-BE49-F238E27FC236}">
                <a16:creationId xmlns:a16="http://schemas.microsoft.com/office/drawing/2014/main" id="{24A07668-2613-4EB4-9E77-3EB333648C9B}"/>
              </a:ext>
            </a:extLst>
          </p:cNvPr>
          <p:cNvSpPr>
            <a:spLocks xmlns:a="http://schemas.openxmlformats.org/drawingml/2006/main" noGrp="1"/>
          </p:cNvSpPr>
          <p:nvPr/>
        </p:nvSpPr>
        <p:spPr>
          <a:xfrm xmlns:a="http://schemas.openxmlformats.org/drawingml/2006/main">
            <a:off x="619125" y="507682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vl1pPr>
              <a:defRPr sz="2100" b="0">
                <a:solidFill>
                  <a:srgbClr val="142C40"/>
                </a:solidFill>
              </a:defRPr>
            </a:lvl1pPr>
            <a:lvl2pPr>
              <a:defRPr sz="2100" b="0">
                <a:solidFill>
                  <a:srgbClr val="142C40"/>
                </a:solidFill>
              </a:defRPr>
            </a:lvl2pPr>
            <a:lvl3pPr>
              <a:defRPr sz="2100" b="0">
                <a:solidFill>
                  <a:srgbClr val="142C40"/>
                </a:solidFill>
              </a:defRPr>
            </a:lvl3pPr>
            <a:lvl4pPr>
              <a:defRPr sz="2100" b="0">
                <a:solidFill>
                  <a:srgbClr val="142C40"/>
                </a:solidFill>
              </a:defRPr>
            </a:lvl4pPr>
            <a:lvl5pPr>
              <a:defRPr sz="2100" b="0">
                <a:solidFill>
                  <a:srgbClr val="142C40"/>
                </a:solidFill>
              </a:defRPr>
            </a:lvl5pPr>
            <a:lvl6pPr>
              <a:defRPr sz="2100" b="0">
                <a:solidFill>
                  <a:srgbClr val="142C40"/>
                </a:solidFill>
              </a:defRPr>
            </a:lvl6pPr>
            <a:lvl7pPr>
              <a:defRPr sz="2100" b="0">
                <a:solidFill>
                  <a:srgbClr val="142C40"/>
                </a:solidFill>
              </a:defRPr>
            </a:lvl7pPr>
            <a:lvl8pPr>
              <a:defRPr sz="2100" b="0">
                <a:solidFill>
                  <a:srgbClr val="142C40"/>
                </a:solidFill>
              </a:defRPr>
            </a:lvl8pPr>
            <a:lvl9pPr>
              <a:defRPr sz="2100" b="0">
                <a:solidFill>
                  <a:srgbClr val="142C40"/>
                </a:solidFill>
              </a:defRPr>
            </a:lvl9pPr>
          </a:lstStyle>
          <a:p xmlns:a="http://schemas.openxmlformats.org/drawingml/2006/main">
            <a:pPr>
              <a:buNone/>
              <a:defRPr sz="2100" b="0">
                <a:solidFill>
                  <a:srgbClr val="142C40"/>
                </a:solidFill>
              </a:defRPr>
            </a:pPr>
            <a:r>
              <a:rPr sz="2100" b="0">
                <a:solidFill>
                  <a:srgbClr val="142C40"/>
                </a:solidFill>
              </a:rPr>
              <a:t/>
            </a:r>
          </a:p>
        </p:txBody>
      </p:sp>
      <p:sp>
        <p:nvSpPr>
          <p:cNvPr id="11" name="sync-10-440-285">
            <a:extLst xmlns:a="http://schemas.openxmlformats.org/drawingml/2006/main">
              <a:ext uri="{FF2B5EF4-FFF2-40B4-BE49-F238E27FC236}">
                <a16:creationId xmlns:a16="http://schemas.microsoft.com/office/drawing/2014/main" id="{629A7648-6A66-42ED-A0A2-9BABA28D13C5}"/>
              </a:ext>
            </a:extLst>
          </p:cNvPr>
          <p:cNvSpPr>
            <a:spLocks xmlns:a="http://schemas.openxmlformats.org/drawingml/2006/main" noGrp="1"/>
          </p:cNvSpPr>
          <p:nvPr/>
        </p:nvSpPr>
        <p:spPr>
          <a:xfrm xmlns:a="http://schemas.openxmlformats.org/drawingml/2006/main">
            <a:off x="2714625" y="4191000"/>
            <a:ext cx="190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46C64"/>
                </a:solidFill>
              </a:defRPr>
            </a:defPPr>
            <a:lvl1pPr>
              <a:defRPr sz="1425" b="1">
                <a:solidFill>
                  <a:srgbClr val="146C64"/>
                </a:solidFill>
              </a:defRPr>
            </a:lvl1pPr>
            <a:lvl2pPr>
              <a:defRPr sz="1425" b="1">
                <a:solidFill>
                  <a:srgbClr val="146C64"/>
                </a:solidFill>
              </a:defRPr>
            </a:lvl2pPr>
            <a:lvl3pPr>
              <a:defRPr sz="1425" b="1">
                <a:solidFill>
                  <a:srgbClr val="146C64"/>
                </a:solidFill>
              </a:defRPr>
            </a:lvl3pPr>
            <a:lvl4pPr>
              <a:defRPr sz="1425" b="1">
                <a:solidFill>
                  <a:srgbClr val="146C64"/>
                </a:solidFill>
              </a:defRPr>
            </a:lvl4pPr>
            <a:lvl5pPr>
              <a:defRPr sz="1425" b="1">
                <a:solidFill>
                  <a:srgbClr val="146C64"/>
                </a:solidFill>
              </a:defRPr>
            </a:lvl5pPr>
            <a:lvl6pPr>
              <a:defRPr sz="1425" b="1">
                <a:solidFill>
                  <a:srgbClr val="146C64"/>
                </a:solidFill>
              </a:defRPr>
            </a:lvl6pPr>
            <a:lvl7pPr>
              <a:defRPr sz="1425" b="1">
                <a:solidFill>
                  <a:srgbClr val="146C64"/>
                </a:solidFill>
              </a:defRPr>
            </a:lvl7pPr>
            <a:lvl8pPr>
              <a:defRPr sz="1425" b="1">
                <a:solidFill>
                  <a:srgbClr val="146C64"/>
                </a:solidFill>
              </a:defRPr>
            </a:lvl8pPr>
            <a:lvl9pPr>
              <a:defRPr sz="1425" b="1">
                <a:solidFill>
                  <a:srgbClr val="146C64"/>
                </a:solidFill>
              </a:defRPr>
            </a:lvl9pPr>
          </a:lstStyle>
          <a:p xmlns:a="http://schemas.openxmlformats.org/drawingml/2006/main">
            <a:pPr>
              <a:defRPr sz="1425" b="1">
                <a:solidFill>
                  <a:srgbClr val="146C64"/>
                </a:solidFill>
              </a:defRPr>
            </a:pPr>
            <a:r>
              <a:rPr sz="1425" b="1">
                <a:solidFill>
                  <a:srgbClr val="146C64"/>
                </a:solidFill>
              </a:rPr>
              <a:t>Ảnh sạch</a:t>
            </a:r>
          </a:p>
        </p:txBody>
      </p:sp>
      <p:pic>
        <p:nvPicPr>
          <p:cNvPr id="12" name="">
            <a:extLst xmlns:a="http://schemas.openxmlformats.org/drawingml/2006/main">
              <a:ext uri="{FF2B5EF4-FFF2-40B4-BE49-F238E27FC236}">
                <a16:creationId xmlns:a16="http://schemas.microsoft.com/office/drawing/2014/main" id="{24B789C1-EE4A-4DFA-82C7-0CB1B95A96AC}"/>
              </a:ext>
            </a:extLst>
          </p:cNvPr>
          <p:cNvPicPr>
            <a:picLocks xmlns:a="http://schemas.openxmlformats.org/drawingml/2006/main" noChangeAspect="1"/>
          </p:cNvPicPr>
          <p:nvPr/>
        </p:nvPicPr>
        <p:blipFill>
          <a:blip xmlns:r="http://schemas.openxmlformats.org/officeDocument/2006/relationships" xmlns:a="http://schemas.openxmlformats.org/drawingml/2006/main" r:embed="Rae2a8da53f4a4fb2"/>
          <a:stretch xmlns:a="http://schemas.openxmlformats.org/drawingml/2006/main"/>
        </p:blipFill>
        <p:spPr>
          <a:xfrm xmlns:a="http://schemas.openxmlformats.org/drawingml/2006/main">
            <a:off x="3000375" y="4524375"/>
            <a:ext cx="1333500" cy="1333500"/>
          </a:xfrm>
          <a:prstGeom xmlns:a="http://schemas.openxmlformats.org/drawingml/2006/main" prst="rect">
            <a:avLst/>
          </a:prstGeom>
        </p:spPr>
      </p:pic>
      <p:sp>
        <p:nvSpPr>
          <p:cNvPr id="13" name="sync-10-440-525">
            <a:extLst xmlns:a="http://schemas.openxmlformats.org/drawingml/2006/main">
              <a:ext uri="{FF2B5EF4-FFF2-40B4-BE49-F238E27FC236}">
                <a16:creationId xmlns:a16="http://schemas.microsoft.com/office/drawing/2014/main" id="{32305052-98DF-4685-8E02-33532D4D5B52}"/>
              </a:ext>
            </a:extLst>
          </p:cNvPr>
          <p:cNvSpPr>
            <a:spLocks xmlns:a="http://schemas.openxmlformats.org/drawingml/2006/main" noGrp="1"/>
          </p:cNvSpPr>
          <p:nvPr/>
        </p:nvSpPr>
        <p:spPr>
          <a:xfrm xmlns:a="http://schemas.openxmlformats.org/drawingml/2006/main">
            <a:off x="5000625" y="4191000"/>
            <a:ext cx="190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46C64"/>
                </a:solidFill>
              </a:defRPr>
            </a:defPPr>
            <a:lvl1pPr>
              <a:defRPr sz="1425" b="1">
                <a:solidFill>
                  <a:srgbClr val="146C64"/>
                </a:solidFill>
              </a:defRPr>
            </a:lvl1pPr>
            <a:lvl2pPr>
              <a:defRPr sz="1425" b="1">
                <a:solidFill>
                  <a:srgbClr val="146C64"/>
                </a:solidFill>
              </a:defRPr>
            </a:lvl2pPr>
            <a:lvl3pPr>
              <a:defRPr sz="1425" b="1">
                <a:solidFill>
                  <a:srgbClr val="146C64"/>
                </a:solidFill>
              </a:defRPr>
            </a:lvl3pPr>
            <a:lvl4pPr>
              <a:defRPr sz="1425" b="1">
                <a:solidFill>
                  <a:srgbClr val="146C64"/>
                </a:solidFill>
              </a:defRPr>
            </a:lvl4pPr>
            <a:lvl5pPr>
              <a:defRPr sz="1425" b="1">
                <a:solidFill>
                  <a:srgbClr val="146C64"/>
                </a:solidFill>
              </a:defRPr>
            </a:lvl5pPr>
            <a:lvl6pPr>
              <a:defRPr sz="1425" b="1">
                <a:solidFill>
                  <a:srgbClr val="146C64"/>
                </a:solidFill>
              </a:defRPr>
            </a:lvl6pPr>
            <a:lvl7pPr>
              <a:defRPr sz="1425" b="1">
                <a:solidFill>
                  <a:srgbClr val="146C64"/>
                </a:solidFill>
              </a:defRPr>
            </a:lvl7pPr>
            <a:lvl8pPr>
              <a:defRPr sz="1425" b="1">
                <a:solidFill>
                  <a:srgbClr val="146C64"/>
                </a:solidFill>
              </a:defRPr>
            </a:lvl8pPr>
            <a:lvl9pPr>
              <a:defRPr sz="1425" b="1">
                <a:solidFill>
                  <a:srgbClr val="146C64"/>
                </a:solidFill>
              </a:defRPr>
            </a:lvl9pPr>
          </a:lstStyle>
          <a:p xmlns:a="http://schemas.openxmlformats.org/drawingml/2006/main">
            <a:pPr>
              <a:defRPr sz="1425" b="1">
                <a:solidFill>
                  <a:srgbClr val="146C64"/>
                </a:solidFill>
              </a:defRPr>
            </a:pPr>
            <a:r>
              <a:rPr sz="1425" b="1">
                <a:solidFill>
                  <a:srgbClr val="146C64"/>
                </a:solidFill>
              </a:rPr>
              <a:t>Nhiễu Gaussian vừa</a:t>
            </a:r>
          </a:p>
        </p:txBody>
      </p:sp>
      <p:pic>
        <p:nvPicPr>
          <p:cNvPr id="14" name="">
            <a:extLst xmlns:a="http://schemas.openxmlformats.org/drawingml/2006/main">
              <a:ext uri="{FF2B5EF4-FFF2-40B4-BE49-F238E27FC236}">
                <a16:creationId xmlns:a16="http://schemas.microsoft.com/office/drawing/2014/main" id="{15EB32D3-2108-41E9-887E-4D2B12644210}"/>
              </a:ext>
            </a:extLst>
          </p:cNvPr>
          <p:cNvPicPr>
            <a:picLocks xmlns:a="http://schemas.openxmlformats.org/drawingml/2006/main" noChangeAspect="1"/>
          </p:cNvPicPr>
          <p:nvPr/>
        </p:nvPicPr>
        <p:blipFill>
          <a:blip xmlns:r="http://schemas.openxmlformats.org/officeDocument/2006/relationships" xmlns:a="http://schemas.openxmlformats.org/drawingml/2006/main" r:embed="Rdb139d2ca3c846a9"/>
          <a:stretch xmlns:a="http://schemas.openxmlformats.org/drawingml/2006/main"/>
        </p:blipFill>
        <p:spPr>
          <a:xfrm xmlns:a="http://schemas.openxmlformats.org/drawingml/2006/main">
            <a:off x="5286375" y="4524375"/>
            <a:ext cx="1333500" cy="1333500"/>
          </a:xfrm>
          <a:prstGeom xmlns:a="http://schemas.openxmlformats.org/drawingml/2006/main" prst="rect">
            <a:avLst/>
          </a:prstGeom>
        </p:spPr>
      </p:pic>
      <p:sp>
        <p:nvSpPr>
          <p:cNvPr id="15" name="sync-10-440-765">
            <a:extLst xmlns:a="http://schemas.openxmlformats.org/drawingml/2006/main">
              <a:ext uri="{FF2B5EF4-FFF2-40B4-BE49-F238E27FC236}">
                <a16:creationId xmlns:a16="http://schemas.microsoft.com/office/drawing/2014/main" id="{C114AC2B-D97D-446C-8440-A4438F16B9BC}"/>
              </a:ext>
            </a:extLst>
          </p:cNvPr>
          <p:cNvSpPr>
            <a:spLocks xmlns:a="http://schemas.openxmlformats.org/drawingml/2006/main" noGrp="1"/>
          </p:cNvSpPr>
          <p:nvPr/>
        </p:nvSpPr>
        <p:spPr>
          <a:xfrm xmlns:a="http://schemas.openxmlformats.org/drawingml/2006/main">
            <a:off x="7286625" y="4191000"/>
            <a:ext cx="190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46C64"/>
                </a:solidFill>
              </a:defRPr>
            </a:defPPr>
            <a:lvl1pPr>
              <a:defRPr sz="1425" b="1">
                <a:solidFill>
                  <a:srgbClr val="146C64"/>
                </a:solidFill>
              </a:defRPr>
            </a:lvl1pPr>
            <a:lvl2pPr>
              <a:defRPr sz="1425" b="1">
                <a:solidFill>
                  <a:srgbClr val="146C64"/>
                </a:solidFill>
              </a:defRPr>
            </a:lvl2pPr>
            <a:lvl3pPr>
              <a:defRPr sz="1425" b="1">
                <a:solidFill>
                  <a:srgbClr val="146C64"/>
                </a:solidFill>
              </a:defRPr>
            </a:lvl3pPr>
            <a:lvl4pPr>
              <a:defRPr sz="1425" b="1">
                <a:solidFill>
                  <a:srgbClr val="146C64"/>
                </a:solidFill>
              </a:defRPr>
            </a:lvl4pPr>
            <a:lvl5pPr>
              <a:defRPr sz="1425" b="1">
                <a:solidFill>
                  <a:srgbClr val="146C64"/>
                </a:solidFill>
              </a:defRPr>
            </a:lvl5pPr>
            <a:lvl6pPr>
              <a:defRPr sz="1425" b="1">
                <a:solidFill>
                  <a:srgbClr val="146C64"/>
                </a:solidFill>
              </a:defRPr>
            </a:lvl6pPr>
            <a:lvl7pPr>
              <a:defRPr sz="1425" b="1">
                <a:solidFill>
                  <a:srgbClr val="146C64"/>
                </a:solidFill>
              </a:defRPr>
            </a:lvl7pPr>
            <a:lvl8pPr>
              <a:defRPr sz="1425" b="1">
                <a:solidFill>
                  <a:srgbClr val="146C64"/>
                </a:solidFill>
              </a:defRPr>
            </a:lvl8pPr>
            <a:lvl9pPr>
              <a:defRPr sz="1425" b="1">
                <a:solidFill>
                  <a:srgbClr val="146C64"/>
                </a:solidFill>
              </a:defRPr>
            </a:lvl9pPr>
          </a:lstStyle>
          <a:p xmlns:a="http://schemas.openxmlformats.org/drawingml/2006/main">
            <a:pPr>
              <a:defRPr sz="1425" b="1">
                <a:solidFill>
                  <a:srgbClr val="146C64"/>
                </a:solidFill>
              </a:defRPr>
            </a:pPr>
            <a:r>
              <a:rPr sz="1425" b="1">
                <a:solidFill>
                  <a:srgbClr val="146C64"/>
                </a:solidFill>
              </a:rPr>
              <a:t>Bilateral</a:t>
            </a:r>
          </a:p>
        </p:txBody>
      </p:sp>
      <p:pic>
        <p:nvPicPr>
          <p:cNvPr id="16" name="">
            <a:extLst xmlns:a="http://schemas.openxmlformats.org/drawingml/2006/main">
              <a:ext uri="{FF2B5EF4-FFF2-40B4-BE49-F238E27FC236}">
                <a16:creationId xmlns:a16="http://schemas.microsoft.com/office/drawing/2014/main" id="{83C4F0AE-D5FC-4B5B-8F6C-C8F862E7E202}"/>
              </a:ext>
            </a:extLst>
          </p:cNvPr>
          <p:cNvPicPr>
            <a:picLocks xmlns:a="http://schemas.openxmlformats.org/drawingml/2006/main" noChangeAspect="1"/>
          </p:cNvPicPr>
          <p:nvPr/>
        </p:nvPicPr>
        <p:blipFill>
          <a:blip xmlns:r="http://schemas.openxmlformats.org/officeDocument/2006/relationships" xmlns:a="http://schemas.openxmlformats.org/drawingml/2006/main" r:embed="Rc00fb14af1f649bf"/>
          <a:stretch xmlns:a="http://schemas.openxmlformats.org/drawingml/2006/main"/>
        </p:blipFill>
        <p:spPr>
          <a:xfrm xmlns:a="http://schemas.openxmlformats.org/drawingml/2006/main">
            <a:off x="7572375" y="4524375"/>
            <a:ext cx="1333500" cy="1333500"/>
          </a:xfrm>
          <a:prstGeom xmlns:a="http://schemas.openxmlformats.org/drawingml/2006/main" prst="rect">
            <a:avLst/>
          </a:prstGeom>
        </p:spPr>
      </p:pic>
      <p:sp>
        <p:nvSpPr>
          <p:cNvPr id="17" name="sync-10-632-65">
            <a:extLst xmlns:a="http://schemas.openxmlformats.org/drawingml/2006/main">
              <a:ext uri="{FF2B5EF4-FFF2-40B4-BE49-F238E27FC236}">
                <a16:creationId xmlns:a16="http://schemas.microsoft.com/office/drawing/2014/main" id="{3F6965CC-F4F3-42FD-B5D3-C88411B561CC}"/>
              </a:ext>
            </a:extLst>
          </p:cNvPr>
          <p:cNvSpPr>
            <a:spLocks xmlns:a="http://schemas.openxmlformats.org/drawingml/2006/main" noGrp="1"/>
          </p:cNvSpPr>
          <p:nvPr/>
        </p:nvSpPr>
        <p:spPr>
          <a:xfrm xmlns:a="http://schemas.openxmlformats.org/drawingml/2006/main">
            <a:off x="619125" y="6019800"/>
            <a:ext cx="10953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0616D"/>
                </a:solidFill>
              </a:defRPr>
            </a:defPPr>
            <a:lvl1pPr>
              <a:defRPr sz="1200" b="0">
                <a:solidFill>
                  <a:srgbClr val="50616D"/>
                </a:solidFill>
              </a:defRPr>
            </a:lvl1pPr>
            <a:lvl2pPr>
              <a:defRPr sz="1200" b="0">
                <a:solidFill>
                  <a:srgbClr val="50616D"/>
                </a:solidFill>
              </a:defRPr>
            </a:lvl2pPr>
            <a:lvl3pPr>
              <a:defRPr sz="1200" b="0">
                <a:solidFill>
                  <a:srgbClr val="50616D"/>
                </a:solidFill>
              </a:defRPr>
            </a:lvl3pPr>
            <a:lvl4pPr>
              <a:defRPr sz="1200" b="0">
                <a:solidFill>
                  <a:srgbClr val="50616D"/>
                </a:solidFill>
              </a:defRPr>
            </a:lvl4pPr>
            <a:lvl5pPr>
              <a:defRPr sz="1200" b="0">
                <a:solidFill>
                  <a:srgbClr val="50616D"/>
                </a:solidFill>
              </a:defRPr>
            </a:lvl5pPr>
            <a:lvl6pPr>
              <a:defRPr sz="1200" b="0">
                <a:solidFill>
                  <a:srgbClr val="50616D"/>
                </a:solidFill>
              </a:defRPr>
            </a:lvl6pPr>
            <a:lvl7pPr>
              <a:defRPr sz="1200" b="0">
                <a:solidFill>
                  <a:srgbClr val="50616D"/>
                </a:solidFill>
              </a:defRPr>
            </a:lvl7pPr>
            <a:lvl8pPr>
              <a:defRPr sz="1200" b="0">
                <a:solidFill>
                  <a:srgbClr val="50616D"/>
                </a:solidFill>
              </a:defRPr>
            </a:lvl8pPr>
            <a:lvl9pPr>
              <a:defRPr sz="1200" b="0">
                <a:solidFill>
                  <a:srgbClr val="50616D"/>
                </a:solidFill>
              </a:defRPr>
            </a:lvl9pPr>
          </a:lstStyle>
          <a:p xmlns:a="http://schemas.openxmlformats.org/drawingml/2006/main">
            <a:pPr>
              <a:defRPr sz="1200" b="0">
                <a:solidFill>
                  <a:srgbClr val="50616D"/>
                </a:solidFill>
              </a:defRPr>
            </a:pPr>
            <a:r>
              <a:rPr sz="1200" b="0">
                <a:solidFill>
                  <a:srgbClr val="50616D"/>
                </a:solidFill>
              </a:rPr>
              <a:t>Minh họa một ảnh; không mặc định bilateral luôn tốt hơn Gaussian.</a:t>
            </a:r>
          </a:p>
        </p:txBody>
      </p:sp>
    </p:spTree>
    <p:extLst>
      <p:ext uri="{BB962C8B-B14F-4D97-AF65-F5344CB8AC3E}">
        <p14:creationId xmlns:p14="http://schemas.microsoft.com/office/powerpoint/2010/main" val="178638574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Hình chữ nhật 8">
            <a:extLst xmlns:a="http://schemas.openxmlformats.org/drawingml/2006/main">
              <a:ext uri="{FF2B5EF4-FFF2-40B4-BE49-F238E27FC236}">
                <a16:creationId xmlns:a16="http://schemas.microsoft.com/office/drawing/2014/main" id="{A50B7637-241D-462E-A741-F90D77937086}"/>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Unsharp mask và sharpening</a:t>
            </a:r>
          </a:p>
        </p:txBody>
      </p:sp>
      <p:sp>
        <p:nvSpPr>
          <p:cNvPr id="2" name="Hình chữ nhật 1">
            <a:extLst xmlns:a="http://schemas.openxmlformats.org/drawingml/2006/main">
              <a:ext uri="{FF2B5EF4-FFF2-40B4-BE49-F238E27FC236}">
                <a16:creationId xmlns:a16="http://schemas.microsoft.com/office/drawing/2014/main" id="{87A1E981-859E-4443-8735-6BD1CA9B93CA}"/>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Mục 4.4  Làm sắc nét</a:t>
            </a:r>
          </a:p>
        </p:txBody>
      </p:sp>
      <p:sp>
        <p:nvSpPr>
          <p:cNvPr id="3" name="Hình chữ nhật 2">
            <a:extLst xmlns:a="http://schemas.openxmlformats.org/drawingml/2006/main">
              <a:ext uri="{FF2B5EF4-FFF2-40B4-BE49-F238E27FC236}">
                <a16:creationId xmlns:a16="http://schemas.microsoft.com/office/drawing/2014/main" id="{55898A82-EE4C-4821-8DAC-A44CA40C66AE}"/>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11</a:t>
            </a:r>
          </a:p>
        </p:txBody>
      </p:sp>
      <p:sp>
        <p:nvSpPr>
          <p:cNvPr id="4" name="Hình chữ nhật 3">
            <a:extLst xmlns:a="http://schemas.openxmlformats.org/drawingml/2006/main">
              <a:ext uri="{FF2B5EF4-FFF2-40B4-BE49-F238E27FC236}">
                <a16:creationId xmlns:a16="http://schemas.microsoft.com/office/drawing/2014/main" id="{5CC05E07-E6B0-4FE5-A3BF-A41139B27F4F}"/>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sp>
        <p:nvSpPr>
          <p:cNvPr id="5" name="Hình chữ nhật 4">
            <a:extLst xmlns:a="http://schemas.openxmlformats.org/drawingml/2006/main">
              <a:ext uri="{FF2B5EF4-FFF2-40B4-BE49-F238E27FC236}">
                <a16:creationId xmlns:a16="http://schemas.microsoft.com/office/drawing/2014/main" id="{5CBBEF47-1567-444B-BEBE-E31110DBD2BA}"/>
              </a:ext>
            </a:extLst>
          </p:cNvPr>
          <p:cNvSpPr>
            <a:spLocks xmlns:a="http://schemas.openxmlformats.org/drawingml/2006/main" noGrp="1"/>
          </p:cNvSpPr>
          <p:nvPr/>
        </p:nvSpPr>
        <p:spPr>
          <a:xfrm xmlns:a="http://schemas.openxmlformats.org/drawingml/2006/main">
            <a:off x="619125" y="1952625"/>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75676"/>
                </a:solidFill>
              </a:defRPr>
            </a:defPPr>
            <a:lvl1pPr>
              <a:defRPr sz="2550" b="1">
                <a:solidFill>
                  <a:srgbClr val="175676"/>
                </a:solidFill>
              </a:defRPr>
            </a:lvl1pPr>
            <a:lvl2pPr>
              <a:defRPr sz="2550" b="1">
                <a:solidFill>
                  <a:srgbClr val="175676"/>
                </a:solidFill>
              </a:defRPr>
            </a:lvl2pPr>
            <a:lvl3pPr>
              <a:defRPr sz="2550" b="1">
                <a:solidFill>
                  <a:srgbClr val="175676"/>
                </a:solidFill>
              </a:defRPr>
            </a:lvl3pPr>
            <a:lvl4pPr>
              <a:defRPr sz="2550" b="1">
                <a:solidFill>
                  <a:srgbClr val="175676"/>
                </a:solidFill>
              </a:defRPr>
            </a:lvl4pPr>
            <a:lvl5pPr>
              <a:defRPr sz="2550" b="1">
                <a:solidFill>
                  <a:srgbClr val="175676"/>
                </a:solidFill>
              </a:defRPr>
            </a:lvl5pPr>
            <a:lvl6pPr>
              <a:defRPr sz="2550" b="1">
                <a:solidFill>
                  <a:srgbClr val="175676"/>
                </a:solidFill>
              </a:defRPr>
            </a:lvl6pPr>
            <a:lvl7pPr>
              <a:defRPr sz="2550" b="1">
                <a:solidFill>
                  <a:srgbClr val="175676"/>
                </a:solidFill>
              </a:defRPr>
            </a:lvl7pPr>
            <a:lvl8pPr>
              <a:defRPr sz="2550" b="1">
                <a:solidFill>
                  <a:srgbClr val="175676"/>
                </a:solidFill>
              </a:defRPr>
            </a:lvl8pPr>
            <a:lvl9pPr>
              <a:defRPr sz="2550" b="1">
                <a:solidFill>
                  <a:srgbClr val="175676"/>
                </a:solidFill>
              </a:defRPr>
            </a:lvl9pPr>
          </a:lstStyle>
          <a:p xmlns:a="http://schemas.openxmlformats.org/drawingml/2006/main">
            <a:pPr>
              <a:buNone/>
              <a:defRPr sz="2550" b="1">
                <a:solidFill>
                  <a:srgbClr val="175676"/>
                </a:solidFill>
              </a:defRPr>
            </a:pPr>
            <a:r>
              <a:rPr sz="2550" b="1">
                <a:solidFill>
                  <a:srgbClr val="175676"/>
                </a:solidFill>
              </a:rPr>
              <a:t>B = Gσ * I       D = I − B       Iout = clip(I + aD)</a:t>
            </a:r>
          </a:p>
        </p:txBody>
      </p:sp>
      <p:sp>
        <p:nvSpPr>
          <p:cNvPr id="6" name="Hình chữ nhật 5">
            <a:extLst xmlns:a="http://schemas.openxmlformats.org/drawingml/2006/main">
              <a:ext uri="{FF2B5EF4-FFF2-40B4-BE49-F238E27FC236}">
                <a16:creationId xmlns:a16="http://schemas.microsoft.com/office/drawing/2014/main" id="{E3153FF6-C826-4E11-B736-321CCA227637}"/>
              </a:ext>
            </a:extLst>
          </p:cNvPr>
          <p:cNvSpPr>
            <a:spLocks xmlns:a="http://schemas.openxmlformats.org/drawingml/2006/main" noGrp="1"/>
          </p:cNvSpPr>
          <p:nvPr/>
        </p:nvSpPr>
        <p:spPr>
          <a:xfrm xmlns:a="http://schemas.openxmlformats.org/drawingml/2006/main">
            <a:off x="619125" y="27146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vl1pPr>
              <a:defRPr sz="2175" b="0">
                <a:solidFill>
                  <a:srgbClr val="142C40"/>
                </a:solidFill>
              </a:defRPr>
            </a:lvl1pPr>
            <a:lvl2pPr>
              <a:defRPr sz="2175" b="0">
                <a:solidFill>
                  <a:srgbClr val="142C40"/>
                </a:solidFill>
              </a:defRPr>
            </a:lvl2pPr>
            <a:lvl3pPr>
              <a:defRPr sz="2175" b="0">
                <a:solidFill>
                  <a:srgbClr val="142C40"/>
                </a:solidFill>
              </a:defRPr>
            </a:lvl3pPr>
            <a:lvl4pPr>
              <a:defRPr sz="2175" b="0">
                <a:solidFill>
                  <a:srgbClr val="142C40"/>
                </a:solidFill>
              </a:defRPr>
            </a:lvl4pPr>
            <a:lvl5pPr>
              <a:defRPr sz="2175" b="0">
                <a:solidFill>
                  <a:srgbClr val="142C40"/>
                </a:solidFill>
              </a:defRPr>
            </a:lvl5pPr>
            <a:lvl6pPr>
              <a:defRPr sz="2175" b="0">
                <a:solidFill>
                  <a:srgbClr val="142C40"/>
                </a:solidFill>
              </a:defRPr>
            </a:lvl6pPr>
            <a:lvl7pPr>
              <a:defRPr sz="2175" b="0">
                <a:solidFill>
                  <a:srgbClr val="142C40"/>
                </a:solidFill>
              </a:defRPr>
            </a:lvl7pPr>
            <a:lvl8pPr>
              <a:defRPr sz="2175" b="0">
                <a:solidFill>
                  <a:srgbClr val="142C40"/>
                </a:solidFill>
              </a:defRPr>
            </a:lvl8pPr>
            <a:lvl9pPr>
              <a:defRPr sz="2175" b="0">
                <a:solidFill>
                  <a:srgbClr val="142C40"/>
                </a:solidFill>
              </a:defRPr>
            </a:lvl9pPr>
          </a:lstStyle>
          <a:p xmlns:a="http://schemas.openxmlformats.org/drawingml/2006/main">
            <a:pPr>
              <a:buNone/>
              <a:defRPr sz="2175" b="0">
                <a:solidFill>
                  <a:srgbClr val="142C40"/>
                </a:solidFill>
              </a:defRPr>
            </a:pPr>
            <a:r>
              <a:rPr sz="2175" b="0">
                <a:solidFill>
                  <a:srgbClr val="142C40"/>
                </a:solidFill>
              </a:rPr>
              <a:t>(radius, amount): (1,0; 0,7), (1,5; 1,0), (2,0; 1,2).</a:t>
            </a:r>
          </a:p>
        </p:txBody>
      </p:sp>
      <p:sp>
        <p:nvSpPr>
          <p:cNvPr id="7" name="Hình chữ nhật 6">
            <a:extLst xmlns:a="http://schemas.openxmlformats.org/drawingml/2006/main">
              <a:ext uri="{FF2B5EF4-FFF2-40B4-BE49-F238E27FC236}">
                <a16:creationId xmlns:a16="http://schemas.microsoft.com/office/drawing/2014/main" id="{E11E7C81-FC72-4A58-B200-2BBAAC3F56EC}"/>
              </a:ext>
            </a:extLst>
          </p:cNvPr>
          <p:cNvSpPr>
            <a:spLocks xmlns:a="http://schemas.openxmlformats.org/drawingml/2006/main" noGrp="1"/>
          </p:cNvSpPr>
          <p:nvPr/>
        </p:nvSpPr>
        <p:spPr>
          <a:xfrm xmlns:a="http://schemas.openxmlformats.org/drawingml/2006/main">
            <a:off x="619125" y="33813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vl1pPr>
              <a:defRPr sz="2175" b="0">
                <a:solidFill>
                  <a:srgbClr val="142C40"/>
                </a:solidFill>
              </a:defRPr>
            </a:lvl1pPr>
            <a:lvl2pPr>
              <a:defRPr sz="2175" b="0">
                <a:solidFill>
                  <a:srgbClr val="142C40"/>
                </a:solidFill>
              </a:defRPr>
            </a:lvl2pPr>
            <a:lvl3pPr>
              <a:defRPr sz="2175" b="0">
                <a:solidFill>
                  <a:srgbClr val="142C40"/>
                </a:solidFill>
              </a:defRPr>
            </a:lvl3pPr>
            <a:lvl4pPr>
              <a:defRPr sz="2175" b="0">
                <a:solidFill>
                  <a:srgbClr val="142C40"/>
                </a:solidFill>
              </a:defRPr>
            </a:lvl4pPr>
            <a:lvl5pPr>
              <a:defRPr sz="2175" b="0">
                <a:solidFill>
                  <a:srgbClr val="142C40"/>
                </a:solidFill>
              </a:defRPr>
            </a:lvl5pPr>
            <a:lvl6pPr>
              <a:defRPr sz="2175" b="0">
                <a:solidFill>
                  <a:srgbClr val="142C40"/>
                </a:solidFill>
              </a:defRPr>
            </a:lvl6pPr>
            <a:lvl7pPr>
              <a:defRPr sz="2175" b="0">
                <a:solidFill>
                  <a:srgbClr val="142C40"/>
                </a:solidFill>
              </a:defRPr>
            </a:lvl7pPr>
            <a:lvl8pPr>
              <a:defRPr sz="2175" b="0">
                <a:solidFill>
                  <a:srgbClr val="142C40"/>
                </a:solidFill>
              </a:defRPr>
            </a:lvl8pPr>
            <a:lvl9pPr>
              <a:defRPr sz="2175" b="0">
                <a:solidFill>
                  <a:srgbClr val="142C40"/>
                </a:solidFill>
              </a:defRPr>
            </a:lvl9pPr>
          </a:lstStyle>
          <a:p xmlns:a="http://schemas.openxmlformats.org/drawingml/2006/main">
            <a:pPr>
              <a:buNone/>
              <a:defRPr sz="2175" b="0">
                <a:solidFill>
                  <a:srgbClr val="142C40"/>
                </a:solidFill>
              </a:defRPr>
            </a:pPr>
            <a:r>
              <a:rPr sz="2175" b="0">
                <a:solidFill>
                  <a:srgbClr val="142C40"/>
                </a:solidFill>
              </a:rPr>
              <a:t>PIL SHARPEN là đối chứng cố định; tăng sắc có thể tạo halo.</a:t>
            </a:r>
          </a:p>
        </p:txBody>
      </p:sp>
      <p:sp>
        <p:nvSpPr>
          <p:cNvPr id="8" name="Hình chữ nhật 7">
            <a:extLst xmlns:a="http://schemas.openxmlformats.org/drawingml/2006/main">
              <a:ext uri="{FF2B5EF4-FFF2-40B4-BE49-F238E27FC236}">
                <a16:creationId xmlns:a16="http://schemas.microsoft.com/office/drawing/2014/main" id="{51196524-0C08-4545-8BD5-D492E5F9A379}"/>
              </a:ext>
            </a:extLst>
          </p:cNvPr>
          <p:cNvSpPr>
            <a:spLocks xmlns:a="http://schemas.openxmlformats.org/drawingml/2006/main" noGrp="1"/>
          </p:cNvSpPr>
          <p:nvPr/>
        </p:nvSpPr>
        <p:spPr>
          <a:xfrm xmlns:a="http://schemas.openxmlformats.org/drawingml/2006/main">
            <a:off x="619125" y="509587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vl1pPr>
              <a:defRPr sz="2175" b="0">
                <a:solidFill>
                  <a:srgbClr val="142C40"/>
                </a:solidFill>
              </a:defRPr>
            </a:lvl1pPr>
            <a:lvl2pPr>
              <a:defRPr sz="2175" b="0">
                <a:solidFill>
                  <a:srgbClr val="142C40"/>
                </a:solidFill>
              </a:defRPr>
            </a:lvl2pPr>
            <a:lvl3pPr>
              <a:defRPr sz="2175" b="0">
                <a:solidFill>
                  <a:srgbClr val="142C40"/>
                </a:solidFill>
              </a:defRPr>
            </a:lvl3pPr>
            <a:lvl4pPr>
              <a:defRPr sz="2175" b="0">
                <a:solidFill>
                  <a:srgbClr val="142C40"/>
                </a:solidFill>
              </a:defRPr>
            </a:lvl4pPr>
            <a:lvl5pPr>
              <a:defRPr sz="2175" b="0">
                <a:solidFill>
                  <a:srgbClr val="142C40"/>
                </a:solidFill>
              </a:defRPr>
            </a:lvl5pPr>
            <a:lvl6pPr>
              <a:defRPr sz="2175" b="0">
                <a:solidFill>
                  <a:srgbClr val="142C40"/>
                </a:solidFill>
              </a:defRPr>
            </a:lvl6pPr>
            <a:lvl7pPr>
              <a:defRPr sz="2175" b="0">
                <a:solidFill>
                  <a:srgbClr val="142C40"/>
                </a:solidFill>
              </a:defRPr>
            </a:lvl7pPr>
            <a:lvl8pPr>
              <a:defRPr sz="2175" b="0">
                <a:solidFill>
                  <a:srgbClr val="142C40"/>
                </a:solidFill>
              </a:defRPr>
            </a:lvl8pPr>
            <a:lvl9pPr>
              <a:defRPr sz="2175" b="0">
                <a:solidFill>
                  <a:srgbClr val="142C40"/>
                </a:solidFill>
              </a:defRPr>
            </a:lvl9pPr>
          </a:lstStyle>
          <a:p xmlns:a="http://schemas.openxmlformats.org/drawingml/2006/main">
            <a:pPr>
              <a:buNone/>
              <a:defRPr sz="2175" b="0">
                <a:solidFill>
                  <a:srgbClr val="142C40"/>
                </a:solidFill>
              </a:defRPr>
            </a:pPr>
            <a:r>
              <a:rPr sz="2175" b="0">
                <a:solidFill>
                  <a:srgbClr val="142C40"/>
                </a:solidFill>
              </a:rPr>
              <a:t/>
            </a:r>
          </a:p>
        </p:txBody>
      </p:sp>
      <p:sp>
        <p:nvSpPr>
          <p:cNvPr id="10" name="sync-11-440-285">
            <a:extLst xmlns:a="http://schemas.openxmlformats.org/drawingml/2006/main">
              <a:ext uri="{FF2B5EF4-FFF2-40B4-BE49-F238E27FC236}">
                <a16:creationId xmlns:a16="http://schemas.microsoft.com/office/drawing/2014/main" id="{FD63D89F-3F0A-4FB9-B393-6236B9CA486A}"/>
              </a:ext>
            </a:extLst>
          </p:cNvPr>
          <p:cNvSpPr>
            <a:spLocks xmlns:a="http://schemas.openxmlformats.org/drawingml/2006/main" noGrp="1"/>
          </p:cNvSpPr>
          <p:nvPr/>
        </p:nvSpPr>
        <p:spPr>
          <a:xfrm xmlns:a="http://schemas.openxmlformats.org/drawingml/2006/main">
            <a:off x="2714625" y="4191000"/>
            <a:ext cx="190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46C64"/>
                </a:solidFill>
              </a:defRPr>
            </a:defPPr>
            <a:lvl1pPr>
              <a:defRPr sz="1425" b="1">
                <a:solidFill>
                  <a:srgbClr val="146C64"/>
                </a:solidFill>
              </a:defRPr>
            </a:lvl1pPr>
            <a:lvl2pPr>
              <a:defRPr sz="1425" b="1">
                <a:solidFill>
                  <a:srgbClr val="146C64"/>
                </a:solidFill>
              </a:defRPr>
            </a:lvl2pPr>
            <a:lvl3pPr>
              <a:defRPr sz="1425" b="1">
                <a:solidFill>
                  <a:srgbClr val="146C64"/>
                </a:solidFill>
              </a:defRPr>
            </a:lvl3pPr>
            <a:lvl4pPr>
              <a:defRPr sz="1425" b="1">
                <a:solidFill>
                  <a:srgbClr val="146C64"/>
                </a:solidFill>
              </a:defRPr>
            </a:lvl4pPr>
            <a:lvl5pPr>
              <a:defRPr sz="1425" b="1">
                <a:solidFill>
                  <a:srgbClr val="146C64"/>
                </a:solidFill>
              </a:defRPr>
            </a:lvl5pPr>
            <a:lvl6pPr>
              <a:defRPr sz="1425" b="1">
                <a:solidFill>
                  <a:srgbClr val="146C64"/>
                </a:solidFill>
              </a:defRPr>
            </a:lvl6pPr>
            <a:lvl7pPr>
              <a:defRPr sz="1425" b="1">
                <a:solidFill>
                  <a:srgbClr val="146C64"/>
                </a:solidFill>
              </a:defRPr>
            </a:lvl7pPr>
            <a:lvl8pPr>
              <a:defRPr sz="1425" b="1">
                <a:solidFill>
                  <a:srgbClr val="146C64"/>
                </a:solidFill>
              </a:defRPr>
            </a:lvl8pPr>
            <a:lvl9pPr>
              <a:defRPr sz="1425" b="1">
                <a:solidFill>
                  <a:srgbClr val="146C64"/>
                </a:solidFill>
              </a:defRPr>
            </a:lvl9pPr>
          </a:lstStyle>
          <a:p xmlns:a="http://schemas.openxmlformats.org/drawingml/2006/main">
            <a:pPr>
              <a:defRPr sz="1425" b="1">
                <a:solidFill>
                  <a:srgbClr val="146C64"/>
                </a:solidFill>
              </a:defRPr>
            </a:pPr>
            <a:r>
              <a:rPr sz="1425" b="1">
                <a:solidFill>
                  <a:srgbClr val="146C64"/>
                </a:solidFill>
              </a:rPr>
              <a:t>Ảnh sạch</a:t>
            </a:r>
          </a:p>
        </p:txBody>
      </p:sp>
      <p:pic>
        <p:nvPicPr>
          <p:cNvPr id="11" name="">
            <a:extLst xmlns:a="http://schemas.openxmlformats.org/drawingml/2006/main">
              <a:ext uri="{FF2B5EF4-FFF2-40B4-BE49-F238E27FC236}">
                <a16:creationId xmlns:a16="http://schemas.microsoft.com/office/drawing/2014/main" id="{5F8F7296-AC47-4DDA-A24C-5481549787B8}"/>
              </a:ext>
            </a:extLst>
          </p:cNvPr>
          <p:cNvPicPr>
            <a:picLocks xmlns:a="http://schemas.openxmlformats.org/drawingml/2006/main" noChangeAspect="1"/>
          </p:cNvPicPr>
          <p:nvPr/>
        </p:nvPicPr>
        <p:blipFill>
          <a:blip xmlns:r="http://schemas.openxmlformats.org/officeDocument/2006/relationships" xmlns:a="http://schemas.openxmlformats.org/drawingml/2006/main" r:embed="Rea0cbe34befc4235"/>
          <a:stretch xmlns:a="http://schemas.openxmlformats.org/drawingml/2006/main"/>
        </p:blipFill>
        <p:spPr>
          <a:xfrm xmlns:a="http://schemas.openxmlformats.org/drawingml/2006/main">
            <a:off x="3000375" y="4524375"/>
            <a:ext cx="1333500" cy="1333500"/>
          </a:xfrm>
          <a:prstGeom xmlns:a="http://schemas.openxmlformats.org/drawingml/2006/main" prst="rect">
            <a:avLst/>
          </a:prstGeom>
        </p:spPr>
      </p:pic>
      <p:sp>
        <p:nvSpPr>
          <p:cNvPr id="12" name="sync-11-440-525">
            <a:extLst xmlns:a="http://schemas.openxmlformats.org/drawingml/2006/main">
              <a:ext uri="{FF2B5EF4-FFF2-40B4-BE49-F238E27FC236}">
                <a16:creationId xmlns:a16="http://schemas.microsoft.com/office/drawing/2014/main" id="{AADBD65C-6A9A-4DD6-BE43-314A673CF7AA}"/>
              </a:ext>
            </a:extLst>
          </p:cNvPr>
          <p:cNvSpPr>
            <a:spLocks xmlns:a="http://schemas.openxmlformats.org/drawingml/2006/main" noGrp="1"/>
          </p:cNvSpPr>
          <p:nvPr/>
        </p:nvSpPr>
        <p:spPr>
          <a:xfrm xmlns:a="http://schemas.openxmlformats.org/drawingml/2006/main">
            <a:off x="5000625" y="4191000"/>
            <a:ext cx="190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46C64"/>
                </a:solidFill>
              </a:defRPr>
            </a:defPPr>
            <a:lvl1pPr>
              <a:defRPr sz="1425" b="1">
                <a:solidFill>
                  <a:srgbClr val="146C64"/>
                </a:solidFill>
              </a:defRPr>
            </a:lvl1pPr>
            <a:lvl2pPr>
              <a:defRPr sz="1425" b="1">
                <a:solidFill>
                  <a:srgbClr val="146C64"/>
                </a:solidFill>
              </a:defRPr>
            </a:lvl2pPr>
            <a:lvl3pPr>
              <a:defRPr sz="1425" b="1">
                <a:solidFill>
                  <a:srgbClr val="146C64"/>
                </a:solidFill>
              </a:defRPr>
            </a:lvl3pPr>
            <a:lvl4pPr>
              <a:defRPr sz="1425" b="1">
                <a:solidFill>
                  <a:srgbClr val="146C64"/>
                </a:solidFill>
              </a:defRPr>
            </a:lvl4pPr>
            <a:lvl5pPr>
              <a:defRPr sz="1425" b="1">
                <a:solidFill>
                  <a:srgbClr val="146C64"/>
                </a:solidFill>
              </a:defRPr>
            </a:lvl5pPr>
            <a:lvl6pPr>
              <a:defRPr sz="1425" b="1">
                <a:solidFill>
                  <a:srgbClr val="146C64"/>
                </a:solidFill>
              </a:defRPr>
            </a:lvl6pPr>
            <a:lvl7pPr>
              <a:defRPr sz="1425" b="1">
                <a:solidFill>
                  <a:srgbClr val="146C64"/>
                </a:solidFill>
              </a:defRPr>
            </a:lvl7pPr>
            <a:lvl8pPr>
              <a:defRPr sz="1425" b="1">
                <a:solidFill>
                  <a:srgbClr val="146C64"/>
                </a:solidFill>
              </a:defRPr>
            </a:lvl8pPr>
            <a:lvl9pPr>
              <a:defRPr sz="1425" b="1">
                <a:solidFill>
                  <a:srgbClr val="146C64"/>
                </a:solidFill>
              </a:defRPr>
            </a:lvl9pPr>
          </a:lstStyle>
          <a:p xmlns:a="http://schemas.openxmlformats.org/drawingml/2006/main">
            <a:pPr>
              <a:defRPr sz="1425" b="1">
                <a:solidFill>
                  <a:srgbClr val="146C64"/>
                </a:solidFill>
              </a:defRPr>
            </a:pPr>
            <a:r>
              <a:rPr sz="1425" b="1">
                <a:solidFill>
                  <a:srgbClr val="146C64"/>
                </a:solidFill>
              </a:rPr>
              <a:t>Mờ mạnh</a:t>
            </a:r>
          </a:p>
        </p:txBody>
      </p:sp>
      <p:pic>
        <p:nvPicPr>
          <p:cNvPr id="13" name="">
            <a:extLst xmlns:a="http://schemas.openxmlformats.org/drawingml/2006/main">
              <a:ext uri="{FF2B5EF4-FFF2-40B4-BE49-F238E27FC236}">
                <a16:creationId xmlns:a16="http://schemas.microsoft.com/office/drawing/2014/main" id="{B8C15DC0-E8A0-4758-BE64-65D46E4E33AE}"/>
              </a:ext>
            </a:extLst>
          </p:cNvPr>
          <p:cNvPicPr>
            <a:picLocks xmlns:a="http://schemas.openxmlformats.org/drawingml/2006/main" noChangeAspect="1"/>
          </p:cNvPicPr>
          <p:nvPr/>
        </p:nvPicPr>
        <p:blipFill>
          <a:blip xmlns:r="http://schemas.openxmlformats.org/officeDocument/2006/relationships" xmlns:a="http://schemas.openxmlformats.org/drawingml/2006/main" r:embed="Re7e2a08216b14cc0"/>
          <a:stretch xmlns:a="http://schemas.openxmlformats.org/drawingml/2006/main"/>
        </p:blipFill>
        <p:spPr>
          <a:xfrm xmlns:a="http://schemas.openxmlformats.org/drawingml/2006/main">
            <a:off x="5286375" y="4524375"/>
            <a:ext cx="1333500" cy="1333500"/>
          </a:xfrm>
          <a:prstGeom xmlns:a="http://schemas.openxmlformats.org/drawingml/2006/main" prst="rect">
            <a:avLst/>
          </a:prstGeom>
        </p:spPr>
      </p:pic>
      <p:sp>
        <p:nvSpPr>
          <p:cNvPr id="14" name="sync-11-440-765">
            <a:extLst xmlns:a="http://schemas.openxmlformats.org/drawingml/2006/main">
              <a:ext uri="{FF2B5EF4-FFF2-40B4-BE49-F238E27FC236}">
                <a16:creationId xmlns:a16="http://schemas.microsoft.com/office/drawing/2014/main" id="{C4509D63-95B4-483B-A1F2-F1DE3F8ADFC6}"/>
              </a:ext>
            </a:extLst>
          </p:cNvPr>
          <p:cNvSpPr>
            <a:spLocks xmlns:a="http://schemas.openxmlformats.org/drawingml/2006/main" noGrp="1"/>
          </p:cNvSpPr>
          <p:nvPr/>
        </p:nvSpPr>
        <p:spPr>
          <a:xfrm xmlns:a="http://schemas.openxmlformats.org/drawingml/2006/main">
            <a:off x="7286625" y="4191000"/>
            <a:ext cx="190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46C64"/>
                </a:solidFill>
              </a:defRPr>
            </a:defPPr>
            <a:lvl1pPr>
              <a:defRPr sz="1425" b="1">
                <a:solidFill>
                  <a:srgbClr val="146C64"/>
                </a:solidFill>
              </a:defRPr>
            </a:lvl1pPr>
            <a:lvl2pPr>
              <a:defRPr sz="1425" b="1">
                <a:solidFill>
                  <a:srgbClr val="146C64"/>
                </a:solidFill>
              </a:defRPr>
            </a:lvl2pPr>
            <a:lvl3pPr>
              <a:defRPr sz="1425" b="1">
                <a:solidFill>
                  <a:srgbClr val="146C64"/>
                </a:solidFill>
              </a:defRPr>
            </a:lvl3pPr>
            <a:lvl4pPr>
              <a:defRPr sz="1425" b="1">
                <a:solidFill>
                  <a:srgbClr val="146C64"/>
                </a:solidFill>
              </a:defRPr>
            </a:lvl4pPr>
            <a:lvl5pPr>
              <a:defRPr sz="1425" b="1">
                <a:solidFill>
                  <a:srgbClr val="146C64"/>
                </a:solidFill>
              </a:defRPr>
            </a:lvl5pPr>
            <a:lvl6pPr>
              <a:defRPr sz="1425" b="1">
                <a:solidFill>
                  <a:srgbClr val="146C64"/>
                </a:solidFill>
              </a:defRPr>
            </a:lvl6pPr>
            <a:lvl7pPr>
              <a:defRPr sz="1425" b="1">
                <a:solidFill>
                  <a:srgbClr val="146C64"/>
                </a:solidFill>
              </a:defRPr>
            </a:lvl7pPr>
            <a:lvl8pPr>
              <a:defRPr sz="1425" b="1">
                <a:solidFill>
                  <a:srgbClr val="146C64"/>
                </a:solidFill>
              </a:defRPr>
            </a:lvl8pPr>
            <a:lvl9pPr>
              <a:defRPr sz="1425" b="1">
                <a:solidFill>
                  <a:srgbClr val="146C64"/>
                </a:solidFill>
              </a:defRPr>
            </a:lvl9pPr>
          </a:lstStyle>
          <a:p xmlns:a="http://schemas.openxmlformats.org/drawingml/2006/main">
            <a:pPr>
              <a:defRPr sz="1425" b="1">
                <a:solidFill>
                  <a:srgbClr val="146C64"/>
                </a:solidFill>
              </a:defRPr>
            </a:pPr>
            <a:r>
              <a:rPr sz="1425" b="1">
                <a:solidFill>
                  <a:srgbClr val="146C64"/>
                </a:solidFill>
              </a:rPr>
              <a:t>Unsharp mask</a:t>
            </a:r>
          </a:p>
        </p:txBody>
      </p:sp>
      <p:pic>
        <p:nvPicPr>
          <p:cNvPr id="15" name="">
            <a:extLst xmlns:a="http://schemas.openxmlformats.org/drawingml/2006/main">
              <a:ext uri="{FF2B5EF4-FFF2-40B4-BE49-F238E27FC236}">
                <a16:creationId xmlns:a16="http://schemas.microsoft.com/office/drawing/2014/main" id="{172CF1B3-F692-4752-8363-4FAF89D57327}"/>
              </a:ext>
            </a:extLst>
          </p:cNvPr>
          <p:cNvPicPr>
            <a:picLocks xmlns:a="http://schemas.openxmlformats.org/drawingml/2006/main" noChangeAspect="1"/>
          </p:cNvPicPr>
          <p:nvPr/>
        </p:nvPicPr>
        <p:blipFill>
          <a:blip xmlns:r="http://schemas.openxmlformats.org/officeDocument/2006/relationships" xmlns:a="http://schemas.openxmlformats.org/drawingml/2006/main" r:embed="R9f1702b04e934ecd"/>
          <a:stretch xmlns:a="http://schemas.openxmlformats.org/drawingml/2006/main"/>
        </p:blipFill>
        <p:spPr>
          <a:xfrm xmlns:a="http://schemas.openxmlformats.org/drawingml/2006/main">
            <a:off x="7572375" y="4524375"/>
            <a:ext cx="1333500" cy="1333500"/>
          </a:xfrm>
          <a:prstGeom xmlns:a="http://schemas.openxmlformats.org/drawingml/2006/main" prst="rect">
            <a:avLst/>
          </a:prstGeom>
        </p:spPr>
      </p:pic>
      <p:sp>
        <p:nvSpPr>
          <p:cNvPr id="16" name="sync-11-632-65">
            <a:extLst xmlns:a="http://schemas.openxmlformats.org/drawingml/2006/main">
              <a:ext uri="{FF2B5EF4-FFF2-40B4-BE49-F238E27FC236}">
                <a16:creationId xmlns:a16="http://schemas.microsoft.com/office/drawing/2014/main" id="{BBC52635-BEB4-475E-8D7F-9C5974A938D9}"/>
              </a:ext>
            </a:extLst>
          </p:cNvPr>
          <p:cNvSpPr>
            <a:spLocks xmlns:a="http://schemas.openxmlformats.org/drawingml/2006/main" noGrp="1"/>
          </p:cNvSpPr>
          <p:nvPr/>
        </p:nvSpPr>
        <p:spPr>
          <a:xfrm xmlns:a="http://schemas.openxmlformats.org/drawingml/2006/main">
            <a:off x="619125" y="6019800"/>
            <a:ext cx="10953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0616D"/>
                </a:solidFill>
              </a:defRPr>
            </a:defPPr>
            <a:lvl1pPr>
              <a:defRPr sz="1200" b="0">
                <a:solidFill>
                  <a:srgbClr val="50616D"/>
                </a:solidFill>
              </a:defRPr>
            </a:lvl1pPr>
            <a:lvl2pPr>
              <a:defRPr sz="1200" b="0">
                <a:solidFill>
                  <a:srgbClr val="50616D"/>
                </a:solidFill>
              </a:defRPr>
            </a:lvl2pPr>
            <a:lvl3pPr>
              <a:defRPr sz="1200" b="0">
                <a:solidFill>
                  <a:srgbClr val="50616D"/>
                </a:solidFill>
              </a:defRPr>
            </a:lvl3pPr>
            <a:lvl4pPr>
              <a:defRPr sz="1200" b="0">
                <a:solidFill>
                  <a:srgbClr val="50616D"/>
                </a:solidFill>
              </a:defRPr>
            </a:lvl4pPr>
            <a:lvl5pPr>
              <a:defRPr sz="1200" b="0">
                <a:solidFill>
                  <a:srgbClr val="50616D"/>
                </a:solidFill>
              </a:defRPr>
            </a:lvl5pPr>
            <a:lvl6pPr>
              <a:defRPr sz="1200" b="0">
                <a:solidFill>
                  <a:srgbClr val="50616D"/>
                </a:solidFill>
              </a:defRPr>
            </a:lvl6pPr>
            <a:lvl7pPr>
              <a:defRPr sz="1200" b="0">
                <a:solidFill>
                  <a:srgbClr val="50616D"/>
                </a:solidFill>
              </a:defRPr>
            </a:lvl7pPr>
            <a:lvl8pPr>
              <a:defRPr sz="1200" b="0">
                <a:solidFill>
                  <a:srgbClr val="50616D"/>
                </a:solidFill>
              </a:defRPr>
            </a:lvl8pPr>
            <a:lvl9pPr>
              <a:defRPr sz="1200" b="0">
                <a:solidFill>
                  <a:srgbClr val="50616D"/>
                </a:solidFill>
              </a:defRPr>
            </a:lvl9pPr>
          </a:lstStyle>
          <a:p xmlns:a="http://schemas.openxmlformats.org/drawingml/2006/main">
            <a:pPr>
              <a:defRPr sz="1200" b="0">
                <a:solidFill>
                  <a:srgbClr val="50616D"/>
                </a:solidFill>
              </a:defRPr>
            </a:pPr>
            <a:r>
              <a:rPr sz="1200" b="0">
                <a:solidFill>
                  <a:srgbClr val="50616D"/>
                </a:solidFill>
              </a:rPr>
              <a:t>Tăng phần chi tiết còn lại; đây không phải phép giải chập.</a:t>
            </a:r>
          </a:p>
        </p:txBody>
      </p:sp>
    </p:spTree>
    <p:extLst>
      <p:ext uri="{BB962C8B-B14F-4D97-AF65-F5344CB8AC3E}">
        <p14:creationId xmlns:p14="http://schemas.microsoft.com/office/powerpoint/2010/main" val="147473602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Hình chữ nhật 6">
            <a:extLst xmlns:a="http://schemas.openxmlformats.org/drawingml/2006/main">
              <a:ext uri="{FF2B5EF4-FFF2-40B4-BE49-F238E27FC236}">
                <a16:creationId xmlns:a16="http://schemas.microsoft.com/office/drawing/2014/main" id="{28B20E34-9A40-4D2D-894A-333B0C904CDE}"/>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Hiệu chỉnh màu và giả định trung tính</a:t>
            </a:r>
          </a:p>
        </p:txBody>
      </p:sp>
      <p:sp>
        <p:nvSpPr>
          <p:cNvPr id="2" name="Hình chữ nhật 1">
            <a:extLst xmlns:a="http://schemas.openxmlformats.org/drawingml/2006/main">
              <a:ext uri="{FF2B5EF4-FFF2-40B4-BE49-F238E27FC236}">
                <a16:creationId xmlns:a16="http://schemas.microsoft.com/office/drawing/2014/main" id="{A95A3AA4-A355-4D81-8DB6-EB56C80A5C47}"/>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Mục 4.5  Hiệu chỉnh màu</a:t>
            </a:r>
          </a:p>
        </p:txBody>
      </p:sp>
      <p:sp>
        <p:nvSpPr>
          <p:cNvPr id="3" name="Hình chữ nhật 2">
            <a:extLst xmlns:a="http://schemas.openxmlformats.org/drawingml/2006/main">
              <a:ext uri="{FF2B5EF4-FFF2-40B4-BE49-F238E27FC236}">
                <a16:creationId xmlns:a16="http://schemas.microsoft.com/office/drawing/2014/main" id="{E5344EA6-E006-4938-A92D-B1C2547577F1}"/>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12</a:t>
            </a:r>
          </a:p>
        </p:txBody>
      </p:sp>
      <p:sp>
        <p:nvSpPr>
          <p:cNvPr id="4" name="Hình chữ nhật 3">
            <a:extLst xmlns:a="http://schemas.openxmlformats.org/drawingml/2006/main">
              <a:ext uri="{FF2B5EF4-FFF2-40B4-BE49-F238E27FC236}">
                <a16:creationId xmlns:a16="http://schemas.microsoft.com/office/drawing/2014/main" id="{B571A493-1415-4E07-A980-894323C12FF3}"/>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graphicFrame>
        <p:nvGraphicFramePr>
          <p:cNvPr id="5" name="Bảng 4">
            <a:extLst xmlns:a="http://schemas.openxmlformats.org/drawingml/2006/main">
              <a:ext uri="{FF2B5EF4-FFF2-40B4-BE49-F238E27FC236}">
                <a16:creationId xmlns:a16="http://schemas.microsoft.com/office/drawing/2014/main" id="{9CDE8D70-7B7C-4D62-AF75-F5C9DDE15923}"/>
              </a:ext>
            </a:extLst>
          </p:cNvPr>
          <p:cNvGraphicFramePr/>
          <p:nvPr/>
        </p:nvGraphicFramePr>
        <p:xfrm>
          <a:off xmlns:a="http://schemas.openxmlformats.org/drawingml/2006/main" x="619125" y="1885950"/>
          <a:ext xmlns:a="http://schemas.openxmlformats.org/drawingml/2006/main" cx="10953750" cy="2095500"/>
        </p:xfrm>
        <a:graphic xmlns:a="http://schemas.openxmlformats.org/drawingml/2006/main">
          <a:graphicData uri="http://schemas.openxmlformats.org/drawingml/2006/table">
            <a:tbl>
              <a:tblPr/>
              <a:tblGrid>
                <a:gridCol w="2476500"/>
                <a:gridCol w="5143500"/>
                <a:gridCol w="3333750"/>
              </a:tblGrid>
              <a:tr h="523875">
                <a:tc>
                  <a:txBody>
                    <a:bodyPr/>
                    <a:lstStyle/>
                    <a:p>
                      <a:r>
                        <a:rPr sz="1800" b="1">
                          <a:solidFill>
                            <a:srgbClr val="FFFFFF"/>
                          </a:solidFill>
                        </a:rPr>
                        <a:t>Phương pháp</a:t>
                      </a:r>
                    </a:p>
                  </a:txBody>
                  <a:tcPr marL="91440" marR="91440" marT="45720" marB="45720">
                    <a:lnL w="9525">
                      <a:solidFill>
                        <a:srgbClr val="D9D9D9"/>
                      </a:solidFill>
                      <a:prstDash val="solid"/>
                    </a:lnL>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c>
                  <a:txBody>
                    <a:bodyPr/>
                    <a:lstStyle/>
                    <a:p>
                      <a:r>
                        <a:rPr sz="1800" b="1">
                          <a:solidFill>
                            <a:srgbClr val="FFFFFF"/>
                          </a:solidFill>
                        </a:rPr>
                        <a:t>Phép biến đổi thực dùng</a:t>
                      </a:r>
                    </a:p>
                  </a:txBody>
                  <a:tcPr marL="91440" marR="91440" marT="45720" marB="45720">
                    <a:lnL w="9525" cmpd="sng">
                      <a:solidFill>
                        <a:srgbClr val="D9D9D9"/>
                      </a:solidFill>
                      <a:prstDash val="solid"/>
                    </a:lnL>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c>
                  <a:txBody>
                    <a:bodyPr/>
                    <a:lstStyle/>
                    <a:p>
                      <a:r>
                        <a:rPr sz="1800" b="1">
                          <a:solidFill>
                            <a:srgbClr val="FFFFFF"/>
                          </a:solidFill>
                        </a:rPr>
                        <a:t>Rủi ro</a:t>
                      </a:r>
                    </a:p>
                  </a:txBody>
                  <a:tcPr marL="91440" marR="91440" marT="45720" marB="45720">
                    <a:lnL w="9525" cmpd="sng">
                      <a:solidFill>
                        <a:srgbClr val="D9D9D9"/>
                      </a:solidFill>
                      <a:prstDash val="solid"/>
                    </a:lnL>
                    <a:lnR w="9525">
                      <a:solidFill>
                        <a:srgbClr val="D9D9D9"/>
                      </a:solidFill>
                      <a:prstDash val="solid"/>
                    </a:lnR>
                    <a:lnT w="9525">
                      <a:solidFill>
                        <a:srgbClr val="D9D9D9"/>
                      </a:solidFill>
                      <a:prstDash val="solid"/>
                    </a:lnT>
                    <a:lnB w="9525">
                      <a:solidFill>
                        <a:srgbClr val="D9D9D9"/>
                      </a:solidFill>
                      <a:prstDash val="solid"/>
                    </a:lnB>
                    <a:solidFill>
                      <a:srgbClr val="175676"/>
                    </a:solidFill>
                  </a:tcPr>
                </a:tc>
              </a:tr>
              <a:tr h="523875">
                <a:tc>
                  <a:txBody>
                    <a:bodyPr/>
                    <a:lstStyle/>
                    <a:p>
                      <a:r>
                        <a:rPr sz="1800" b="0">
                          <a:solidFill>
                            <a:srgbClr val="142C40"/>
                          </a:solidFill>
                        </a:rPr>
                        <a:t>RGB balance</a:t>
                      </a:r>
                    </a:p>
                  </a:txBody>
                  <a:tcPr marL="91440" marR="91440" marT="45720" marB="45720">
                    <a:lnL w="9525">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Gain = mean chung / mean kênh</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Hoa màu trội sai gray-world</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r>
              <a:tr h="523875">
                <a:tc>
                  <a:txBody>
                    <a:bodyPr/>
                    <a:lstStyle/>
                    <a:p>
                      <a:r>
                        <a:rPr sz="1800" b="0">
                          <a:solidFill>
                            <a:srgbClr val="142C40"/>
                          </a:solidFill>
                        </a:rPr>
                        <a:t>HSV correction</a:t>
                      </a:r>
                    </a:p>
                  </a:txBody>
                  <a:tcPr marL="91440" marR="91440" marT="45720" marB="45720">
                    <a:lnL w="9525">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c>
                  <a:txBody>
                    <a:bodyPr/>
                    <a:lstStyle/>
                    <a:p>
                      <a:r>
                        <a:rPr sz="1800" b="0">
                          <a:solidFill>
                            <a:srgbClr val="142C40"/>
                          </a:solidFill>
                        </a:rPr>
                        <a:t>S × 0,92; equalize V có clipping</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c>
                  <a:txBody>
                    <a:bodyPr/>
                    <a:lstStyle/>
                    <a:p>
                      <a:r>
                        <a:rPr sz="1800" b="0">
                          <a:solidFill>
                            <a:srgbClr val="142C40"/>
                          </a:solidFill>
                        </a:rPr>
                        <a:t>Đổi màu và tương phản toàn ảnh</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EDF3F6"/>
                    </a:solidFill>
                  </a:tcPr>
                </a:tc>
              </a:tr>
              <a:tr h="523875">
                <a:tc>
                  <a:txBody>
                    <a:bodyPr/>
                    <a:lstStyle/>
                    <a:p>
                      <a:r>
                        <a:rPr sz="1800" b="0">
                          <a:solidFill>
                            <a:srgbClr val="142C40"/>
                          </a:solidFill>
                        </a:rPr>
                        <a:t>Lab correction</a:t>
                      </a:r>
                    </a:p>
                  </a:txBody>
                  <a:tcPr marL="91440" marR="91440" marT="45720" marB="45720">
                    <a:lnL w="9525">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Trừ mean a*/b*; L* theo P1–P99</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c>
                  <a:txBody>
                    <a:bodyPr/>
                    <a:lstStyle/>
                    <a:p>
                      <a:r>
                        <a:rPr sz="1800" b="0">
                          <a:solidFill>
                            <a:srgbClr val="142C40"/>
                          </a:solidFill>
                        </a:rPr>
                        <a:t>Cắt vùng sáng/tối; lệch màu hoa</a:t>
                      </a:r>
                    </a:p>
                  </a:txBody>
                  <a:tcPr marL="91440" marR="91440" marT="45720" marB="45720">
                    <a:lnL w="9525" cmpd="sng">
                      <a:solidFill>
                        <a:srgbClr val="D9D9D9"/>
                      </a:solidFill>
                      <a:prstDash val="solid"/>
                    </a:lnL>
                    <a:lnR w="9525">
                      <a:solidFill>
                        <a:srgbClr val="D9D9D9"/>
                      </a:solidFill>
                      <a:prstDash val="solid"/>
                    </a:lnR>
                    <a:lnT w="9525" cmpd="sng">
                      <a:solidFill>
                        <a:srgbClr val="D9D9D9"/>
                      </a:solidFill>
                      <a:prstDash val="solid"/>
                    </a:lnT>
                    <a:lnB w="9525">
                      <a:solidFill>
                        <a:srgbClr val="D9D9D9"/>
                      </a:solidFill>
                      <a:prstDash val="solid"/>
                    </a:lnB>
                    <a:solidFill>
                      <a:srgbClr val="FFFFFF"/>
                    </a:solidFill>
                  </a:tcPr>
                </a:tc>
              </a:tr>
            </a:tbl>
          </a:graphicData>
        </a:graphic>
      </p:graphicFrame>
      <p:sp>
        <p:nvSpPr>
          <p:cNvPr id="6" name="Hình chữ nhật 5">
            <a:extLst xmlns:a="http://schemas.openxmlformats.org/drawingml/2006/main">
              <a:ext uri="{FF2B5EF4-FFF2-40B4-BE49-F238E27FC236}">
                <a16:creationId xmlns:a16="http://schemas.microsoft.com/office/drawing/2014/main" id="{BDED3446-B258-41EE-9877-D90577E94AE8}"/>
              </a:ext>
            </a:extLst>
          </p:cNvPr>
          <p:cNvSpPr>
            <a:spLocks xmlns:a="http://schemas.openxmlformats.org/drawingml/2006/main" noGrp="1"/>
          </p:cNvSpPr>
          <p:nvPr/>
        </p:nvSpPr>
        <p:spPr>
          <a:xfrm xmlns:a="http://schemas.openxmlformats.org/drawingml/2006/main">
            <a:off x="619125" y="590550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46C64"/>
                </a:solidFill>
              </a:defRPr>
            </a:defPPr>
            <a:lvl1pPr>
              <a:defRPr sz="1950" b="0">
                <a:solidFill>
                  <a:srgbClr val="146C64"/>
                </a:solidFill>
              </a:defRPr>
            </a:lvl1pPr>
            <a:lvl2pPr>
              <a:defRPr sz="1950" b="0">
                <a:solidFill>
                  <a:srgbClr val="146C64"/>
                </a:solidFill>
              </a:defRPr>
            </a:lvl2pPr>
            <a:lvl3pPr>
              <a:defRPr sz="1950" b="0">
                <a:solidFill>
                  <a:srgbClr val="146C64"/>
                </a:solidFill>
              </a:defRPr>
            </a:lvl3pPr>
            <a:lvl4pPr>
              <a:defRPr sz="1950" b="0">
                <a:solidFill>
                  <a:srgbClr val="146C64"/>
                </a:solidFill>
              </a:defRPr>
            </a:lvl4pPr>
            <a:lvl5pPr>
              <a:defRPr sz="1950" b="0">
                <a:solidFill>
                  <a:srgbClr val="146C64"/>
                </a:solidFill>
              </a:defRPr>
            </a:lvl5pPr>
            <a:lvl6pPr>
              <a:defRPr sz="1950" b="0">
                <a:solidFill>
                  <a:srgbClr val="146C64"/>
                </a:solidFill>
              </a:defRPr>
            </a:lvl6pPr>
            <a:lvl7pPr>
              <a:defRPr sz="1950" b="0">
                <a:solidFill>
                  <a:srgbClr val="146C64"/>
                </a:solidFill>
              </a:defRPr>
            </a:lvl7pPr>
            <a:lvl8pPr>
              <a:defRPr sz="1950" b="0">
                <a:solidFill>
                  <a:srgbClr val="146C64"/>
                </a:solidFill>
              </a:defRPr>
            </a:lvl8pPr>
            <a:lvl9pPr>
              <a:defRPr sz="1950" b="0">
                <a:solidFill>
                  <a:srgbClr val="146C64"/>
                </a:solidFill>
              </a:defRPr>
            </a:lvl9pPr>
          </a:lstStyle>
          <a:p xmlns:a="http://schemas.openxmlformats.org/drawingml/2006/main">
            <a:pPr>
              <a:buNone/>
              <a:defRPr sz="1950" b="0">
                <a:solidFill>
                  <a:srgbClr val="146C64"/>
                </a:solidFill>
              </a:defRPr>
            </a:pPr>
            <a:r>
              <a:rPr sz="1950" b="0">
                <a:solidFill>
                  <a:srgbClr val="146C64"/>
                </a:solidFill>
              </a:rPr>
              <a:t>HSV: H sắc độ, S bão hòa, V độ sáng; Lab: L* sáng, a*/b* màu.</a:t>
            </a:r>
          </a:p>
        </p:txBody>
      </p:sp>
      <p:sp>
        <p:nvSpPr>
          <p:cNvPr id="8" name="sync-12-431-285">
            <a:extLst xmlns:a="http://schemas.openxmlformats.org/drawingml/2006/main">
              <a:ext uri="{FF2B5EF4-FFF2-40B4-BE49-F238E27FC236}">
                <a16:creationId xmlns:a16="http://schemas.microsoft.com/office/drawing/2014/main" id="{C7F209A8-50A6-40B7-B096-1CA1797E57A2}"/>
              </a:ext>
            </a:extLst>
          </p:cNvPr>
          <p:cNvSpPr>
            <a:spLocks xmlns:a="http://schemas.openxmlformats.org/drawingml/2006/main" noGrp="1"/>
          </p:cNvSpPr>
          <p:nvPr/>
        </p:nvSpPr>
        <p:spPr>
          <a:xfrm xmlns:a="http://schemas.openxmlformats.org/drawingml/2006/main">
            <a:off x="2714625" y="4105275"/>
            <a:ext cx="190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46C64"/>
                </a:solidFill>
              </a:defRPr>
            </a:defPPr>
            <a:lvl1pPr>
              <a:defRPr sz="1425" b="1">
                <a:solidFill>
                  <a:srgbClr val="146C64"/>
                </a:solidFill>
              </a:defRPr>
            </a:lvl1pPr>
            <a:lvl2pPr>
              <a:defRPr sz="1425" b="1">
                <a:solidFill>
                  <a:srgbClr val="146C64"/>
                </a:solidFill>
              </a:defRPr>
            </a:lvl2pPr>
            <a:lvl3pPr>
              <a:defRPr sz="1425" b="1">
                <a:solidFill>
                  <a:srgbClr val="146C64"/>
                </a:solidFill>
              </a:defRPr>
            </a:lvl3pPr>
            <a:lvl4pPr>
              <a:defRPr sz="1425" b="1">
                <a:solidFill>
                  <a:srgbClr val="146C64"/>
                </a:solidFill>
              </a:defRPr>
            </a:lvl4pPr>
            <a:lvl5pPr>
              <a:defRPr sz="1425" b="1">
                <a:solidFill>
                  <a:srgbClr val="146C64"/>
                </a:solidFill>
              </a:defRPr>
            </a:lvl5pPr>
            <a:lvl6pPr>
              <a:defRPr sz="1425" b="1">
                <a:solidFill>
                  <a:srgbClr val="146C64"/>
                </a:solidFill>
              </a:defRPr>
            </a:lvl6pPr>
            <a:lvl7pPr>
              <a:defRPr sz="1425" b="1">
                <a:solidFill>
                  <a:srgbClr val="146C64"/>
                </a:solidFill>
              </a:defRPr>
            </a:lvl7pPr>
            <a:lvl8pPr>
              <a:defRPr sz="1425" b="1">
                <a:solidFill>
                  <a:srgbClr val="146C64"/>
                </a:solidFill>
              </a:defRPr>
            </a:lvl8pPr>
            <a:lvl9pPr>
              <a:defRPr sz="1425" b="1">
                <a:solidFill>
                  <a:srgbClr val="146C64"/>
                </a:solidFill>
              </a:defRPr>
            </a:lvl9pPr>
          </a:lstStyle>
          <a:p xmlns:a="http://schemas.openxmlformats.org/drawingml/2006/main">
            <a:pPr>
              <a:defRPr sz="1425" b="1">
                <a:solidFill>
                  <a:srgbClr val="146C64"/>
                </a:solidFill>
              </a:defRPr>
            </a:pPr>
            <a:r>
              <a:rPr sz="1425" b="1">
                <a:solidFill>
                  <a:srgbClr val="146C64"/>
                </a:solidFill>
              </a:rPr>
              <a:t>Ảnh sạch</a:t>
            </a:r>
          </a:p>
        </p:txBody>
      </p:sp>
      <p:pic>
        <p:nvPicPr>
          <p:cNvPr id="9" name="">
            <a:extLst xmlns:a="http://schemas.openxmlformats.org/drawingml/2006/main">
              <a:ext uri="{FF2B5EF4-FFF2-40B4-BE49-F238E27FC236}">
                <a16:creationId xmlns:a16="http://schemas.microsoft.com/office/drawing/2014/main" id="{A06F6422-8FFD-434E-AAFB-067A501423FD}"/>
              </a:ext>
            </a:extLst>
          </p:cNvPr>
          <p:cNvPicPr>
            <a:picLocks xmlns:a="http://schemas.openxmlformats.org/drawingml/2006/main" noChangeAspect="1"/>
          </p:cNvPicPr>
          <p:nvPr/>
        </p:nvPicPr>
        <p:blipFill>
          <a:blip xmlns:r="http://schemas.openxmlformats.org/officeDocument/2006/relationships" xmlns:a="http://schemas.openxmlformats.org/drawingml/2006/main" r:embed="R7d84c29426634cd8"/>
          <a:stretch xmlns:a="http://schemas.openxmlformats.org/drawingml/2006/main"/>
        </p:blipFill>
        <p:spPr>
          <a:xfrm xmlns:a="http://schemas.openxmlformats.org/drawingml/2006/main">
            <a:off x="3000375" y="4429125"/>
            <a:ext cx="1333500" cy="1333500"/>
          </a:xfrm>
          <a:prstGeom xmlns:a="http://schemas.openxmlformats.org/drawingml/2006/main" prst="rect">
            <a:avLst/>
          </a:prstGeom>
        </p:spPr>
      </p:pic>
      <p:sp>
        <p:nvSpPr>
          <p:cNvPr id="10" name="sync-12-431-525">
            <a:extLst xmlns:a="http://schemas.openxmlformats.org/drawingml/2006/main">
              <a:ext uri="{FF2B5EF4-FFF2-40B4-BE49-F238E27FC236}">
                <a16:creationId xmlns:a16="http://schemas.microsoft.com/office/drawing/2014/main" id="{2848A020-B84A-432E-A2B4-ADC37DDBFB22}"/>
              </a:ext>
            </a:extLst>
          </p:cNvPr>
          <p:cNvSpPr>
            <a:spLocks xmlns:a="http://schemas.openxmlformats.org/drawingml/2006/main" noGrp="1"/>
          </p:cNvSpPr>
          <p:nvPr/>
        </p:nvSpPr>
        <p:spPr>
          <a:xfrm xmlns:a="http://schemas.openxmlformats.org/drawingml/2006/main">
            <a:off x="5000625" y="4105275"/>
            <a:ext cx="190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46C64"/>
                </a:solidFill>
              </a:defRPr>
            </a:defPPr>
            <a:lvl1pPr>
              <a:defRPr sz="1425" b="1">
                <a:solidFill>
                  <a:srgbClr val="146C64"/>
                </a:solidFill>
              </a:defRPr>
            </a:lvl1pPr>
            <a:lvl2pPr>
              <a:defRPr sz="1425" b="1">
                <a:solidFill>
                  <a:srgbClr val="146C64"/>
                </a:solidFill>
              </a:defRPr>
            </a:lvl2pPr>
            <a:lvl3pPr>
              <a:defRPr sz="1425" b="1">
                <a:solidFill>
                  <a:srgbClr val="146C64"/>
                </a:solidFill>
              </a:defRPr>
            </a:lvl3pPr>
            <a:lvl4pPr>
              <a:defRPr sz="1425" b="1">
                <a:solidFill>
                  <a:srgbClr val="146C64"/>
                </a:solidFill>
              </a:defRPr>
            </a:lvl4pPr>
            <a:lvl5pPr>
              <a:defRPr sz="1425" b="1">
                <a:solidFill>
                  <a:srgbClr val="146C64"/>
                </a:solidFill>
              </a:defRPr>
            </a:lvl5pPr>
            <a:lvl6pPr>
              <a:defRPr sz="1425" b="1">
                <a:solidFill>
                  <a:srgbClr val="146C64"/>
                </a:solidFill>
              </a:defRPr>
            </a:lvl6pPr>
            <a:lvl7pPr>
              <a:defRPr sz="1425" b="1">
                <a:solidFill>
                  <a:srgbClr val="146C64"/>
                </a:solidFill>
              </a:defRPr>
            </a:lvl7pPr>
            <a:lvl8pPr>
              <a:defRPr sz="1425" b="1">
                <a:solidFill>
                  <a:srgbClr val="146C64"/>
                </a:solidFill>
              </a:defRPr>
            </a:lvl8pPr>
            <a:lvl9pPr>
              <a:defRPr sz="1425" b="1">
                <a:solidFill>
                  <a:srgbClr val="146C64"/>
                </a:solidFill>
              </a:defRPr>
            </a:lvl9pPr>
          </a:lstStyle>
          <a:p xmlns:a="http://schemas.openxmlformats.org/drawingml/2006/main">
            <a:pPr>
              <a:defRPr sz="1425" b="1">
                <a:solidFill>
                  <a:srgbClr val="146C64"/>
                </a:solidFill>
              </a:defRPr>
            </a:pPr>
            <a:r>
              <a:rPr sz="1425" b="1">
                <a:solidFill>
                  <a:srgbClr val="146C64"/>
                </a:solidFill>
              </a:rPr>
              <a:t>Ám màu nhẹ</a:t>
            </a:r>
          </a:p>
        </p:txBody>
      </p:sp>
      <p:pic>
        <p:nvPicPr>
          <p:cNvPr id="11" name="">
            <a:extLst xmlns:a="http://schemas.openxmlformats.org/drawingml/2006/main">
              <a:ext uri="{FF2B5EF4-FFF2-40B4-BE49-F238E27FC236}">
                <a16:creationId xmlns:a16="http://schemas.microsoft.com/office/drawing/2014/main" id="{016AFFC0-8622-4209-B93D-11D4CAC05EB6}"/>
              </a:ext>
            </a:extLst>
          </p:cNvPr>
          <p:cNvPicPr>
            <a:picLocks xmlns:a="http://schemas.openxmlformats.org/drawingml/2006/main" noChangeAspect="1"/>
          </p:cNvPicPr>
          <p:nvPr/>
        </p:nvPicPr>
        <p:blipFill>
          <a:blip xmlns:r="http://schemas.openxmlformats.org/officeDocument/2006/relationships" xmlns:a="http://schemas.openxmlformats.org/drawingml/2006/main" r:embed="R6d912b119a8c4252"/>
          <a:stretch xmlns:a="http://schemas.openxmlformats.org/drawingml/2006/main"/>
        </p:blipFill>
        <p:spPr>
          <a:xfrm xmlns:a="http://schemas.openxmlformats.org/drawingml/2006/main">
            <a:off x="5286375" y="4429125"/>
            <a:ext cx="1333500" cy="1333500"/>
          </a:xfrm>
          <a:prstGeom xmlns:a="http://schemas.openxmlformats.org/drawingml/2006/main" prst="rect">
            <a:avLst/>
          </a:prstGeom>
        </p:spPr>
      </p:pic>
      <p:sp>
        <p:nvSpPr>
          <p:cNvPr id="12" name="sync-12-431-765">
            <a:extLst xmlns:a="http://schemas.openxmlformats.org/drawingml/2006/main">
              <a:ext uri="{FF2B5EF4-FFF2-40B4-BE49-F238E27FC236}">
                <a16:creationId xmlns:a16="http://schemas.microsoft.com/office/drawing/2014/main" id="{23A73829-C33B-41AA-9EFF-587CECB5CD87}"/>
              </a:ext>
            </a:extLst>
          </p:cNvPr>
          <p:cNvSpPr>
            <a:spLocks xmlns:a="http://schemas.openxmlformats.org/drawingml/2006/main" noGrp="1"/>
          </p:cNvSpPr>
          <p:nvPr/>
        </p:nvSpPr>
        <p:spPr>
          <a:xfrm xmlns:a="http://schemas.openxmlformats.org/drawingml/2006/main">
            <a:off x="7286625" y="4105275"/>
            <a:ext cx="190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46C64"/>
                </a:solidFill>
              </a:defRPr>
            </a:defPPr>
            <a:lvl1pPr>
              <a:defRPr sz="1425" b="1">
                <a:solidFill>
                  <a:srgbClr val="146C64"/>
                </a:solidFill>
              </a:defRPr>
            </a:lvl1pPr>
            <a:lvl2pPr>
              <a:defRPr sz="1425" b="1">
                <a:solidFill>
                  <a:srgbClr val="146C64"/>
                </a:solidFill>
              </a:defRPr>
            </a:lvl2pPr>
            <a:lvl3pPr>
              <a:defRPr sz="1425" b="1">
                <a:solidFill>
                  <a:srgbClr val="146C64"/>
                </a:solidFill>
              </a:defRPr>
            </a:lvl3pPr>
            <a:lvl4pPr>
              <a:defRPr sz="1425" b="1">
                <a:solidFill>
                  <a:srgbClr val="146C64"/>
                </a:solidFill>
              </a:defRPr>
            </a:lvl4pPr>
            <a:lvl5pPr>
              <a:defRPr sz="1425" b="1">
                <a:solidFill>
                  <a:srgbClr val="146C64"/>
                </a:solidFill>
              </a:defRPr>
            </a:lvl5pPr>
            <a:lvl6pPr>
              <a:defRPr sz="1425" b="1">
                <a:solidFill>
                  <a:srgbClr val="146C64"/>
                </a:solidFill>
              </a:defRPr>
            </a:lvl6pPr>
            <a:lvl7pPr>
              <a:defRPr sz="1425" b="1">
                <a:solidFill>
                  <a:srgbClr val="146C64"/>
                </a:solidFill>
              </a:defRPr>
            </a:lvl7pPr>
            <a:lvl8pPr>
              <a:defRPr sz="1425" b="1">
                <a:solidFill>
                  <a:srgbClr val="146C64"/>
                </a:solidFill>
              </a:defRPr>
            </a:lvl8pPr>
            <a:lvl9pPr>
              <a:defRPr sz="1425" b="1">
                <a:solidFill>
                  <a:srgbClr val="146C64"/>
                </a:solidFill>
              </a:defRPr>
            </a:lvl9pPr>
          </a:lstStyle>
          <a:p xmlns:a="http://schemas.openxmlformats.org/drawingml/2006/main">
            <a:pPr>
              <a:defRPr sz="1425" b="1">
                <a:solidFill>
                  <a:srgbClr val="146C64"/>
                </a:solidFill>
              </a:defRPr>
            </a:pPr>
            <a:r>
              <a:rPr sz="1425" b="1">
                <a:solidFill>
                  <a:srgbClr val="146C64"/>
                </a:solidFill>
              </a:rPr>
              <a:t>Sau HSV correction</a:t>
            </a:r>
          </a:p>
        </p:txBody>
      </p:sp>
      <p:pic>
        <p:nvPicPr>
          <p:cNvPr id="13" name="">
            <a:extLst xmlns:a="http://schemas.openxmlformats.org/drawingml/2006/main">
              <a:ext uri="{FF2B5EF4-FFF2-40B4-BE49-F238E27FC236}">
                <a16:creationId xmlns:a16="http://schemas.microsoft.com/office/drawing/2014/main" id="{91F516FB-1443-4BE7-826A-FA27DEA34F56}"/>
              </a:ext>
            </a:extLst>
          </p:cNvPr>
          <p:cNvPicPr>
            <a:picLocks xmlns:a="http://schemas.openxmlformats.org/drawingml/2006/main" noChangeAspect="1"/>
          </p:cNvPicPr>
          <p:nvPr/>
        </p:nvPicPr>
        <p:blipFill>
          <a:blip xmlns:r="http://schemas.openxmlformats.org/officeDocument/2006/relationships" xmlns:a="http://schemas.openxmlformats.org/drawingml/2006/main" r:embed="R14ac14ef134e426a"/>
          <a:stretch xmlns:a="http://schemas.openxmlformats.org/drawingml/2006/main"/>
        </p:blipFill>
        <p:spPr>
          <a:xfrm xmlns:a="http://schemas.openxmlformats.org/drawingml/2006/main">
            <a:off x="7572375" y="4429125"/>
            <a:ext cx="1333500" cy="1333500"/>
          </a:xfrm>
          <a:prstGeom xmlns:a="http://schemas.openxmlformats.org/drawingml/2006/main" prst="rect">
            <a:avLst/>
          </a:prstGeom>
        </p:spPr>
      </p:pic>
    </p:spTree>
    <p:extLst>
      <p:ext uri="{BB962C8B-B14F-4D97-AF65-F5344CB8AC3E}">
        <p14:creationId xmlns:p14="http://schemas.microsoft.com/office/powerpoint/2010/main" val="59872492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Hình chữ nhật 8">
            <a:extLst xmlns:a="http://schemas.openxmlformats.org/drawingml/2006/main">
              <a:ext uri="{FF2B5EF4-FFF2-40B4-BE49-F238E27FC236}">
                <a16:creationId xmlns:a16="http://schemas.microsoft.com/office/drawing/2014/main" id="{0F2E3A92-3D79-43D0-984C-2C4FE59737AD}"/>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Chất lượng ảnh và nhận diện được đo riêng</a:t>
            </a:r>
          </a:p>
        </p:txBody>
      </p:sp>
      <p:sp>
        <p:nvSpPr>
          <p:cNvPr id="2" name="Hình chữ nhật 1">
            <a:extLst xmlns:a="http://schemas.openxmlformats.org/drawingml/2006/main">
              <a:ext uri="{FF2B5EF4-FFF2-40B4-BE49-F238E27FC236}">
                <a16:creationId xmlns:a16="http://schemas.microsoft.com/office/drawing/2014/main" id="{79AC1EAB-355D-4F03-9865-748285644842}"/>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Khung đánh giá  Chất lượng ảnh và khả năng nhận diện</a:t>
            </a:r>
          </a:p>
        </p:txBody>
      </p:sp>
      <p:sp>
        <p:nvSpPr>
          <p:cNvPr id="3" name="Hình chữ nhật 2">
            <a:extLst xmlns:a="http://schemas.openxmlformats.org/drawingml/2006/main">
              <a:ext uri="{FF2B5EF4-FFF2-40B4-BE49-F238E27FC236}">
                <a16:creationId xmlns:a16="http://schemas.microsoft.com/office/drawing/2014/main" id="{69FC294A-8545-4598-BD42-F2BD0AB9075A}"/>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13</a:t>
            </a:r>
          </a:p>
        </p:txBody>
      </p:sp>
      <p:sp>
        <p:nvSpPr>
          <p:cNvPr id="4" name="Hình chữ nhật 3">
            <a:extLst xmlns:a="http://schemas.openxmlformats.org/drawingml/2006/main">
              <a:ext uri="{FF2B5EF4-FFF2-40B4-BE49-F238E27FC236}">
                <a16:creationId xmlns:a16="http://schemas.microsoft.com/office/drawing/2014/main" id="{511A8DCC-7576-4188-8C3E-986E13D87F94}"/>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sp>
        <p:nvSpPr>
          <p:cNvPr id="5" name="Hình chữ nhật 4">
            <a:extLst xmlns:a="http://schemas.openxmlformats.org/drawingml/2006/main">
              <a:ext uri="{FF2B5EF4-FFF2-40B4-BE49-F238E27FC236}">
                <a16:creationId xmlns:a16="http://schemas.microsoft.com/office/drawing/2014/main" id="{59AFF230-72D1-4DDF-A6CA-397AC1B94314}"/>
              </a:ext>
            </a:extLst>
          </p:cNvPr>
          <p:cNvSpPr>
            <a:spLocks xmlns:a="http://schemas.openxmlformats.org/drawingml/2006/main" noGrp="1"/>
          </p:cNvSpPr>
          <p:nvPr/>
        </p:nvSpPr>
        <p:spPr>
          <a:xfrm xmlns:a="http://schemas.openxmlformats.org/drawingml/2006/main">
            <a:off x="619125" y="2143125"/>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42C40"/>
                </a:solidFill>
              </a:defRPr>
            </a:defPPr>
            <a:lvl1pPr>
              <a:defRPr sz="2250" b="0">
                <a:solidFill>
                  <a:srgbClr val="142C40"/>
                </a:solidFill>
              </a:defRPr>
            </a:lvl1pPr>
            <a:lvl2pPr>
              <a:defRPr sz="2250" b="0">
                <a:solidFill>
                  <a:srgbClr val="142C40"/>
                </a:solidFill>
              </a:defRPr>
            </a:lvl2pPr>
            <a:lvl3pPr>
              <a:defRPr sz="2250" b="0">
                <a:solidFill>
                  <a:srgbClr val="142C40"/>
                </a:solidFill>
              </a:defRPr>
            </a:lvl3pPr>
            <a:lvl4pPr>
              <a:defRPr sz="2250" b="0">
                <a:solidFill>
                  <a:srgbClr val="142C40"/>
                </a:solidFill>
              </a:defRPr>
            </a:lvl4pPr>
            <a:lvl5pPr>
              <a:defRPr sz="2250" b="0">
                <a:solidFill>
                  <a:srgbClr val="142C40"/>
                </a:solidFill>
              </a:defRPr>
            </a:lvl5pPr>
            <a:lvl6pPr>
              <a:defRPr sz="2250" b="0">
                <a:solidFill>
                  <a:srgbClr val="142C40"/>
                </a:solidFill>
              </a:defRPr>
            </a:lvl6pPr>
            <a:lvl7pPr>
              <a:defRPr sz="2250" b="0">
                <a:solidFill>
                  <a:srgbClr val="142C40"/>
                </a:solidFill>
              </a:defRPr>
            </a:lvl7pPr>
            <a:lvl8pPr>
              <a:defRPr sz="2250" b="0">
                <a:solidFill>
                  <a:srgbClr val="142C40"/>
                </a:solidFill>
              </a:defRPr>
            </a:lvl8pPr>
            <a:lvl9pPr>
              <a:defRPr sz="2250" b="0">
                <a:solidFill>
                  <a:srgbClr val="142C40"/>
                </a:solidFill>
              </a:defRPr>
            </a:lvl9pPr>
          </a:lstStyle>
          <a:p xmlns:a="http://schemas.openxmlformats.org/drawingml/2006/main">
            <a:pPr>
              <a:buNone/>
              <a:defRPr sz="2250" b="0">
                <a:solidFill>
                  <a:srgbClr val="142C40"/>
                </a:solidFill>
              </a:defRPr>
            </a:pPr>
            <a:r>
              <a:rPr sz="2250" b="0">
                <a:solidFill>
                  <a:srgbClr val="142C40"/>
                </a:solidFill>
              </a:rPr>
              <a:t>Chất lượng ảnh: mức giống ảnh sạch theo PSNR, SSIM và ΔE.</a:t>
            </a:r>
          </a:p>
        </p:txBody>
      </p:sp>
      <p:sp>
        <p:nvSpPr>
          <p:cNvPr id="6" name="Hình chữ nhật 5">
            <a:extLst xmlns:a="http://schemas.openxmlformats.org/drawingml/2006/main">
              <a:ext uri="{FF2B5EF4-FFF2-40B4-BE49-F238E27FC236}">
                <a16:creationId xmlns:a16="http://schemas.microsoft.com/office/drawing/2014/main" id="{C1F0FA36-90C3-40F2-AFA3-871BBAA70947}"/>
              </a:ext>
            </a:extLst>
          </p:cNvPr>
          <p:cNvSpPr>
            <a:spLocks xmlns:a="http://schemas.openxmlformats.org/drawingml/2006/main" noGrp="1"/>
          </p:cNvSpPr>
          <p:nvPr/>
        </p:nvSpPr>
        <p:spPr>
          <a:xfrm xmlns:a="http://schemas.openxmlformats.org/drawingml/2006/main">
            <a:off x="619125" y="3019425"/>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42C40"/>
                </a:solidFill>
              </a:defRPr>
            </a:defPPr>
            <a:lvl1pPr>
              <a:defRPr sz="2250" b="0">
                <a:solidFill>
                  <a:srgbClr val="142C40"/>
                </a:solidFill>
              </a:defRPr>
            </a:lvl1pPr>
            <a:lvl2pPr>
              <a:defRPr sz="2250" b="0">
                <a:solidFill>
                  <a:srgbClr val="142C40"/>
                </a:solidFill>
              </a:defRPr>
            </a:lvl2pPr>
            <a:lvl3pPr>
              <a:defRPr sz="2250" b="0">
                <a:solidFill>
                  <a:srgbClr val="142C40"/>
                </a:solidFill>
              </a:defRPr>
            </a:lvl3pPr>
            <a:lvl4pPr>
              <a:defRPr sz="2250" b="0">
                <a:solidFill>
                  <a:srgbClr val="142C40"/>
                </a:solidFill>
              </a:defRPr>
            </a:lvl4pPr>
            <a:lvl5pPr>
              <a:defRPr sz="2250" b="0">
                <a:solidFill>
                  <a:srgbClr val="142C40"/>
                </a:solidFill>
              </a:defRPr>
            </a:lvl5pPr>
            <a:lvl6pPr>
              <a:defRPr sz="2250" b="0">
                <a:solidFill>
                  <a:srgbClr val="142C40"/>
                </a:solidFill>
              </a:defRPr>
            </a:lvl6pPr>
            <a:lvl7pPr>
              <a:defRPr sz="2250" b="0">
                <a:solidFill>
                  <a:srgbClr val="142C40"/>
                </a:solidFill>
              </a:defRPr>
            </a:lvl7pPr>
            <a:lvl8pPr>
              <a:defRPr sz="2250" b="0">
                <a:solidFill>
                  <a:srgbClr val="142C40"/>
                </a:solidFill>
              </a:defRPr>
            </a:lvl8pPr>
            <a:lvl9pPr>
              <a:defRPr sz="2250" b="0">
                <a:solidFill>
                  <a:srgbClr val="142C40"/>
                </a:solidFill>
              </a:defRPr>
            </a:lvl9pPr>
          </a:lstStyle>
          <a:p xmlns:a="http://schemas.openxmlformats.org/drawingml/2006/main">
            <a:pPr>
              <a:buNone/>
              <a:defRPr sz="2250" b="0">
                <a:solidFill>
                  <a:srgbClr val="142C40"/>
                </a:solidFill>
              </a:defRPr>
            </a:pPr>
            <a:r>
              <a:rPr sz="2250" b="0">
                <a:solidFill>
                  <a:srgbClr val="142C40"/>
                </a:solidFill>
              </a:rPr>
              <a:t>Nhận diện: một MobileNetV2 đã huấn luyện, giữ nguyên trọng số.</a:t>
            </a:r>
          </a:p>
        </p:txBody>
      </p:sp>
      <p:sp>
        <p:nvSpPr>
          <p:cNvPr id="7" name="Hình chữ nhật 6">
            <a:extLst xmlns:a="http://schemas.openxmlformats.org/drawingml/2006/main">
              <a:ext uri="{FF2B5EF4-FFF2-40B4-BE49-F238E27FC236}">
                <a16:creationId xmlns:a16="http://schemas.microsoft.com/office/drawing/2014/main" id="{F0299523-2536-4863-8547-5C6577E2703C}"/>
              </a:ext>
            </a:extLst>
          </p:cNvPr>
          <p:cNvSpPr>
            <a:spLocks xmlns:a="http://schemas.openxmlformats.org/drawingml/2006/main" noGrp="1"/>
          </p:cNvSpPr>
          <p:nvPr/>
        </p:nvSpPr>
        <p:spPr>
          <a:xfrm xmlns:a="http://schemas.openxmlformats.org/drawingml/2006/main">
            <a:off x="619125" y="3895725"/>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42C40"/>
                </a:solidFill>
              </a:defRPr>
            </a:defPPr>
            <a:lvl1pPr>
              <a:defRPr sz="2250" b="0">
                <a:solidFill>
                  <a:srgbClr val="142C40"/>
                </a:solidFill>
              </a:defRPr>
            </a:lvl1pPr>
            <a:lvl2pPr>
              <a:defRPr sz="2250" b="0">
                <a:solidFill>
                  <a:srgbClr val="142C40"/>
                </a:solidFill>
              </a:defRPr>
            </a:lvl2pPr>
            <a:lvl3pPr>
              <a:defRPr sz="2250" b="0">
                <a:solidFill>
                  <a:srgbClr val="142C40"/>
                </a:solidFill>
              </a:defRPr>
            </a:lvl3pPr>
            <a:lvl4pPr>
              <a:defRPr sz="2250" b="0">
                <a:solidFill>
                  <a:srgbClr val="142C40"/>
                </a:solidFill>
              </a:defRPr>
            </a:lvl4pPr>
            <a:lvl5pPr>
              <a:defRPr sz="2250" b="0">
                <a:solidFill>
                  <a:srgbClr val="142C40"/>
                </a:solidFill>
              </a:defRPr>
            </a:lvl5pPr>
            <a:lvl6pPr>
              <a:defRPr sz="2250" b="0">
                <a:solidFill>
                  <a:srgbClr val="142C40"/>
                </a:solidFill>
              </a:defRPr>
            </a:lvl6pPr>
            <a:lvl7pPr>
              <a:defRPr sz="2250" b="0">
                <a:solidFill>
                  <a:srgbClr val="142C40"/>
                </a:solidFill>
              </a:defRPr>
            </a:lvl7pPr>
            <a:lvl8pPr>
              <a:defRPr sz="2250" b="0">
                <a:solidFill>
                  <a:srgbClr val="142C40"/>
                </a:solidFill>
              </a:defRPr>
            </a:lvl8pPr>
            <a:lvl9pPr>
              <a:defRPr sz="2250" b="0">
                <a:solidFill>
                  <a:srgbClr val="142C40"/>
                </a:solidFill>
              </a:defRPr>
            </a:lvl9pPr>
          </a:lstStyle>
          <a:p xmlns:a="http://schemas.openxmlformats.org/drawingml/2006/main">
            <a:pPr>
              <a:buNone/>
              <a:defRPr sz="2250" b="0">
                <a:solidFill>
                  <a:srgbClr val="142C40"/>
                </a:solidFill>
              </a:defRPr>
            </a:pPr>
            <a:r>
              <a:rPr sz="2250" b="0">
                <a:solidFill>
                  <a:srgbClr val="142C40"/>
                </a:solidFill>
              </a:rPr>
              <a:t>F1 kết hợp Precision và Recall; Macro F1 là trung bình 5 lớp.</a:t>
            </a:r>
          </a:p>
        </p:txBody>
      </p:sp>
      <p:sp>
        <p:nvSpPr>
          <p:cNvPr id="8" name="Hình chữ nhật 7">
            <a:extLst xmlns:a="http://schemas.openxmlformats.org/drawingml/2006/main">
              <a:ext uri="{FF2B5EF4-FFF2-40B4-BE49-F238E27FC236}">
                <a16:creationId xmlns:a16="http://schemas.microsoft.com/office/drawing/2014/main" id="{773D8AF4-6334-4E47-9988-F52E1D168871}"/>
              </a:ext>
            </a:extLst>
          </p:cNvPr>
          <p:cNvSpPr>
            <a:spLocks xmlns:a="http://schemas.openxmlformats.org/drawingml/2006/main" noGrp="1"/>
          </p:cNvSpPr>
          <p:nvPr/>
        </p:nvSpPr>
        <p:spPr>
          <a:xfrm xmlns:a="http://schemas.openxmlformats.org/drawingml/2006/main">
            <a:off x="619125" y="4772025"/>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42C40"/>
                </a:solidFill>
              </a:defRPr>
            </a:defPPr>
            <a:lvl1pPr>
              <a:defRPr sz="2250" b="0">
                <a:solidFill>
                  <a:srgbClr val="142C40"/>
                </a:solidFill>
              </a:defRPr>
            </a:lvl1pPr>
            <a:lvl2pPr>
              <a:defRPr sz="2250" b="0">
                <a:solidFill>
                  <a:srgbClr val="142C40"/>
                </a:solidFill>
              </a:defRPr>
            </a:lvl2pPr>
            <a:lvl3pPr>
              <a:defRPr sz="2250" b="0">
                <a:solidFill>
                  <a:srgbClr val="142C40"/>
                </a:solidFill>
              </a:defRPr>
            </a:lvl3pPr>
            <a:lvl4pPr>
              <a:defRPr sz="2250" b="0">
                <a:solidFill>
                  <a:srgbClr val="142C40"/>
                </a:solidFill>
              </a:defRPr>
            </a:lvl4pPr>
            <a:lvl5pPr>
              <a:defRPr sz="2250" b="0">
                <a:solidFill>
                  <a:srgbClr val="142C40"/>
                </a:solidFill>
              </a:defRPr>
            </a:lvl5pPr>
            <a:lvl6pPr>
              <a:defRPr sz="2250" b="0">
                <a:solidFill>
                  <a:srgbClr val="142C40"/>
                </a:solidFill>
              </a:defRPr>
            </a:lvl6pPr>
            <a:lvl7pPr>
              <a:defRPr sz="2250" b="0">
                <a:solidFill>
                  <a:srgbClr val="142C40"/>
                </a:solidFill>
              </a:defRPr>
            </a:lvl7pPr>
            <a:lvl8pPr>
              <a:defRPr sz="2250" b="0">
                <a:solidFill>
                  <a:srgbClr val="142C40"/>
                </a:solidFill>
              </a:defRPr>
            </a:lvl8pPr>
            <a:lvl9pPr>
              <a:defRPr sz="2250" b="0">
                <a:solidFill>
                  <a:srgbClr val="142C40"/>
                </a:solidFill>
              </a:defRPr>
            </a:lvl9pPr>
          </a:lstStyle>
          <a:p xmlns:a="http://schemas.openxmlformats.org/drawingml/2006/main">
            <a:pPr>
              <a:buNone/>
              <a:defRPr sz="2250" b="0">
                <a:solidFill>
                  <a:srgbClr val="142C40"/>
                </a:solidFill>
              </a:defRPr>
            </a:pPr>
            <a:r>
              <a:rPr sz="2250" b="0">
                <a:solidFill>
                  <a:srgbClr val="142C40"/>
                </a:solidFill>
              </a:rPr>
              <a:t>Giữ ảnh suy giảm chưa xử lý làm đối chứng cho từng phương pháp.</a:t>
            </a:r>
          </a:p>
        </p:txBody>
      </p:sp>
    </p:spTree>
    <p:extLst>
      <p:ext uri="{BB962C8B-B14F-4D97-AF65-F5344CB8AC3E}">
        <p14:creationId xmlns:p14="http://schemas.microsoft.com/office/powerpoint/2010/main" val="62288221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Hình chữ nhật 8">
            <a:extLst xmlns:a="http://schemas.openxmlformats.org/drawingml/2006/main">
              <a:ext uri="{FF2B5EF4-FFF2-40B4-BE49-F238E27FC236}">
                <a16:creationId xmlns:a16="http://schemas.microsoft.com/office/drawing/2014/main" id="{0EB639B0-A3AE-49CB-A8B2-059AC30E25EA}"/>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49 điều kiện với tham số khóa trên Validation</a:t>
            </a:r>
          </a:p>
        </p:txBody>
      </p:sp>
      <p:sp>
        <p:nvSpPr>
          <p:cNvPr id="2" name="Hình chữ nhật 1">
            <a:extLst xmlns:a="http://schemas.openxmlformats.org/drawingml/2006/main">
              <a:ext uri="{FF2B5EF4-FFF2-40B4-BE49-F238E27FC236}">
                <a16:creationId xmlns:a16="http://schemas.microsoft.com/office/drawing/2014/main" id="{D0240C7D-0DF8-4BAF-B692-ADDD91C966D6}"/>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Chương 5  Thiết kế thực nghiệm</a:t>
            </a:r>
          </a:p>
        </p:txBody>
      </p:sp>
      <p:sp>
        <p:nvSpPr>
          <p:cNvPr id="3" name="Hình chữ nhật 2">
            <a:extLst xmlns:a="http://schemas.openxmlformats.org/drawingml/2006/main">
              <a:ext uri="{FF2B5EF4-FFF2-40B4-BE49-F238E27FC236}">
                <a16:creationId xmlns:a16="http://schemas.microsoft.com/office/drawing/2014/main" id="{8C1C3696-69C5-440A-BEF4-3B67A122E947}"/>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14</a:t>
            </a:r>
          </a:p>
        </p:txBody>
      </p:sp>
      <p:sp>
        <p:nvSpPr>
          <p:cNvPr id="4" name="Hình chữ nhật 3">
            <a:extLst xmlns:a="http://schemas.openxmlformats.org/drawingml/2006/main">
              <a:ext uri="{FF2B5EF4-FFF2-40B4-BE49-F238E27FC236}">
                <a16:creationId xmlns:a16="http://schemas.microsoft.com/office/drawing/2014/main" id="{DC2EE576-F08A-47BA-97AE-D3AFDD77A3B3}"/>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sp>
        <p:nvSpPr>
          <p:cNvPr id="5" name="Hình chữ nhật 4">
            <a:extLst xmlns:a="http://schemas.openxmlformats.org/drawingml/2006/main">
              <a:ext uri="{FF2B5EF4-FFF2-40B4-BE49-F238E27FC236}">
                <a16:creationId xmlns:a16="http://schemas.microsoft.com/office/drawing/2014/main" id="{762F0EF1-B410-49F6-B771-E8B2812B4530}"/>
              </a:ext>
            </a:extLst>
          </p:cNvPr>
          <p:cNvSpPr>
            <a:spLocks xmlns:a="http://schemas.openxmlformats.org/drawingml/2006/main" noGrp="1"/>
          </p:cNvSpPr>
          <p:nvPr/>
        </p:nvSpPr>
        <p:spPr>
          <a:xfrm xmlns:a="http://schemas.openxmlformats.org/drawingml/2006/main">
            <a:off x="619125" y="219075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75676"/>
                </a:solidFill>
              </a:defRPr>
            </a:defPPr>
            <a:lvl1pPr>
              <a:defRPr sz="2925" b="1">
                <a:solidFill>
                  <a:srgbClr val="175676"/>
                </a:solidFill>
              </a:defRPr>
            </a:lvl1pPr>
            <a:lvl2pPr>
              <a:defRPr sz="2925" b="1">
                <a:solidFill>
                  <a:srgbClr val="175676"/>
                </a:solidFill>
              </a:defRPr>
            </a:lvl2pPr>
            <a:lvl3pPr>
              <a:defRPr sz="2925" b="1">
                <a:solidFill>
                  <a:srgbClr val="175676"/>
                </a:solidFill>
              </a:defRPr>
            </a:lvl3pPr>
            <a:lvl4pPr>
              <a:defRPr sz="2925" b="1">
                <a:solidFill>
                  <a:srgbClr val="175676"/>
                </a:solidFill>
              </a:defRPr>
            </a:lvl4pPr>
            <a:lvl5pPr>
              <a:defRPr sz="2925" b="1">
                <a:solidFill>
                  <a:srgbClr val="175676"/>
                </a:solidFill>
              </a:defRPr>
            </a:lvl5pPr>
            <a:lvl6pPr>
              <a:defRPr sz="2925" b="1">
                <a:solidFill>
                  <a:srgbClr val="175676"/>
                </a:solidFill>
              </a:defRPr>
            </a:lvl6pPr>
            <a:lvl7pPr>
              <a:defRPr sz="2925" b="1">
                <a:solidFill>
                  <a:srgbClr val="175676"/>
                </a:solidFill>
              </a:defRPr>
            </a:lvl7pPr>
            <a:lvl8pPr>
              <a:defRPr sz="2925" b="1">
                <a:solidFill>
                  <a:srgbClr val="175676"/>
                </a:solidFill>
              </a:defRPr>
            </a:lvl8pPr>
            <a:lvl9pPr>
              <a:defRPr sz="2925" b="1">
                <a:solidFill>
                  <a:srgbClr val="175676"/>
                </a:solidFill>
              </a:defRPr>
            </a:lvl9pPr>
          </a:lstStyle>
          <a:p xmlns:a="http://schemas.openxmlformats.org/drawingml/2006/main">
            <a:pPr>
              <a:buNone/>
              <a:defRPr sz="2925" b="1">
                <a:solidFill>
                  <a:srgbClr val="175676"/>
                </a:solidFill>
              </a:defRPr>
            </a:pPr>
            <a:r>
              <a:rPr sz="2925" b="1">
                <a:solidFill>
                  <a:srgbClr val="175676"/>
                </a:solidFill>
              </a:rPr>
              <a:t>1 clean  +  15 degraded  +  33 enhanced  =  49</a:t>
            </a:r>
          </a:p>
        </p:txBody>
      </p:sp>
      <p:sp>
        <p:nvSpPr>
          <p:cNvPr id="6" name="Hình chữ nhật 5">
            <a:extLst xmlns:a="http://schemas.openxmlformats.org/drawingml/2006/main">
              <a:ext uri="{FF2B5EF4-FFF2-40B4-BE49-F238E27FC236}">
                <a16:creationId xmlns:a16="http://schemas.microsoft.com/office/drawing/2014/main" id="{1FE16CF7-0E0B-4C59-A207-2FED6DA8EC60}"/>
              </a:ext>
            </a:extLst>
          </p:cNvPr>
          <p:cNvSpPr>
            <a:spLocks xmlns:a="http://schemas.openxmlformats.org/drawingml/2006/main" noGrp="1"/>
          </p:cNvSpPr>
          <p:nvPr/>
        </p:nvSpPr>
        <p:spPr>
          <a:xfrm xmlns:a="http://schemas.openxmlformats.org/drawingml/2006/main">
            <a:off x="619125" y="338137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vl1pPr>
              <a:defRPr sz="2175" b="0">
                <a:solidFill>
                  <a:srgbClr val="142C40"/>
                </a:solidFill>
              </a:defRPr>
            </a:lvl1pPr>
            <a:lvl2pPr>
              <a:defRPr sz="2175" b="0">
                <a:solidFill>
                  <a:srgbClr val="142C40"/>
                </a:solidFill>
              </a:defRPr>
            </a:lvl2pPr>
            <a:lvl3pPr>
              <a:defRPr sz="2175" b="0">
                <a:solidFill>
                  <a:srgbClr val="142C40"/>
                </a:solidFill>
              </a:defRPr>
            </a:lvl3pPr>
            <a:lvl4pPr>
              <a:defRPr sz="2175" b="0">
                <a:solidFill>
                  <a:srgbClr val="142C40"/>
                </a:solidFill>
              </a:defRPr>
            </a:lvl4pPr>
            <a:lvl5pPr>
              <a:defRPr sz="2175" b="0">
                <a:solidFill>
                  <a:srgbClr val="142C40"/>
                </a:solidFill>
              </a:defRPr>
            </a:lvl5pPr>
            <a:lvl6pPr>
              <a:defRPr sz="2175" b="0">
                <a:solidFill>
                  <a:srgbClr val="142C40"/>
                </a:solidFill>
              </a:defRPr>
            </a:lvl6pPr>
            <a:lvl7pPr>
              <a:defRPr sz="2175" b="0">
                <a:solidFill>
                  <a:srgbClr val="142C40"/>
                </a:solidFill>
              </a:defRPr>
            </a:lvl7pPr>
            <a:lvl8pPr>
              <a:defRPr sz="2175" b="0">
                <a:solidFill>
                  <a:srgbClr val="142C40"/>
                </a:solidFill>
              </a:defRPr>
            </a:lvl8pPr>
            <a:lvl9pPr>
              <a:defRPr sz="2175" b="0">
                <a:solidFill>
                  <a:srgbClr val="142C40"/>
                </a:solidFill>
              </a:defRPr>
            </a:lvl9pPr>
          </a:lstStyle>
          <a:p xmlns:a="http://schemas.openxmlformats.org/drawingml/2006/main">
            <a:pPr>
              <a:buNone/>
              <a:defRPr sz="2175" b="0">
                <a:solidFill>
                  <a:srgbClr val="142C40"/>
                </a:solidFill>
              </a:defRPr>
            </a:pPr>
            <a:r>
              <a:rPr sz="2175" b="0">
                <a:solidFill>
                  <a:srgbClr val="142C40"/>
                </a:solidFill>
              </a:rPr>
              <a:t>550 ảnh Test mỗi điều kiện → 26.950 dự đoán.</a:t>
            </a:r>
          </a:p>
        </p:txBody>
      </p:sp>
      <p:sp>
        <p:nvSpPr>
          <p:cNvPr id="7" name="Hình chữ nhật 6">
            <a:extLst xmlns:a="http://schemas.openxmlformats.org/drawingml/2006/main">
              <a:ext uri="{FF2B5EF4-FFF2-40B4-BE49-F238E27FC236}">
                <a16:creationId xmlns:a16="http://schemas.microsoft.com/office/drawing/2014/main" id="{D3679B09-79F6-44EE-95C5-C3DCD02C4799}"/>
              </a:ext>
            </a:extLst>
          </p:cNvPr>
          <p:cNvSpPr>
            <a:spLocks xmlns:a="http://schemas.openxmlformats.org/drawingml/2006/main" noGrp="1"/>
          </p:cNvSpPr>
          <p:nvPr/>
        </p:nvSpPr>
        <p:spPr>
          <a:xfrm xmlns:a="http://schemas.openxmlformats.org/drawingml/2006/main">
            <a:off x="619125" y="423862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vl1pPr>
              <a:defRPr sz="2175" b="0">
                <a:solidFill>
                  <a:srgbClr val="142C40"/>
                </a:solidFill>
              </a:defRPr>
            </a:lvl1pPr>
            <a:lvl2pPr>
              <a:defRPr sz="2175" b="0">
                <a:solidFill>
                  <a:srgbClr val="142C40"/>
                </a:solidFill>
              </a:defRPr>
            </a:lvl2pPr>
            <a:lvl3pPr>
              <a:defRPr sz="2175" b="0">
                <a:solidFill>
                  <a:srgbClr val="142C40"/>
                </a:solidFill>
              </a:defRPr>
            </a:lvl3pPr>
            <a:lvl4pPr>
              <a:defRPr sz="2175" b="0">
                <a:solidFill>
                  <a:srgbClr val="142C40"/>
                </a:solidFill>
              </a:defRPr>
            </a:lvl4pPr>
            <a:lvl5pPr>
              <a:defRPr sz="2175" b="0">
                <a:solidFill>
                  <a:srgbClr val="142C40"/>
                </a:solidFill>
              </a:defRPr>
            </a:lvl5pPr>
            <a:lvl6pPr>
              <a:defRPr sz="2175" b="0">
                <a:solidFill>
                  <a:srgbClr val="142C40"/>
                </a:solidFill>
              </a:defRPr>
            </a:lvl6pPr>
            <a:lvl7pPr>
              <a:defRPr sz="2175" b="0">
                <a:solidFill>
                  <a:srgbClr val="142C40"/>
                </a:solidFill>
              </a:defRPr>
            </a:lvl7pPr>
            <a:lvl8pPr>
              <a:defRPr sz="2175" b="0">
                <a:solidFill>
                  <a:srgbClr val="142C40"/>
                </a:solidFill>
              </a:defRPr>
            </a:lvl8pPr>
            <a:lvl9pPr>
              <a:defRPr sz="2175" b="0">
                <a:solidFill>
                  <a:srgbClr val="142C40"/>
                </a:solidFill>
              </a:defRPr>
            </a:lvl9pPr>
          </a:lstStyle>
          <a:p xmlns:a="http://schemas.openxmlformats.org/drawingml/2006/main">
            <a:pPr>
              <a:buNone/>
              <a:defRPr sz="2175" b="0">
                <a:solidFill>
                  <a:srgbClr val="142C40"/>
                </a:solidFill>
              </a:defRPr>
            </a:pPr>
            <a:r>
              <a:rPr sz="2175" b="0">
                <a:solidFill>
                  <a:srgbClr val="142C40"/>
                </a:solidFill>
              </a:rPr>
              <a:t>Chọn trên Validation: Macro F1 cao → SSIM cao → xử lý nhanh.</a:t>
            </a:r>
          </a:p>
        </p:txBody>
      </p:sp>
      <p:sp>
        <p:nvSpPr>
          <p:cNvPr id="8" name="Hình chữ nhật 7">
            <a:extLst xmlns:a="http://schemas.openxmlformats.org/drawingml/2006/main">
              <a:ext uri="{FF2B5EF4-FFF2-40B4-BE49-F238E27FC236}">
                <a16:creationId xmlns:a16="http://schemas.microsoft.com/office/drawing/2014/main" id="{11EB5A66-A290-4B74-B307-745A58B69DE1}"/>
              </a:ext>
            </a:extLst>
          </p:cNvPr>
          <p:cNvSpPr>
            <a:spLocks xmlns:a="http://schemas.openxmlformats.org/drawingml/2006/main" noGrp="1"/>
          </p:cNvSpPr>
          <p:nvPr/>
        </p:nvSpPr>
        <p:spPr>
          <a:xfrm xmlns:a="http://schemas.openxmlformats.org/drawingml/2006/main">
            <a:off x="619125" y="509587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42C40"/>
                </a:solidFill>
              </a:defRPr>
            </a:defPPr>
            <a:lvl1pPr>
              <a:defRPr sz="2175" b="0">
                <a:solidFill>
                  <a:srgbClr val="142C40"/>
                </a:solidFill>
              </a:defRPr>
            </a:lvl1pPr>
            <a:lvl2pPr>
              <a:defRPr sz="2175" b="0">
                <a:solidFill>
                  <a:srgbClr val="142C40"/>
                </a:solidFill>
              </a:defRPr>
            </a:lvl2pPr>
            <a:lvl3pPr>
              <a:defRPr sz="2175" b="0">
                <a:solidFill>
                  <a:srgbClr val="142C40"/>
                </a:solidFill>
              </a:defRPr>
            </a:lvl3pPr>
            <a:lvl4pPr>
              <a:defRPr sz="2175" b="0">
                <a:solidFill>
                  <a:srgbClr val="142C40"/>
                </a:solidFill>
              </a:defRPr>
            </a:lvl4pPr>
            <a:lvl5pPr>
              <a:defRPr sz="2175" b="0">
                <a:solidFill>
                  <a:srgbClr val="142C40"/>
                </a:solidFill>
              </a:defRPr>
            </a:lvl5pPr>
            <a:lvl6pPr>
              <a:defRPr sz="2175" b="0">
                <a:solidFill>
                  <a:srgbClr val="142C40"/>
                </a:solidFill>
              </a:defRPr>
            </a:lvl6pPr>
            <a:lvl7pPr>
              <a:defRPr sz="2175" b="0">
                <a:solidFill>
                  <a:srgbClr val="142C40"/>
                </a:solidFill>
              </a:defRPr>
            </a:lvl7pPr>
            <a:lvl8pPr>
              <a:defRPr sz="2175" b="0">
                <a:solidFill>
                  <a:srgbClr val="142C40"/>
                </a:solidFill>
              </a:defRPr>
            </a:lvl8pPr>
            <a:lvl9pPr>
              <a:defRPr sz="2175" b="0">
                <a:solidFill>
                  <a:srgbClr val="142C40"/>
                </a:solidFill>
              </a:defRPr>
            </a:lvl9pPr>
          </a:lstStyle>
          <a:p xmlns:a="http://schemas.openxmlformats.org/drawingml/2006/main">
            <a:pPr>
              <a:buNone/>
              <a:defRPr sz="2175" b="0">
                <a:solidFill>
                  <a:srgbClr val="142C40"/>
                </a:solidFill>
              </a:defRPr>
            </a:pPr>
            <a:r>
              <a:rPr sz="2175" b="0">
                <a:solidFill>
                  <a:srgbClr val="142C40"/>
                </a:solidFill>
              </a:rPr>
              <a:t>Khóa tham số trước Test; mục tiêu chọn ưu tiên nhận diện.</a:t>
            </a:r>
          </a:p>
        </p:txBody>
      </p:sp>
    </p:spTree>
    <p:extLst>
      <p:ext uri="{BB962C8B-B14F-4D97-AF65-F5344CB8AC3E}">
        <p14:creationId xmlns:p14="http://schemas.microsoft.com/office/powerpoint/2010/main" val="102460479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Hình chữ nhật 9">
            <a:extLst xmlns:a="http://schemas.openxmlformats.org/drawingml/2006/main">
              <a:ext uri="{FF2B5EF4-FFF2-40B4-BE49-F238E27FC236}">
                <a16:creationId xmlns:a16="http://schemas.microsoft.com/office/drawing/2014/main" id="{47324F9F-2A26-48B5-8E70-2B2EE0D98A8E}"/>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Metric chất lượng ảnh và cách diễn giải</a:t>
            </a:r>
          </a:p>
        </p:txBody>
      </p:sp>
      <p:sp>
        <p:nvSpPr>
          <p:cNvPr id="2" name="Hình chữ nhật 1">
            <a:extLst xmlns:a="http://schemas.openxmlformats.org/drawingml/2006/main">
              <a:ext uri="{FF2B5EF4-FFF2-40B4-BE49-F238E27FC236}">
                <a16:creationId xmlns:a16="http://schemas.microsoft.com/office/drawing/2014/main" id="{3FA0ABAB-B3B3-4A73-BA2A-B7CE38FBBBFC}"/>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Chương 5 và mục 6.1</a:t>
            </a:r>
          </a:p>
        </p:txBody>
      </p:sp>
      <p:sp>
        <p:nvSpPr>
          <p:cNvPr id="3" name="Hình chữ nhật 2">
            <a:extLst xmlns:a="http://schemas.openxmlformats.org/drawingml/2006/main">
              <a:ext uri="{FF2B5EF4-FFF2-40B4-BE49-F238E27FC236}">
                <a16:creationId xmlns:a16="http://schemas.microsoft.com/office/drawing/2014/main" id="{8AF4F806-14F7-4314-9742-3C3F9A719DCE}"/>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15</a:t>
            </a:r>
          </a:p>
        </p:txBody>
      </p:sp>
      <p:sp>
        <p:nvSpPr>
          <p:cNvPr id="4" name="Hình chữ nhật 3">
            <a:extLst xmlns:a="http://schemas.openxmlformats.org/drawingml/2006/main">
              <a:ext uri="{FF2B5EF4-FFF2-40B4-BE49-F238E27FC236}">
                <a16:creationId xmlns:a16="http://schemas.microsoft.com/office/drawing/2014/main" id="{EB64559C-E494-42DE-BE1A-A6FD0CADB780}"/>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sp>
        <p:nvSpPr>
          <p:cNvPr id="5" name="Hình chữ nhật 4">
            <a:extLst xmlns:a="http://schemas.openxmlformats.org/drawingml/2006/main">
              <a:ext uri="{FF2B5EF4-FFF2-40B4-BE49-F238E27FC236}">
                <a16:creationId xmlns:a16="http://schemas.microsoft.com/office/drawing/2014/main" id="{C9C47602-AA64-4269-B03B-778363FE3573}"/>
              </a:ext>
            </a:extLst>
          </p:cNvPr>
          <p:cNvSpPr>
            <a:spLocks xmlns:a="http://schemas.openxmlformats.org/drawingml/2006/main" noGrp="1"/>
          </p:cNvSpPr>
          <p:nvPr/>
        </p:nvSpPr>
        <p:spPr>
          <a:xfrm xmlns:a="http://schemas.openxmlformats.org/drawingml/2006/main">
            <a:off x="619125" y="195262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vl1pPr>
              <a:defRPr sz="2100" b="0">
                <a:solidFill>
                  <a:srgbClr val="142C40"/>
                </a:solidFill>
              </a:defRPr>
            </a:lvl1pPr>
            <a:lvl2pPr>
              <a:defRPr sz="2100" b="0">
                <a:solidFill>
                  <a:srgbClr val="142C40"/>
                </a:solidFill>
              </a:defRPr>
            </a:lvl2pPr>
            <a:lvl3pPr>
              <a:defRPr sz="2100" b="0">
                <a:solidFill>
                  <a:srgbClr val="142C40"/>
                </a:solidFill>
              </a:defRPr>
            </a:lvl3pPr>
            <a:lvl4pPr>
              <a:defRPr sz="2100" b="0">
                <a:solidFill>
                  <a:srgbClr val="142C40"/>
                </a:solidFill>
              </a:defRPr>
            </a:lvl4pPr>
            <a:lvl5pPr>
              <a:defRPr sz="2100" b="0">
                <a:solidFill>
                  <a:srgbClr val="142C40"/>
                </a:solidFill>
              </a:defRPr>
            </a:lvl5pPr>
            <a:lvl6pPr>
              <a:defRPr sz="2100" b="0">
                <a:solidFill>
                  <a:srgbClr val="142C40"/>
                </a:solidFill>
              </a:defRPr>
            </a:lvl6pPr>
            <a:lvl7pPr>
              <a:defRPr sz="2100" b="0">
                <a:solidFill>
                  <a:srgbClr val="142C40"/>
                </a:solidFill>
              </a:defRPr>
            </a:lvl7pPr>
            <a:lvl8pPr>
              <a:defRPr sz="2100" b="0">
                <a:solidFill>
                  <a:srgbClr val="142C40"/>
                </a:solidFill>
              </a:defRPr>
            </a:lvl8pPr>
            <a:lvl9pPr>
              <a:defRPr sz="2100" b="0">
                <a:solidFill>
                  <a:srgbClr val="142C40"/>
                </a:solidFill>
              </a:defRPr>
            </a:lvl9pPr>
          </a:lstStyle>
          <a:p xmlns:a="http://schemas.openxmlformats.org/drawingml/2006/main">
            <a:pPr>
              <a:buNone/>
              <a:defRPr sz="2100" b="0">
                <a:solidFill>
                  <a:srgbClr val="142C40"/>
                </a:solidFill>
              </a:defRPr>
            </a:pPr>
            <a:r>
              <a:rPr sz="2100" b="0">
                <a:solidFill>
                  <a:srgbClr val="142C40"/>
                </a:solidFill>
              </a:rPr>
              <a:t>PSNR suy ra từ MSE: sai số nhỏ hơn → PSNR cao hơn (dB).</a:t>
            </a:r>
          </a:p>
        </p:txBody>
      </p:sp>
      <p:sp>
        <p:nvSpPr>
          <p:cNvPr id="6" name="Hình chữ nhật 5">
            <a:extLst xmlns:a="http://schemas.openxmlformats.org/drawingml/2006/main">
              <a:ext uri="{FF2B5EF4-FFF2-40B4-BE49-F238E27FC236}">
                <a16:creationId xmlns:a16="http://schemas.microsoft.com/office/drawing/2014/main" id="{08E15813-4158-4A09-A1BD-45E11CEC7D8E}"/>
              </a:ext>
            </a:extLst>
          </p:cNvPr>
          <p:cNvSpPr>
            <a:spLocks xmlns:a="http://schemas.openxmlformats.org/drawingml/2006/main" noGrp="1"/>
          </p:cNvSpPr>
          <p:nvPr/>
        </p:nvSpPr>
        <p:spPr>
          <a:xfrm xmlns:a="http://schemas.openxmlformats.org/drawingml/2006/main">
            <a:off x="619125" y="273367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vl1pPr>
              <a:defRPr sz="2100" b="0">
                <a:solidFill>
                  <a:srgbClr val="142C40"/>
                </a:solidFill>
              </a:defRPr>
            </a:lvl1pPr>
            <a:lvl2pPr>
              <a:defRPr sz="2100" b="0">
                <a:solidFill>
                  <a:srgbClr val="142C40"/>
                </a:solidFill>
              </a:defRPr>
            </a:lvl2pPr>
            <a:lvl3pPr>
              <a:defRPr sz="2100" b="0">
                <a:solidFill>
                  <a:srgbClr val="142C40"/>
                </a:solidFill>
              </a:defRPr>
            </a:lvl3pPr>
            <a:lvl4pPr>
              <a:defRPr sz="2100" b="0">
                <a:solidFill>
                  <a:srgbClr val="142C40"/>
                </a:solidFill>
              </a:defRPr>
            </a:lvl4pPr>
            <a:lvl5pPr>
              <a:defRPr sz="2100" b="0">
                <a:solidFill>
                  <a:srgbClr val="142C40"/>
                </a:solidFill>
              </a:defRPr>
            </a:lvl5pPr>
            <a:lvl6pPr>
              <a:defRPr sz="2100" b="0">
                <a:solidFill>
                  <a:srgbClr val="142C40"/>
                </a:solidFill>
              </a:defRPr>
            </a:lvl6pPr>
            <a:lvl7pPr>
              <a:defRPr sz="2100" b="0">
                <a:solidFill>
                  <a:srgbClr val="142C40"/>
                </a:solidFill>
              </a:defRPr>
            </a:lvl7pPr>
            <a:lvl8pPr>
              <a:defRPr sz="2100" b="0">
                <a:solidFill>
                  <a:srgbClr val="142C40"/>
                </a:solidFill>
              </a:defRPr>
            </a:lvl8pPr>
            <a:lvl9pPr>
              <a:defRPr sz="2100" b="0">
                <a:solidFill>
                  <a:srgbClr val="142C40"/>
                </a:solidFill>
              </a:defRPr>
            </a:lvl9pPr>
          </a:lstStyle>
          <a:p xmlns:a="http://schemas.openxmlformats.org/drawingml/2006/main">
            <a:pPr>
              <a:buNone/>
              <a:defRPr sz="2100" b="0">
                <a:solidFill>
                  <a:srgbClr val="142C40"/>
                </a:solidFill>
              </a:defRPr>
            </a:pPr>
            <a:r>
              <a:rPr sz="2100" b="0">
                <a:solidFill>
                  <a:srgbClr val="142C40"/>
                </a:solidFill>
              </a:rPr>
              <a:t>SSIM: mức giống về độ sáng, tương phản và cấu trúc cục bộ.</a:t>
            </a:r>
          </a:p>
        </p:txBody>
      </p:sp>
      <p:sp>
        <p:nvSpPr>
          <p:cNvPr id="7" name="Hình chữ nhật 6">
            <a:extLst xmlns:a="http://schemas.openxmlformats.org/drawingml/2006/main">
              <a:ext uri="{FF2B5EF4-FFF2-40B4-BE49-F238E27FC236}">
                <a16:creationId xmlns:a16="http://schemas.microsoft.com/office/drawing/2014/main" id="{35232963-CD41-40EB-BA67-BEF934BB58DE}"/>
              </a:ext>
            </a:extLst>
          </p:cNvPr>
          <p:cNvSpPr>
            <a:spLocks xmlns:a="http://schemas.openxmlformats.org/drawingml/2006/main" noGrp="1"/>
          </p:cNvSpPr>
          <p:nvPr/>
        </p:nvSpPr>
        <p:spPr>
          <a:xfrm xmlns:a="http://schemas.openxmlformats.org/drawingml/2006/main">
            <a:off x="619125" y="351472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vl1pPr>
              <a:defRPr sz="2100" b="0">
                <a:solidFill>
                  <a:srgbClr val="142C40"/>
                </a:solidFill>
              </a:defRPr>
            </a:lvl1pPr>
            <a:lvl2pPr>
              <a:defRPr sz="2100" b="0">
                <a:solidFill>
                  <a:srgbClr val="142C40"/>
                </a:solidFill>
              </a:defRPr>
            </a:lvl2pPr>
            <a:lvl3pPr>
              <a:defRPr sz="2100" b="0">
                <a:solidFill>
                  <a:srgbClr val="142C40"/>
                </a:solidFill>
              </a:defRPr>
            </a:lvl3pPr>
            <a:lvl4pPr>
              <a:defRPr sz="2100" b="0">
                <a:solidFill>
                  <a:srgbClr val="142C40"/>
                </a:solidFill>
              </a:defRPr>
            </a:lvl4pPr>
            <a:lvl5pPr>
              <a:defRPr sz="2100" b="0">
                <a:solidFill>
                  <a:srgbClr val="142C40"/>
                </a:solidFill>
              </a:defRPr>
            </a:lvl5pPr>
            <a:lvl6pPr>
              <a:defRPr sz="2100" b="0">
                <a:solidFill>
                  <a:srgbClr val="142C40"/>
                </a:solidFill>
              </a:defRPr>
            </a:lvl6pPr>
            <a:lvl7pPr>
              <a:defRPr sz="2100" b="0">
                <a:solidFill>
                  <a:srgbClr val="142C40"/>
                </a:solidFill>
              </a:defRPr>
            </a:lvl7pPr>
            <a:lvl8pPr>
              <a:defRPr sz="2100" b="0">
                <a:solidFill>
                  <a:srgbClr val="142C40"/>
                </a:solidFill>
              </a:defRPr>
            </a:lvl8pPr>
            <a:lvl9pPr>
              <a:defRPr sz="2100" b="0">
                <a:solidFill>
                  <a:srgbClr val="142C40"/>
                </a:solidFill>
              </a:defRPr>
            </a:lvl9pPr>
          </a:lstStyle>
          <a:p xmlns:a="http://schemas.openxmlformats.org/drawingml/2006/main">
            <a:pPr>
              <a:buNone/>
              <a:defRPr sz="2100" b="0">
                <a:solidFill>
                  <a:srgbClr val="142C40"/>
                </a:solidFill>
              </a:defRPr>
            </a:pPr>
            <a:r>
              <a:rPr sz="2100" b="0">
                <a:solidFill>
                  <a:srgbClr val="142C40"/>
                </a:solidFill>
              </a:rPr>
              <a:t>ΔE2000: sai khác màu; thấp hơn tốt hơn, báo cáo cho ám màu.</a:t>
            </a:r>
          </a:p>
        </p:txBody>
      </p:sp>
      <p:sp>
        <p:nvSpPr>
          <p:cNvPr id="8" name="Hình chữ nhật 7">
            <a:extLst xmlns:a="http://schemas.openxmlformats.org/drawingml/2006/main">
              <a:ext uri="{FF2B5EF4-FFF2-40B4-BE49-F238E27FC236}">
                <a16:creationId xmlns:a16="http://schemas.microsoft.com/office/drawing/2014/main" id="{D2F17738-AD17-4042-8F54-7948B51D81A2}"/>
              </a:ext>
            </a:extLst>
          </p:cNvPr>
          <p:cNvSpPr>
            <a:spLocks xmlns:a="http://schemas.openxmlformats.org/drawingml/2006/main" noGrp="1"/>
          </p:cNvSpPr>
          <p:nvPr/>
        </p:nvSpPr>
        <p:spPr>
          <a:xfrm xmlns:a="http://schemas.openxmlformats.org/drawingml/2006/main">
            <a:off x="619125" y="429577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vl1pPr>
              <a:defRPr sz="2100" b="0">
                <a:solidFill>
                  <a:srgbClr val="142C40"/>
                </a:solidFill>
              </a:defRPr>
            </a:lvl1pPr>
            <a:lvl2pPr>
              <a:defRPr sz="2100" b="0">
                <a:solidFill>
                  <a:srgbClr val="142C40"/>
                </a:solidFill>
              </a:defRPr>
            </a:lvl2pPr>
            <a:lvl3pPr>
              <a:defRPr sz="2100" b="0">
                <a:solidFill>
                  <a:srgbClr val="142C40"/>
                </a:solidFill>
              </a:defRPr>
            </a:lvl3pPr>
            <a:lvl4pPr>
              <a:defRPr sz="2100" b="0">
                <a:solidFill>
                  <a:srgbClr val="142C40"/>
                </a:solidFill>
              </a:defRPr>
            </a:lvl4pPr>
            <a:lvl5pPr>
              <a:defRPr sz="2100" b="0">
                <a:solidFill>
                  <a:srgbClr val="142C40"/>
                </a:solidFill>
              </a:defRPr>
            </a:lvl5pPr>
            <a:lvl6pPr>
              <a:defRPr sz="2100" b="0">
                <a:solidFill>
                  <a:srgbClr val="142C40"/>
                </a:solidFill>
              </a:defRPr>
            </a:lvl6pPr>
            <a:lvl7pPr>
              <a:defRPr sz="2100" b="0">
                <a:solidFill>
                  <a:srgbClr val="142C40"/>
                </a:solidFill>
              </a:defRPr>
            </a:lvl7pPr>
            <a:lvl8pPr>
              <a:defRPr sz="2100" b="0">
                <a:solidFill>
                  <a:srgbClr val="142C40"/>
                </a:solidFill>
              </a:defRPr>
            </a:lvl8pPr>
            <a:lvl9pPr>
              <a:defRPr sz="2100" b="0">
                <a:solidFill>
                  <a:srgbClr val="142C40"/>
                </a:solidFill>
              </a:defRPr>
            </a:lvl9pPr>
          </a:lstStyle>
          <a:p xmlns:a="http://schemas.openxmlformats.org/drawingml/2006/main">
            <a:pPr>
              <a:buNone/>
              <a:defRPr sz="2100" b="0">
                <a:solidFill>
                  <a:srgbClr val="142C40"/>
                </a:solidFill>
              </a:defRPr>
            </a:pPr>
            <a:r>
              <a:rPr sz="2100" b="0">
                <a:solidFill>
                  <a:srgbClr val="142C40"/>
                </a:solidFill>
              </a:rPr>
              <a:t>Đủ 550 ảnh; mỗi ảnh lấy pixel cách 4 → lưới 56 × 56.</a:t>
            </a:r>
          </a:p>
        </p:txBody>
      </p:sp>
      <p:sp>
        <p:nvSpPr>
          <p:cNvPr id="9" name="Hình chữ nhật 8">
            <a:extLst xmlns:a="http://schemas.openxmlformats.org/drawingml/2006/main">
              <a:ext uri="{FF2B5EF4-FFF2-40B4-BE49-F238E27FC236}">
                <a16:creationId xmlns:a16="http://schemas.microsoft.com/office/drawing/2014/main" id="{2672B678-B932-4519-BCD1-A3370CB03421}"/>
              </a:ext>
            </a:extLst>
          </p:cNvPr>
          <p:cNvSpPr>
            <a:spLocks xmlns:a="http://schemas.openxmlformats.org/drawingml/2006/main" noGrp="1"/>
          </p:cNvSpPr>
          <p:nvPr/>
        </p:nvSpPr>
        <p:spPr>
          <a:xfrm xmlns:a="http://schemas.openxmlformats.org/drawingml/2006/main">
            <a:off x="619125" y="507682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vl1pPr>
              <a:defRPr sz="2100" b="0">
                <a:solidFill>
                  <a:srgbClr val="142C40"/>
                </a:solidFill>
              </a:defRPr>
            </a:lvl1pPr>
            <a:lvl2pPr>
              <a:defRPr sz="2100" b="0">
                <a:solidFill>
                  <a:srgbClr val="142C40"/>
                </a:solidFill>
              </a:defRPr>
            </a:lvl2pPr>
            <a:lvl3pPr>
              <a:defRPr sz="2100" b="0">
                <a:solidFill>
                  <a:srgbClr val="142C40"/>
                </a:solidFill>
              </a:defRPr>
            </a:lvl3pPr>
            <a:lvl4pPr>
              <a:defRPr sz="2100" b="0">
                <a:solidFill>
                  <a:srgbClr val="142C40"/>
                </a:solidFill>
              </a:defRPr>
            </a:lvl4pPr>
            <a:lvl5pPr>
              <a:defRPr sz="2100" b="0">
                <a:solidFill>
                  <a:srgbClr val="142C40"/>
                </a:solidFill>
              </a:defRPr>
            </a:lvl5pPr>
            <a:lvl6pPr>
              <a:defRPr sz="2100" b="0">
                <a:solidFill>
                  <a:srgbClr val="142C40"/>
                </a:solidFill>
              </a:defRPr>
            </a:lvl6pPr>
            <a:lvl7pPr>
              <a:defRPr sz="2100" b="0">
                <a:solidFill>
                  <a:srgbClr val="142C40"/>
                </a:solidFill>
              </a:defRPr>
            </a:lvl7pPr>
            <a:lvl8pPr>
              <a:defRPr sz="2100" b="0">
                <a:solidFill>
                  <a:srgbClr val="142C40"/>
                </a:solidFill>
              </a:defRPr>
            </a:lvl8pPr>
            <a:lvl9pPr>
              <a:defRPr sz="2100" b="0">
                <a:solidFill>
                  <a:srgbClr val="142C40"/>
                </a:solidFill>
              </a:defRPr>
            </a:lvl9pPr>
          </a:lstStyle>
          <a:p xmlns:a="http://schemas.openxmlformats.org/drawingml/2006/main">
            <a:pPr>
              <a:buNone/>
              <a:defRPr sz="2100" b="0">
                <a:solidFill>
                  <a:srgbClr val="142C40"/>
                </a:solidFill>
              </a:defRPr>
            </a:pPr>
            <a:r>
              <a:rPr sz="2100" b="0">
                <a:solidFill>
                  <a:srgbClr val="142C40"/>
                </a:solidFill>
              </a:rPr>
              <a:t>Metric ảnh và Macro F1 trả lời hai câu hỏi khác nhau.</a:t>
            </a:r>
          </a:p>
        </p:txBody>
      </p:sp>
    </p:spTree>
    <p:extLst>
      <p:ext uri="{BB962C8B-B14F-4D97-AF65-F5344CB8AC3E}">
        <p14:creationId xmlns:p14="http://schemas.microsoft.com/office/powerpoint/2010/main" val="185400548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Hình chữ nhật 7">
            <a:extLst xmlns:a="http://schemas.openxmlformats.org/drawingml/2006/main">
              <a:ext uri="{FF2B5EF4-FFF2-40B4-BE49-F238E27FC236}">
                <a16:creationId xmlns:a16="http://schemas.microsoft.com/office/drawing/2014/main" id="{5209EE4A-0A3B-4763-B0B0-C4A574E2551A}"/>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Thiếu sáng và giới hạn của nghịch đảo Gamma</a:t>
            </a:r>
          </a:p>
        </p:txBody>
      </p:sp>
      <p:sp>
        <p:nvSpPr>
          <p:cNvPr id="2" name="Hình chữ nhật 1">
            <a:extLst xmlns:a="http://schemas.openxmlformats.org/drawingml/2006/main">
              <a:ext uri="{FF2B5EF4-FFF2-40B4-BE49-F238E27FC236}">
                <a16:creationId xmlns:a16="http://schemas.microsoft.com/office/drawing/2014/main" id="{59DBB93D-C85B-4EE5-94FC-6E34163A3860}"/>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Chương 6  Mục 6.2</a:t>
            </a:r>
          </a:p>
        </p:txBody>
      </p:sp>
      <p:sp>
        <p:nvSpPr>
          <p:cNvPr id="3" name="Hình chữ nhật 2">
            <a:extLst xmlns:a="http://schemas.openxmlformats.org/drawingml/2006/main">
              <a:ext uri="{FF2B5EF4-FFF2-40B4-BE49-F238E27FC236}">
                <a16:creationId xmlns:a16="http://schemas.microsoft.com/office/drawing/2014/main" id="{5F002A34-6FCC-4AEF-A9B0-AF0F194A7BFC}"/>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16</a:t>
            </a:r>
          </a:p>
        </p:txBody>
      </p:sp>
      <p:sp>
        <p:nvSpPr>
          <p:cNvPr id="4" name="Hình chữ nhật 3">
            <a:extLst xmlns:a="http://schemas.openxmlformats.org/drawingml/2006/main">
              <a:ext uri="{FF2B5EF4-FFF2-40B4-BE49-F238E27FC236}">
                <a16:creationId xmlns:a16="http://schemas.microsoft.com/office/drawing/2014/main" id="{70EA0D1C-7506-4853-887D-41AD5E659314}"/>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pic>
        <p:nvPicPr>
          <p:cNvPr id="5" name="Hình ảnh 4">
            <a:extLst xmlns:a="http://schemas.openxmlformats.org/drawingml/2006/main">
              <a:ext uri="{FF2B5EF4-FFF2-40B4-BE49-F238E27FC236}">
                <a16:creationId xmlns:a16="http://schemas.microsoft.com/office/drawing/2014/main" id="{B0A083F0-11C9-4857-8108-479227B51728}"/>
              </a:ext>
            </a:extLst>
          </p:cNvPr>
          <p:cNvPicPr>
            <a:picLocks xmlns:a="http://schemas.openxmlformats.org/drawingml/2006/main" noChangeAspect="1"/>
          </p:cNvPicPr>
          <p:nvPr/>
        </p:nvPicPr>
        <p:blipFill>
          <a:blip xmlns:r="http://schemas.openxmlformats.org/officeDocument/2006/relationships" xmlns:a="http://schemas.openxmlformats.org/drawingml/2006/main" r:embed="R882d52e1f31f46f5"/>
          <a:stretch xmlns:a="http://schemas.openxmlformats.org/drawingml/2006/main"/>
        </p:blipFill>
        <p:spPr>
          <a:xfrm xmlns:a="http://schemas.openxmlformats.org/drawingml/2006/main">
            <a:off x="1940837" y="1828800"/>
            <a:ext cx="8262702" cy="3143250"/>
          </a:xfrm>
          <a:prstGeom xmlns:a="http://schemas.openxmlformats.org/drawingml/2006/main" prst="rect">
            <a:avLst/>
          </a:prstGeom>
        </p:spPr>
      </p:pic>
      <p:sp>
        <p:nvSpPr>
          <p:cNvPr id="6" name="Hình chữ nhật 5">
            <a:extLst xmlns:a="http://schemas.openxmlformats.org/drawingml/2006/main">
              <a:ext uri="{FF2B5EF4-FFF2-40B4-BE49-F238E27FC236}">
                <a16:creationId xmlns:a16="http://schemas.microsoft.com/office/drawing/2014/main" id="{488CD5A0-DB1D-4D32-B59F-0F56ECA4379A}"/>
              </a:ext>
            </a:extLst>
          </p:cNvPr>
          <p:cNvSpPr>
            <a:spLocks xmlns:a="http://schemas.openxmlformats.org/drawingml/2006/main" noGrp="1"/>
          </p:cNvSpPr>
          <p:nvPr/>
        </p:nvSpPr>
        <p:spPr>
          <a:xfrm xmlns:a="http://schemas.openxmlformats.org/drawingml/2006/main">
            <a:off x="619125" y="51625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5676"/>
                </a:solidFill>
              </a:defRPr>
            </a:defPPr>
            <a:lvl1pPr>
              <a:defRPr sz="1875" b="1">
                <a:solidFill>
                  <a:srgbClr val="175676"/>
                </a:solidFill>
              </a:defRPr>
            </a:lvl1pPr>
            <a:lvl2pPr>
              <a:defRPr sz="1875" b="1">
                <a:solidFill>
                  <a:srgbClr val="175676"/>
                </a:solidFill>
              </a:defRPr>
            </a:lvl2pPr>
            <a:lvl3pPr>
              <a:defRPr sz="1875" b="1">
                <a:solidFill>
                  <a:srgbClr val="175676"/>
                </a:solidFill>
              </a:defRPr>
            </a:lvl3pPr>
            <a:lvl4pPr>
              <a:defRPr sz="1875" b="1">
                <a:solidFill>
                  <a:srgbClr val="175676"/>
                </a:solidFill>
              </a:defRPr>
            </a:lvl4pPr>
            <a:lvl5pPr>
              <a:defRPr sz="1875" b="1">
                <a:solidFill>
                  <a:srgbClr val="175676"/>
                </a:solidFill>
              </a:defRPr>
            </a:lvl5pPr>
            <a:lvl6pPr>
              <a:defRPr sz="1875" b="1">
                <a:solidFill>
                  <a:srgbClr val="175676"/>
                </a:solidFill>
              </a:defRPr>
            </a:lvl6pPr>
            <a:lvl7pPr>
              <a:defRPr sz="1875" b="1">
                <a:solidFill>
                  <a:srgbClr val="175676"/>
                </a:solidFill>
              </a:defRPr>
            </a:lvl7pPr>
            <a:lvl8pPr>
              <a:defRPr sz="1875" b="1">
                <a:solidFill>
                  <a:srgbClr val="175676"/>
                </a:solidFill>
              </a:defRPr>
            </a:lvl8pPr>
            <a:lvl9pPr>
              <a:defRPr sz="1875" b="1">
                <a:solidFill>
                  <a:srgbClr val="175676"/>
                </a:solidFill>
              </a:defRPr>
            </a:lvl9pPr>
          </a:lstStyle>
          <a:p xmlns:a="http://schemas.openxmlformats.org/drawingml/2006/main">
            <a:pPr>
              <a:buNone/>
              <a:defRPr sz="1875" b="1">
                <a:solidFill>
                  <a:srgbClr val="175676"/>
                </a:solidFill>
              </a:defRPr>
            </a:pPr>
            <a:r>
              <a:rPr sz="1875" b="1">
                <a:solidFill>
                  <a:srgbClr val="175676"/>
                </a:solidFill>
              </a:rPr>
              <a:t>Gamma nhẹ: PSNR 21,06 → 46,22 dB; SSIM 0,8650 → 0,9924.</a:t>
            </a:r>
          </a:p>
        </p:txBody>
      </p:sp>
      <p:sp>
        <p:nvSpPr>
          <p:cNvPr id="7" name="Hình chữ nhật 6">
            <a:extLst xmlns:a="http://schemas.openxmlformats.org/drawingml/2006/main">
              <a:ext uri="{FF2B5EF4-FFF2-40B4-BE49-F238E27FC236}">
                <a16:creationId xmlns:a16="http://schemas.microsoft.com/office/drawing/2014/main" id="{0D22B077-A3D1-4E28-BDEE-FAA87D70C026}"/>
              </a:ext>
            </a:extLst>
          </p:cNvPr>
          <p:cNvSpPr>
            <a:spLocks xmlns:a="http://schemas.openxmlformats.org/drawingml/2006/main" noGrp="1"/>
          </p:cNvSpPr>
          <p:nvPr/>
        </p:nvSpPr>
        <p:spPr>
          <a:xfrm xmlns:a="http://schemas.openxmlformats.org/drawingml/2006/main">
            <a:off x="619125" y="57150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42C40"/>
                </a:solidFill>
              </a:defRPr>
            </a:defPPr>
            <a:lvl1pPr>
              <a:defRPr sz="1725" b="0">
                <a:solidFill>
                  <a:srgbClr val="142C40"/>
                </a:solidFill>
              </a:defRPr>
            </a:lvl1pPr>
            <a:lvl2pPr>
              <a:defRPr sz="1725" b="0">
                <a:solidFill>
                  <a:srgbClr val="142C40"/>
                </a:solidFill>
              </a:defRPr>
            </a:lvl2pPr>
            <a:lvl3pPr>
              <a:defRPr sz="1725" b="0">
                <a:solidFill>
                  <a:srgbClr val="142C40"/>
                </a:solidFill>
              </a:defRPr>
            </a:lvl3pPr>
            <a:lvl4pPr>
              <a:defRPr sz="1725" b="0">
                <a:solidFill>
                  <a:srgbClr val="142C40"/>
                </a:solidFill>
              </a:defRPr>
            </a:lvl4pPr>
            <a:lvl5pPr>
              <a:defRPr sz="1725" b="0">
                <a:solidFill>
                  <a:srgbClr val="142C40"/>
                </a:solidFill>
              </a:defRPr>
            </a:lvl5pPr>
            <a:lvl6pPr>
              <a:defRPr sz="1725" b="0">
                <a:solidFill>
                  <a:srgbClr val="142C40"/>
                </a:solidFill>
              </a:defRPr>
            </a:lvl6pPr>
            <a:lvl7pPr>
              <a:defRPr sz="1725" b="0">
                <a:solidFill>
                  <a:srgbClr val="142C40"/>
                </a:solidFill>
              </a:defRPr>
            </a:lvl7pPr>
            <a:lvl8pPr>
              <a:defRPr sz="1725" b="0">
                <a:solidFill>
                  <a:srgbClr val="142C40"/>
                </a:solidFill>
              </a:defRPr>
            </a:lvl8pPr>
            <a:lvl9pPr>
              <a:defRPr sz="1725" b="0">
                <a:solidFill>
                  <a:srgbClr val="142C40"/>
                </a:solidFill>
              </a:defRPr>
            </a:lvl9pPr>
          </a:lstStyle>
          <a:p xmlns:a="http://schemas.openxmlformats.org/drawingml/2006/main">
            <a:pPr>
              <a:buNone/>
              <a:defRPr sz="1725" b="0">
                <a:solidFill>
                  <a:srgbClr val="142C40"/>
                </a:solidFill>
              </a:defRPr>
            </a:pPr>
            <a:r>
              <a:rPr sz="1725" b="0">
                <a:solidFill>
                  <a:srgbClr val="142C40"/>
                </a:solidFill>
              </a:rPr>
              <a:t>Biết γ tạo lợi thế; lượng tử hóa vùng tối vẫn làm mất thông tin.</a:t>
            </a:r>
          </a:p>
        </p:txBody>
      </p:sp>
    </p:spTree>
    <p:extLst>
      <p:ext uri="{BB962C8B-B14F-4D97-AF65-F5344CB8AC3E}">
        <p14:creationId xmlns:p14="http://schemas.microsoft.com/office/powerpoint/2010/main" val="27712286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Hình chữ nhật 7">
            <a:extLst xmlns:a="http://schemas.openxmlformats.org/drawingml/2006/main">
              <a:ext uri="{FF2B5EF4-FFF2-40B4-BE49-F238E27FC236}">
                <a16:creationId xmlns:a16="http://schemas.microsoft.com/office/drawing/2014/main" id="{5E7277EB-7704-4B92-AE81-845C7B7E3351}"/>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Khử nhiễu Gaussian và mức làm mượt</a:t>
            </a:r>
          </a:p>
        </p:txBody>
      </p:sp>
      <p:sp>
        <p:nvSpPr>
          <p:cNvPr id="2" name="Hình chữ nhật 1">
            <a:extLst xmlns:a="http://schemas.openxmlformats.org/drawingml/2006/main">
              <a:ext uri="{FF2B5EF4-FFF2-40B4-BE49-F238E27FC236}">
                <a16:creationId xmlns:a16="http://schemas.microsoft.com/office/drawing/2014/main" id="{89CA9760-07B1-4ED6-8503-F07F5043E246}"/>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Chương 6  Mục 6.3</a:t>
            </a:r>
          </a:p>
        </p:txBody>
      </p:sp>
      <p:sp>
        <p:nvSpPr>
          <p:cNvPr id="3" name="Hình chữ nhật 2">
            <a:extLst xmlns:a="http://schemas.openxmlformats.org/drawingml/2006/main">
              <a:ext uri="{FF2B5EF4-FFF2-40B4-BE49-F238E27FC236}">
                <a16:creationId xmlns:a16="http://schemas.microsoft.com/office/drawing/2014/main" id="{C60BA2B4-2299-4055-857C-C92C51420782}"/>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17</a:t>
            </a:r>
          </a:p>
        </p:txBody>
      </p:sp>
      <p:sp>
        <p:nvSpPr>
          <p:cNvPr id="4" name="Hình chữ nhật 3">
            <a:extLst xmlns:a="http://schemas.openxmlformats.org/drawingml/2006/main">
              <a:ext uri="{FF2B5EF4-FFF2-40B4-BE49-F238E27FC236}">
                <a16:creationId xmlns:a16="http://schemas.microsoft.com/office/drawing/2014/main" id="{DA96D1C2-8765-43A3-924E-9D91DB025204}"/>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pic>
        <p:nvPicPr>
          <p:cNvPr id="5" name="Hình ảnh 4">
            <a:extLst xmlns:a="http://schemas.openxmlformats.org/drawingml/2006/main">
              <a:ext uri="{FF2B5EF4-FFF2-40B4-BE49-F238E27FC236}">
                <a16:creationId xmlns:a16="http://schemas.microsoft.com/office/drawing/2014/main" id="{1F209C02-ED62-4603-85D1-F40284E2A03C}"/>
              </a:ext>
            </a:extLst>
          </p:cNvPr>
          <p:cNvPicPr>
            <a:picLocks xmlns:a="http://schemas.openxmlformats.org/drawingml/2006/main" noChangeAspect="1"/>
          </p:cNvPicPr>
          <p:nvPr/>
        </p:nvPicPr>
        <p:blipFill>
          <a:blip xmlns:r="http://schemas.openxmlformats.org/officeDocument/2006/relationships" xmlns:a="http://schemas.openxmlformats.org/drawingml/2006/main" r:embed="R13bc5cfc24ce495f"/>
          <a:stretch xmlns:a="http://schemas.openxmlformats.org/drawingml/2006/main"/>
        </p:blipFill>
        <p:spPr>
          <a:xfrm xmlns:a="http://schemas.openxmlformats.org/drawingml/2006/main">
            <a:off x="2041522" y="1828800"/>
            <a:ext cx="8061330" cy="3143250"/>
          </a:xfrm>
          <a:prstGeom xmlns:a="http://schemas.openxmlformats.org/drawingml/2006/main" prst="rect">
            <a:avLst/>
          </a:prstGeom>
        </p:spPr>
      </p:pic>
      <p:sp>
        <p:nvSpPr>
          <p:cNvPr id="6" name="Hình chữ nhật 5">
            <a:extLst xmlns:a="http://schemas.openxmlformats.org/drawingml/2006/main">
              <a:ext uri="{FF2B5EF4-FFF2-40B4-BE49-F238E27FC236}">
                <a16:creationId xmlns:a16="http://schemas.microsoft.com/office/drawing/2014/main" id="{AF773EE3-353F-4C84-AA21-D769A4C25FEA}"/>
              </a:ext>
            </a:extLst>
          </p:cNvPr>
          <p:cNvSpPr>
            <a:spLocks xmlns:a="http://schemas.openxmlformats.org/drawingml/2006/main" noGrp="1"/>
          </p:cNvSpPr>
          <p:nvPr/>
        </p:nvSpPr>
        <p:spPr>
          <a:xfrm xmlns:a="http://schemas.openxmlformats.org/drawingml/2006/main">
            <a:off x="619125" y="51625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5676"/>
                </a:solidFill>
              </a:defRPr>
            </a:defPPr>
            <a:lvl1pPr>
              <a:defRPr sz="1875" b="1">
                <a:solidFill>
                  <a:srgbClr val="175676"/>
                </a:solidFill>
              </a:defRPr>
            </a:lvl1pPr>
            <a:lvl2pPr>
              <a:defRPr sz="1875" b="1">
                <a:solidFill>
                  <a:srgbClr val="175676"/>
                </a:solidFill>
              </a:defRPr>
            </a:lvl2pPr>
            <a:lvl3pPr>
              <a:defRPr sz="1875" b="1">
                <a:solidFill>
                  <a:srgbClr val="175676"/>
                </a:solidFill>
              </a:defRPr>
            </a:lvl3pPr>
            <a:lvl4pPr>
              <a:defRPr sz="1875" b="1">
                <a:solidFill>
                  <a:srgbClr val="175676"/>
                </a:solidFill>
              </a:defRPr>
            </a:lvl4pPr>
            <a:lvl5pPr>
              <a:defRPr sz="1875" b="1">
                <a:solidFill>
                  <a:srgbClr val="175676"/>
                </a:solidFill>
              </a:defRPr>
            </a:lvl5pPr>
            <a:lvl6pPr>
              <a:defRPr sz="1875" b="1">
                <a:solidFill>
                  <a:srgbClr val="175676"/>
                </a:solidFill>
              </a:defRPr>
            </a:lvl6pPr>
            <a:lvl7pPr>
              <a:defRPr sz="1875" b="1">
                <a:solidFill>
                  <a:srgbClr val="175676"/>
                </a:solidFill>
              </a:defRPr>
            </a:lvl7pPr>
            <a:lvl8pPr>
              <a:defRPr sz="1875" b="1">
                <a:solidFill>
                  <a:srgbClr val="175676"/>
                </a:solidFill>
              </a:defRPr>
            </a:lvl8pPr>
            <a:lvl9pPr>
              <a:defRPr sz="1875" b="1">
                <a:solidFill>
                  <a:srgbClr val="175676"/>
                </a:solidFill>
              </a:defRPr>
            </a:lvl9pPr>
          </a:lstStyle>
          <a:p xmlns:a="http://schemas.openxmlformats.org/drawingml/2006/main">
            <a:pPr>
              <a:buNone/>
              <a:defRPr sz="1875" b="1">
                <a:solidFill>
                  <a:srgbClr val="175676"/>
                </a:solidFill>
              </a:defRPr>
            </a:pPr>
            <a:r>
              <a:rPr sz="1875" b="1">
                <a:solidFill>
                  <a:srgbClr val="175676"/>
                </a:solidFill>
              </a:rPr>
              <a:t>Bilateral tốt hơn ở nhiễu nhẹ/vừa; Gaussian tốt hơn ở mức mạnh.</a:t>
            </a:r>
          </a:p>
        </p:txBody>
      </p:sp>
      <p:sp>
        <p:nvSpPr>
          <p:cNvPr id="7" name="Hình chữ nhật 6">
            <a:extLst xmlns:a="http://schemas.openxmlformats.org/drawingml/2006/main">
              <a:ext uri="{FF2B5EF4-FFF2-40B4-BE49-F238E27FC236}">
                <a16:creationId xmlns:a16="http://schemas.microsoft.com/office/drawing/2014/main" id="{97474808-AD7A-4AF1-817C-CD55C059BB34}"/>
              </a:ext>
            </a:extLst>
          </p:cNvPr>
          <p:cNvSpPr>
            <a:spLocks xmlns:a="http://schemas.openxmlformats.org/drawingml/2006/main" noGrp="1"/>
          </p:cNvSpPr>
          <p:nvPr/>
        </p:nvSpPr>
        <p:spPr>
          <a:xfrm xmlns:a="http://schemas.openxmlformats.org/drawingml/2006/main">
            <a:off x="619125" y="57150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42C40"/>
                </a:solidFill>
              </a:defRPr>
            </a:defPPr>
            <a:lvl1pPr>
              <a:defRPr sz="1725" b="0">
                <a:solidFill>
                  <a:srgbClr val="142C40"/>
                </a:solidFill>
              </a:defRPr>
            </a:lvl1pPr>
            <a:lvl2pPr>
              <a:defRPr sz="1725" b="0">
                <a:solidFill>
                  <a:srgbClr val="142C40"/>
                </a:solidFill>
              </a:defRPr>
            </a:lvl2pPr>
            <a:lvl3pPr>
              <a:defRPr sz="1725" b="0">
                <a:solidFill>
                  <a:srgbClr val="142C40"/>
                </a:solidFill>
              </a:defRPr>
            </a:lvl3pPr>
            <a:lvl4pPr>
              <a:defRPr sz="1725" b="0">
                <a:solidFill>
                  <a:srgbClr val="142C40"/>
                </a:solidFill>
              </a:defRPr>
            </a:lvl4pPr>
            <a:lvl5pPr>
              <a:defRPr sz="1725" b="0">
                <a:solidFill>
                  <a:srgbClr val="142C40"/>
                </a:solidFill>
              </a:defRPr>
            </a:lvl5pPr>
            <a:lvl6pPr>
              <a:defRPr sz="1725" b="0">
                <a:solidFill>
                  <a:srgbClr val="142C40"/>
                </a:solidFill>
              </a:defRPr>
            </a:lvl6pPr>
            <a:lvl7pPr>
              <a:defRPr sz="1725" b="0">
                <a:solidFill>
                  <a:srgbClr val="142C40"/>
                </a:solidFill>
              </a:defRPr>
            </a:lvl7pPr>
            <a:lvl8pPr>
              <a:defRPr sz="1725" b="0">
                <a:solidFill>
                  <a:srgbClr val="142C40"/>
                </a:solidFill>
              </a:defRPr>
            </a:lvl8pPr>
            <a:lvl9pPr>
              <a:defRPr sz="1725" b="0">
                <a:solidFill>
                  <a:srgbClr val="142C40"/>
                </a:solidFill>
              </a:defRPr>
            </a:lvl9pPr>
          </a:lstStyle>
          <a:p xmlns:a="http://schemas.openxmlformats.org/drawingml/2006/main">
            <a:pPr>
              <a:buNone/>
              <a:defRPr sz="1725" b="0">
                <a:solidFill>
                  <a:srgbClr val="142C40"/>
                </a:solidFill>
              </a:defRPr>
            </a:pPr>
            <a:r>
              <a:rPr sz="1725" b="0">
                <a:solidFill>
                  <a:srgbClr val="142C40"/>
                </a:solidFill>
              </a:rPr>
              <a:t>Nhiễu mạnh: PSNR 21,61 dB (Gaussian) so với 19,78 dB (bilateral).</a:t>
            </a:r>
          </a:p>
        </p:txBody>
      </p:sp>
    </p:spTree>
    <p:extLst>
      <p:ext uri="{BB962C8B-B14F-4D97-AF65-F5344CB8AC3E}">
        <p14:creationId xmlns:p14="http://schemas.microsoft.com/office/powerpoint/2010/main" val="186606737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Hình chữ nhật 7">
            <a:extLst xmlns:a="http://schemas.openxmlformats.org/drawingml/2006/main">
              <a:ext uri="{FF2B5EF4-FFF2-40B4-BE49-F238E27FC236}">
                <a16:creationId xmlns:a16="http://schemas.microsoft.com/office/drawing/2014/main" id="{E97FDC6F-7027-4346-93C8-693C87E251D4}"/>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Khử nhiễu xung bằng bộ lọc trung vị</a:t>
            </a:r>
          </a:p>
        </p:txBody>
      </p:sp>
      <p:sp>
        <p:nvSpPr>
          <p:cNvPr id="2" name="Hình chữ nhật 1">
            <a:extLst xmlns:a="http://schemas.openxmlformats.org/drawingml/2006/main">
              <a:ext uri="{FF2B5EF4-FFF2-40B4-BE49-F238E27FC236}">
                <a16:creationId xmlns:a16="http://schemas.microsoft.com/office/drawing/2014/main" id="{4166B2FA-4F2B-49F2-A117-BDF122492145}"/>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Chương 6  Mục 6.4</a:t>
            </a:r>
          </a:p>
        </p:txBody>
      </p:sp>
      <p:sp>
        <p:nvSpPr>
          <p:cNvPr id="3" name="Hình chữ nhật 2">
            <a:extLst xmlns:a="http://schemas.openxmlformats.org/drawingml/2006/main">
              <a:ext uri="{FF2B5EF4-FFF2-40B4-BE49-F238E27FC236}">
                <a16:creationId xmlns:a16="http://schemas.microsoft.com/office/drawing/2014/main" id="{DD13B732-D797-4449-B0EE-0D3D1364FA5E}"/>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18</a:t>
            </a:r>
          </a:p>
        </p:txBody>
      </p:sp>
      <p:sp>
        <p:nvSpPr>
          <p:cNvPr id="4" name="Hình chữ nhật 3">
            <a:extLst xmlns:a="http://schemas.openxmlformats.org/drawingml/2006/main">
              <a:ext uri="{FF2B5EF4-FFF2-40B4-BE49-F238E27FC236}">
                <a16:creationId xmlns:a16="http://schemas.microsoft.com/office/drawing/2014/main" id="{C23297CA-DB41-4AC6-9B1B-20AD825D9AFF}"/>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pic>
        <p:nvPicPr>
          <p:cNvPr id="5" name="Hình ảnh 4">
            <a:extLst xmlns:a="http://schemas.openxmlformats.org/drawingml/2006/main">
              <a:ext uri="{FF2B5EF4-FFF2-40B4-BE49-F238E27FC236}">
                <a16:creationId xmlns:a16="http://schemas.microsoft.com/office/drawing/2014/main" id="{2CFDF14F-4A45-46C1-9A21-19089320409E}"/>
              </a:ext>
            </a:extLst>
          </p:cNvPr>
          <p:cNvPicPr>
            <a:picLocks xmlns:a="http://schemas.openxmlformats.org/drawingml/2006/main" noChangeAspect="1"/>
          </p:cNvPicPr>
          <p:nvPr/>
        </p:nvPicPr>
        <p:blipFill>
          <a:blip xmlns:r="http://schemas.openxmlformats.org/officeDocument/2006/relationships" xmlns:a="http://schemas.openxmlformats.org/drawingml/2006/main" r:embed="R7b7857720cc5406f"/>
          <a:stretch xmlns:a="http://schemas.openxmlformats.org/drawingml/2006/main"/>
        </p:blipFill>
        <p:spPr>
          <a:xfrm xmlns:a="http://schemas.openxmlformats.org/drawingml/2006/main">
            <a:off x="1940837" y="1828800"/>
            <a:ext cx="8262702" cy="3143250"/>
          </a:xfrm>
          <a:prstGeom xmlns:a="http://schemas.openxmlformats.org/drawingml/2006/main" prst="rect">
            <a:avLst/>
          </a:prstGeom>
        </p:spPr>
      </p:pic>
      <p:sp>
        <p:nvSpPr>
          <p:cNvPr id="6" name="Hình chữ nhật 5">
            <a:extLst xmlns:a="http://schemas.openxmlformats.org/drawingml/2006/main">
              <a:ext uri="{FF2B5EF4-FFF2-40B4-BE49-F238E27FC236}">
                <a16:creationId xmlns:a16="http://schemas.microsoft.com/office/drawing/2014/main" id="{94DE3C20-E866-4819-9642-A8A298372D3F}"/>
              </a:ext>
            </a:extLst>
          </p:cNvPr>
          <p:cNvSpPr>
            <a:spLocks xmlns:a="http://schemas.openxmlformats.org/drawingml/2006/main" noGrp="1"/>
          </p:cNvSpPr>
          <p:nvPr/>
        </p:nvSpPr>
        <p:spPr>
          <a:xfrm xmlns:a="http://schemas.openxmlformats.org/drawingml/2006/main">
            <a:off x="619125" y="51625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5676"/>
                </a:solidFill>
              </a:defRPr>
            </a:defPPr>
            <a:lvl1pPr>
              <a:defRPr sz="1875" b="1">
                <a:solidFill>
                  <a:srgbClr val="175676"/>
                </a:solidFill>
              </a:defRPr>
            </a:lvl1pPr>
            <a:lvl2pPr>
              <a:defRPr sz="1875" b="1">
                <a:solidFill>
                  <a:srgbClr val="175676"/>
                </a:solidFill>
              </a:defRPr>
            </a:lvl2pPr>
            <a:lvl3pPr>
              <a:defRPr sz="1875" b="1">
                <a:solidFill>
                  <a:srgbClr val="175676"/>
                </a:solidFill>
              </a:defRPr>
            </a:lvl3pPr>
            <a:lvl4pPr>
              <a:defRPr sz="1875" b="1">
                <a:solidFill>
                  <a:srgbClr val="175676"/>
                </a:solidFill>
              </a:defRPr>
            </a:lvl4pPr>
            <a:lvl5pPr>
              <a:defRPr sz="1875" b="1">
                <a:solidFill>
                  <a:srgbClr val="175676"/>
                </a:solidFill>
              </a:defRPr>
            </a:lvl5pPr>
            <a:lvl6pPr>
              <a:defRPr sz="1875" b="1">
                <a:solidFill>
                  <a:srgbClr val="175676"/>
                </a:solidFill>
              </a:defRPr>
            </a:lvl6pPr>
            <a:lvl7pPr>
              <a:defRPr sz="1875" b="1">
                <a:solidFill>
                  <a:srgbClr val="175676"/>
                </a:solidFill>
              </a:defRPr>
            </a:lvl7pPr>
            <a:lvl8pPr>
              <a:defRPr sz="1875" b="1">
                <a:solidFill>
                  <a:srgbClr val="175676"/>
                </a:solidFill>
              </a:defRPr>
            </a:lvl8pPr>
            <a:lvl9pPr>
              <a:defRPr sz="1875" b="1">
                <a:solidFill>
                  <a:srgbClr val="175676"/>
                </a:solidFill>
              </a:defRPr>
            </a:lvl9pPr>
          </a:lstStyle>
          <a:p xmlns:a="http://schemas.openxmlformats.org/drawingml/2006/main">
            <a:pPr>
              <a:buNone/>
              <a:defRPr sz="1875" b="1">
                <a:solidFill>
                  <a:srgbClr val="175676"/>
                </a:solidFill>
              </a:defRPr>
            </a:pPr>
            <a:r>
              <a:rPr sz="1875" b="1">
                <a:solidFill>
                  <a:srgbClr val="175676"/>
                </a:solidFill>
              </a:rPr>
              <a:t>Nhiễu xung mạnh: median đưa SSIM từ 0,5410 lên 0,9548.</a:t>
            </a:r>
          </a:p>
        </p:txBody>
      </p:sp>
      <p:sp>
        <p:nvSpPr>
          <p:cNvPr id="7" name="Hình chữ nhật 6">
            <a:extLst xmlns:a="http://schemas.openxmlformats.org/drawingml/2006/main">
              <a:ext uri="{FF2B5EF4-FFF2-40B4-BE49-F238E27FC236}">
                <a16:creationId xmlns:a16="http://schemas.microsoft.com/office/drawing/2014/main" id="{EE1CD7CF-4FB3-49F6-92E4-A741DEB63262}"/>
              </a:ext>
            </a:extLst>
          </p:cNvPr>
          <p:cNvSpPr>
            <a:spLocks xmlns:a="http://schemas.openxmlformats.org/drawingml/2006/main" noGrp="1"/>
          </p:cNvSpPr>
          <p:nvPr/>
        </p:nvSpPr>
        <p:spPr>
          <a:xfrm xmlns:a="http://schemas.openxmlformats.org/drawingml/2006/main">
            <a:off x="619125" y="57150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42C40"/>
                </a:solidFill>
              </a:defRPr>
            </a:defPPr>
            <a:lvl1pPr>
              <a:defRPr sz="1725" b="0">
                <a:solidFill>
                  <a:srgbClr val="142C40"/>
                </a:solidFill>
              </a:defRPr>
            </a:lvl1pPr>
            <a:lvl2pPr>
              <a:defRPr sz="1725" b="0">
                <a:solidFill>
                  <a:srgbClr val="142C40"/>
                </a:solidFill>
              </a:defRPr>
            </a:lvl2pPr>
            <a:lvl3pPr>
              <a:defRPr sz="1725" b="0">
                <a:solidFill>
                  <a:srgbClr val="142C40"/>
                </a:solidFill>
              </a:defRPr>
            </a:lvl3pPr>
            <a:lvl4pPr>
              <a:defRPr sz="1725" b="0">
                <a:solidFill>
                  <a:srgbClr val="142C40"/>
                </a:solidFill>
              </a:defRPr>
            </a:lvl4pPr>
            <a:lvl5pPr>
              <a:defRPr sz="1725" b="0">
                <a:solidFill>
                  <a:srgbClr val="142C40"/>
                </a:solidFill>
              </a:defRPr>
            </a:lvl5pPr>
            <a:lvl6pPr>
              <a:defRPr sz="1725" b="0">
                <a:solidFill>
                  <a:srgbClr val="142C40"/>
                </a:solidFill>
              </a:defRPr>
            </a:lvl6pPr>
            <a:lvl7pPr>
              <a:defRPr sz="1725" b="0">
                <a:solidFill>
                  <a:srgbClr val="142C40"/>
                </a:solidFill>
              </a:defRPr>
            </a:lvl7pPr>
            <a:lvl8pPr>
              <a:defRPr sz="1725" b="0">
                <a:solidFill>
                  <a:srgbClr val="142C40"/>
                </a:solidFill>
              </a:defRPr>
            </a:lvl8pPr>
            <a:lvl9pPr>
              <a:defRPr sz="1725" b="0">
                <a:solidFill>
                  <a:srgbClr val="142C40"/>
                </a:solidFill>
              </a:defRPr>
            </a:lvl9pPr>
          </a:lstStyle>
          <a:p xmlns:a="http://schemas.openxmlformats.org/drawingml/2006/main">
            <a:pPr>
              <a:buNone/>
              <a:defRPr sz="1725" b="0">
                <a:solidFill>
                  <a:srgbClr val="142C40"/>
                </a:solidFill>
              </a:defRPr>
            </a:pPr>
            <a:r>
              <a:rPr sz="1725" b="0">
                <a:solidFill>
                  <a:srgbClr val="142C40"/>
                </a:solidFill>
              </a:rPr>
              <a:t>Median có PSNR/SSIM cao hơn Gaussian ở cả ba mức đã thử.</a:t>
            </a:r>
          </a:p>
        </p:txBody>
      </p:sp>
    </p:spTree>
    <p:extLst>
      <p:ext uri="{BB962C8B-B14F-4D97-AF65-F5344CB8AC3E}">
        <p14:creationId xmlns:p14="http://schemas.microsoft.com/office/powerpoint/2010/main" val="34163759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Hình chữ nhật 7">
            <a:extLst xmlns:a="http://schemas.openxmlformats.org/drawingml/2006/main">
              <a:ext uri="{FF2B5EF4-FFF2-40B4-BE49-F238E27FC236}">
                <a16:creationId xmlns:a16="http://schemas.microsoft.com/office/drawing/2014/main" id="{F18383E5-C67B-41C2-94FB-1B7722068D1E}"/>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Làm sắc nét sau mờ Gaussian</a:t>
            </a:r>
          </a:p>
        </p:txBody>
      </p:sp>
      <p:sp>
        <p:nvSpPr>
          <p:cNvPr id="2" name="Hình chữ nhật 1">
            <a:extLst xmlns:a="http://schemas.openxmlformats.org/drawingml/2006/main">
              <a:ext uri="{FF2B5EF4-FFF2-40B4-BE49-F238E27FC236}">
                <a16:creationId xmlns:a16="http://schemas.microsoft.com/office/drawing/2014/main" id="{EBF70D48-BAB5-4488-BA9D-7C178B8CBD68}"/>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Chương 6  Mục 6.5</a:t>
            </a:r>
          </a:p>
        </p:txBody>
      </p:sp>
      <p:sp>
        <p:nvSpPr>
          <p:cNvPr id="3" name="Hình chữ nhật 2">
            <a:extLst xmlns:a="http://schemas.openxmlformats.org/drawingml/2006/main">
              <a:ext uri="{FF2B5EF4-FFF2-40B4-BE49-F238E27FC236}">
                <a16:creationId xmlns:a16="http://schemas.microsoft.com/office/drawing/2014/main" id="{69FD3146-6257-4DDF-A85E-0DC3F2AFA08B}"/>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19</a:t>
            </a:r>
          </a:p>
        </p:txBody>
      </p:sp>
      <p:sp>
        <p:nvSpPr>
          <p:cNvPr id="4" name="Hình chữ nhật 3">
            <a:extLst xmlns:a="http://schemas.openxmlformats.org/drawingml/2006/main">
              <a:ext uri="{FF2B5EF4-FFF2-40B4-BE49-F238E27FC236}">
                <a16:creationId xmlns:a16="http://schemas.microsoft.com/office/drawing/2014/main" id="{9A71052B-B248-49D1-83D9-52A8D0752977}"/>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pic>
        <p:nvPicPr>
          <p:cNvPr id="5" name="Hình ảnh 4">
            <a:extLst xmlns:a="http://schemas.openxmlformats.org/drawingml/2006/main">
              <a:ext uri="{FF2B5EF4-FFF2-40B4-BE49-F238E27FC236}">
                <a16:creationId xmlns:a16="http://schemas.microsoft.com/office/drawing/2014/main" id="{180C825E-D819-41A5-92C2-D5B890B00C8F}"/>
              </a:ext>
            </a:extLst>
          </p:cNvPr>
          <p:cNvPicPr>
            <a:picLocks xmlns:a="http://schemas.openxmlformats.org/drawingml/2006/main" noChangeAspect="1"/>
          </p:cNvPicPr>
          <p:nvPr/>
        </p:nvPicPr>
        <p:blipFill>
          <a:blip xmlns:r="http://schemas.openxmlformats.org/officeDocument/2006/relationships" xmlns:a="http://schemas.openxmlformats.org/drawingml/2006/main" r:embed="R183714a4184f4362"/>
          <a:stretch xmlns:a="http://schemas.openxmlformats.org/drawingml/2006/main"/>
        </p:blipFill>
        <p:spPr>
          <a:xfrm xmlns:a="http://schemas.openxmlformats.org/drawingml/2006/main">
            <a:off x="1940837" y="1828800"/>
            <a:ext cx="8262702" cy="3143250"/>
          </a:xfrm>
          <a:prstGeom xmlns:a="http://schemas.openxmlformats.org/drawingml/2006/main" prst="rect">
            <a:avLst/>
          </a:prstGeom>
        </p:spPr>
      </p:pic>
      <p:sp>
        <p:nvSpPr>
          <p:cNvPr id="6" name="Hình chữ nhật 5">
            <a:extLst xmlns:a="http://schemas.openxmlformats.org/drawingml/2006/main">
              <a:ext uri="{FF2B5EF4-FFF2-40B4-BE49-F238E27FC236}">
                <a16:creationId xmlns:a16="http://schemas.microsoft.com/office/drawing/2014/main" id="{29BD04CC-69C7-40C5-AF5E-93FCFF70676F}"/>
              </a:ext>
            </a:extLst>
          </p:cNvPr>
          <p:cNvSpPr>
            <a:spLocks xmlns:a="http://schemas.openxmlformats.org/drawingml/2006/main" noGrp="1"/>
          </p:cNvSpPr>
          <p:nvPr/>
        </p:nvSpPr>
        <p:spPr>
          <a:xfrm xmlns:a="http://schemas.openxmlformats.org/drawingml/2006/main">
            <a:off x="619125" y="51625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5676"/>
                </a:solidFill>
              </a:defRPr>
            </a:defPPr>
            <a:lvl1pPr>
              <a:defRPr sz="1875" b="1">
                <a:solidFill>
                  <a:srgbClr val="175676"/>
                </a:solidFill>
              </a:defRPr>
            </a:lvl1pPr>
            <a:lvl2pPr>
              <a:defRPr sz="1875" b="1">
                <a:solidFill>
                  <a:srgbClr val="175676"/>
                </a:solidFill>
              </a:defRPr>
            </a:lvl2pPr>
            <a:lvl3pPr>
              <a:defRPr sz="1875" b="1">
                <a:solidFill>
                  <a:srgbClr val="175676"/>
                </a:solidFill>
              </a:defRPr>
            </a:lvl3pPr>
            <a:lvl4pPr>
              <a:defRPr sz="1875" b="1">
                <a:solidFill>
                  <a:srgbClr val="175676"/>
                </a:solidFill>
              </a:defRPr>
            </a:lvl4pPr>
            <a:lvl5pPr>
              <a:defRPr sz="1875" b="1">
                <a:solidFill>
                  <a:srgbClr val="175676"/>
                </a:solidFill>
              </a:defRPr>
            </a:lvl5pPr>
            <a:lvl6pPr>
              <a:defRPr sz="1875" b="1">
                <a:solidFill>
                  <a:srgbClr val="175676"/>
                </a:solidFill>
              </a:defRPr>
            </a:lvl6pPr>
            <a:lvl7pPr>
              <a:defRPr sz="1875" b="1">
                <a:solidFill>
                  <a:srgbClr val="175676"/>
                </a:solidFill>
              </a:defRPr>
            </a:lvl7pPr>
            <a:lvl8pPr>
              <a:defRPr sz="1875" b="1">
                <a:solidFill>
                  <a:srgbClr val="175676"/>
                </a:solidFill>
              </a:defRPr>
            </a:lvl8pPr>
            <a:lvl9pPr>
              <a:defRPr sz="1875" b="1">
                <a:solidFill>
                  <a:srgbClr val="175676"/>
                </a:solidFill>
              </a:defRPr>
            </a:lvl9pPr>
          </a:lstStyle>
          <a:p xmlns:a="http://schemas.openxmlformats.org/drawingml/2006/main">
            <a:pPr>
              <a:buNone/>
              <a:defRPr sz="1875" b="1">
                <a:solidFill>
                  <a:srgbClr val="175676"/>
                </a:solidFill>
              </a:defRPr>
            </a:pPr>
            <a:r>
              <a:rPr sz="1875" b="1">
                <a:solidFill>
                  <a:srgbClr val="175676"/>
                </a:solidFill>
              </a:rPr>
              <a:t>Mờ mạnh: unsharp tăng PSNR 22,31 → 22,86 dB; chưa về ảnh sạch.</a:t>
            </a:r>
          </a:p>
        </p:txBody>
      </p:sp>
      <p:sp>
        <p:nvSpPr>
          <p:cNvPr id="7" name="Hình chữ nhật 6">
            <a:extLst xmlns:a="http://schemas.openxmlformats.org/drawingml/2006/main">
              <a:ext uri="{FF2B5EF4-FFF2-40B4-BE49-F238E27FC236}">
                <a16:creationId xmlns:a16="http://schemas.microsoft.com/office/drawing/2014/main" id="{240C0964-F90F-4F11-B825-ABDCEBF0E507}"/>
              </a:ext>
            </a:extLst>
          </p:cNvPr>
          <p:cNvSpPr>
            <a:spLocks xmlns:a="http://schemas.openxmlformats.org/drawingml/2006/main" noGrp="1"/>
          </p:cNvSpPr>
          <p:nvPr/>
        </p:nvSpPr>
        <p:spPr>
          <a:xfrm xmlns:a="http://schemas.openxmlformats.org/drawingml/2006/main">
            <a:off x="619125" y="57150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42C40"/>
                </a:solidFill>
              </a:defRPr>
            </a:defPPr>
            <a:lvl1pPr>
              <a:defRPr sz="1725" b="0">
                <a:solidFill>
                  <a:srgbClr val="142C40"/>
                </a:solidFill>
              </a:defRPr>
            </a:lvl1pPr>
            <a:lvl2pPr>
              <a:defRPr sz="1725" b="0">
                <a:solidFill>
                  <a:srgbClr val="142C40"/>
                </a:solidFill>
              </a:defRPr>
            </a:lvl2pPr>
            <a:lvl3pPr>
              <a:defRPr sz="1725" b="0">
                <a:solidFill>
                  <a:srgbClr val="142C40"/>
                </a:solidFill>
              </a:defRPr>
            </a:lvl3pPr>
            <a:lvl4pPr>
              <a:defRPr sz="1725" b="0">
                <a:solidFill>
                  <a:srgbClr val="142C40"/>
                </a:solidFill>
              </a:defRPr>
            </a:lvl4pPr>
            <a:lvl5pPr>
              <a:defRPr sz="1725" b="0">
                <a:solidFill>
                  <a:srgbClr val="142C40"/>
                </a:solidFill>
              </a:defRPr>
            </a:lvl5pPr>
            <a:lvl6pPr>
              <a:defRPr sz="1725" b="0">
                <a:solidFill>
                  <a:srgbClr val="142C40"/>
                </a:solidFill>
              </a:defRPr>
            </a:lvl6pPr>
            <a:lvl7pPr>
              <a:defRPr sz="1725" b="0">
                <a:solidFill>
                  <a:srgbClr val="142C40"/>
                </a:solidFill>
              </a:defRPr>
            </a:lvl7pPr>
            <a:lvl8pPr>
              <a:defRPr sz="1725" b="0">
                <a:solidFill>
                  <a:srgbClr val="142C40"/>
                </a:solidFill>
              </a:defRPr>
            </a:lvl8pPr>
            <a:lvl9pPr>
              <a:defRPr sz="1725" b="0">
                <a:solidFill>
                  <a:srgbClr val="142C40"/>
                </a:solidFill>
              </a:defRPr>
            </a:lvl9pPr>
          </a:lstStyle>
          <a:p xmlns:a="http://schemas.openxmlformats.org/drawingml/2006/main">
            <a:pPr>
              <a:buNone/>
              <a:defRPr sz="1725" b="0">
                <a:solidFill>
                  <a:srgbClr val="142C40"/>
                </a:solidFill>
              </a:defRPr>
            </a:pPr>
            <a:r>
              <a:rPr sz="1725" b="0">
                <a:solidFill>
                  <a:srgbClr val="142C40"/>
                </a:solidFill>
              </a:rPr>
              <a:t>Làm sắc nét chỉ cải thiện một phần; không khôi phục đủ thông tin đã mất.</a:t>
            </a:r>
          </a:p>
        </p:txBody>
      </p:sp>
    </p:spTree>
    <p:extLst>
      <p:ext uri="{BB962C8B-B14F-4D97-AF65-F5344CB8AC3E}">
        <p14:creationId xmlns:p14="http://schemas.microsoft.com/office/powerpoint/2010/main" val="154391508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Hình chữ nhật 7">
            <a:extLst xmlns:a="http://schemas.openxmlformats.org/drawingml/2006/main">
              <a:ext uri="{FF2B5EF4-FFF2-40B4-BE49-F238E27FC236}">
                <a16:creationId xmlns:a16="http://schemas.microsoft.com/office/drawing/2014/main" id="{2B0410EA-097A-4631-B58C-28A9FA866527}"/>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Ám màu và sai khác sau hiệu chỉnh</a:t>
            </a:r>
          </a:p>
        </p:txBody>
      </p:sp>
      <p:sp>
        <p:nvSpPr>
          <p:cNvPr id="2" name="Hình chữ nhật 1">
            <a:extLst xmlns:a="http://schemas.openxmlformats.org/drawingml/2006/main">
              <a:ext uri="{FF2B5EF4-FFF2-40B4-BE49-F238E27FC236}">
                <a16:creationId xmlns:a16="http://schemas.microsoft.com/office/drawing/2014/main" id="{17B3E901-778B-40B3-A340-FA369643A0A4}"/>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Chương 6  Mục 6.6 và 6.7</a:t>
            </a:r>
          </a:p>
        </p:txBody>
      </p:sp>
      <p:sp>
        <p:nvSpPr>
          <p:cNvPr id="3" name="Hình chữ nhật 2">
            <a:extLst xmlns:a="http://schemas.openxmlformats.org/drawingml/2006/main">
              <a:ext uri="{FF2B5EF4-FFF2-40B4-BE49-F238E27FC236}">
                <a16:creationId xmlns:a16="http://schemas.microsoft.com/office/drawing/2014/main" id="{36E172B7-9527-433E-931C-A7AEA25CD8A6}"/>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20</a:t>
            </a:r>
          </a:p>
        </p:txBody>
      </p:sp>
      <p:sp>
        <p:nvSpPr>
          <p:cNvPr id="4" name="Hình chữ nhật 3">
            <a:extLst xmlns:a="http://schemas.openxmlformats.org/drawingml/2006/main">
              <a:ext uri="{FF2B5EF4-FFF2-40B4-BE49-F238E27FC236}">
                <a16:creationId xmlns:a16="http://schemas.microsoft.com/office/drawing/2014/main" id="{374FA57F-86F7-4DF9-A33B-72A28146CF04}"/>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pic>
        <p:nvPicPr>
          <p:cNvPr id="5" name="Hình ảnh 4">
            <a:extLst xmlns:a="http://schemas.openxmlformats.org/drawingml/2006/main">
              <a:ext uri="{FF2B5EF4-FFF2-40B4-BE49-F238E27FC236}">
                <a16:creationId xmlns:a16="http://schemas.microsoft.com/office/drawing/2014/main" id="{F2A7281B-3A6D-4C84-B5BD-EA18E619A7D3}"/>
              </a:ext>
            </a:extLst>
          </p:cNvPr>
          <p:cNvPicPr>
            <a:picLocks xmlns:a="http://schemas.openxmlformats.org/drawingml/2006/main" noChangeAspect="1"/>
          </p:cNvPicPr>
          <p:nvPr/>
        </p:nvPicPr>
        <p:blipFill>
          <a:blip xmlns:r="http://schemas.openxmlformats.org/officeDocument/2006/relationships" xmlns:a="http://schemas.openxmlformats.org/drawingml/2006/main" r:embed="Rfb5fe989391348fa"/>
          <a:stretch xmlns:a="http://schemas.openxmlformats.org/drawingml/2006/main"/>
        </p:blipFill>
        <p:spPr>
          <a:xfrm xmlns:a="http://schemas.openxmlformats.org/drawingml/2006/main">
            <a:off x="1938243" y="1828800"/>
            <a:ext cx="8267889" cy="3143250"/>
          </a:xfrm>
          <a:prstGeom xmlns:a="http://schemas.openxmlformats.org/drawingml/2006/main" prst="rect">
            <a:avLst/>
          </a:prstGeom>
        </p:spPr>
      </p:pic>
      <p:sp>
        <p:nvSpPr>
          <p:cNvPr id="6" name="Hình chữ nhật 5">
            <a:extLst xmlns:a="http://schemas.openxmlformats.org/drawingml/2006/main">
              <a:ext uri="{FF2B5EF4-FFF2-40B4-BE49-F238E27FC236}">
                <a16:creationId xmlns:a16="http://schemas.microsoft.com/office/drawing/2014/main" id="{851CDFB6-1524-4D08-B249-C0D4EEA471A9}"/>
              </a:ext>
            </a:extLst>
          </p:cNvPr>
          <p:cNvSpPr>
            <a:spLocks xmlns:a="http://schemas.openxmlformats.org/drawingml/2006/main" noGrp="1"/>
          </p:cNvSpPr>
          <p:nvPr/>
        </p:nvSpPr>
        <p:spPr>
          <a:xfrm xmlns:a="http://schemas.openxmlformats.org/drawingml/2006/main">
            <a:off x="619125" y="51625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5676"/>
                </a:solidFill>
              </a:defRPr>
            </a:defPPr>
            <a:lvl1pPr>
              <a:defRPr sz="1875" b="1">
                <a:solidFill>
                  <a:srgbClr val="175676"/>
                </a:solidFill>
              </a:defRPr>
            </a:lvl1pPr>
            <a:lvl2pPr>
              <a:defRPr sz="1875" b="1">
                <a:solidFill>
                  <a:srgbClr val="175676"/>
                </a:solidFill>
              </a:defRPr>
            </a:lvl2pPr>
            <a:lvl3pPr>
              <a:defRPr sz="1875" b="1">
                <a:solidFill>
                  <a:srgbClr val="175676"/>
                </a:solidFill>
              </a:defRPr>
            </a:lvl3pPr>
            <a:lvl4pPr>
              <a:defRPr sz="1875" b="1">
                <a:solidFill>
                  <a:srgbClr val="175676"/>
                </a:solidFill>
              </a:defRPr>
            </a:lvl4pPr>
            <a:lvl5pPr>
              <a:defRPr sz="1875" b="1">
                <a:solidFill>
                  <a:srgbClr val="175676"/>
                </a:solidFill>
              </a:defRPr>
            </a:lvl5pPr>
            <a:lvl6pPr>
              <a:defRPr sz="1875" b="1">
                <a:solidFill>
                  <a:srgbClr val="175676"/>
                </a:solidFill>
              </a:defRPr>
            </a:lvl6pPr>
            <a:lvl7pPr>
              <a:defRPr sz="1875" b="1">
                <a:solidFill>
                  <a:srgbClr val="175676"/>
                </a:solidFill>
              </a:defRPr>
            </a:lvl7pPr>
            <a:lvl8pPr>
              <a:defRPr sz="1875" b="1">
                <a:solidFill>
                  <a:srgbClr val="175676"/>
                </a:solidFill>
              </a:defRPr>
            </a:lvl8pPr>
            <a:lvl9pPr>
              <a:defRPr sz="1875" b="1">
                <a:solidFill>
                  <a:srgbClr val="175676"/>
                </a:solidFill>
              </a:defRPr>
            </a:lvl9pPr>
          </a:lstStyle>
          <a:p xmlns:a="http://schemas.openxmlformats.org/drawingml/2006/main">
            <a:pPr>
              <a:buNone/>
              <a:defRPr sz="1875" b="1">
                <a:solidFill>
                  <a:srgbClr val="175676"/>
                </a:solidFill>
              </a:defRPr>
            </a:pPr>
            <a:r>
              <a:rPr sz="1875" b="1">
                <a:solidFill>
                  <a:srgbClr val="175676"/>
                </a:solidFill>
              </a:rPr>
              <a:t>Ở ám màu nhẹ, cả ba cách xử lý đều giảm PSNR và SSIM.</a:t>
            </a:r>
          </a:p>
        </p:txBody>
      </p:sp>
      <p:sp>
        <p:nvSpPr>
          <p:cNvPr id="7" name="Hình chữ nhật 6">
            <a:extLst xmlns:a="http://schemas.openxmlformats.org/drawingml/2006/main">
              <a:ext uri="{FF2B5EF4-FFF2-40B4-BE49-F238E27FC236}">
                <a16:creationId xmlns:a16="http://schemas.microsoft.com/office/drawing/2014/main" id="{8D7CFE46-41AE-41F7-84D0-796E27059B8E}"/>
              </a:ext>
            </a:extLst>
          </p:cNvPr>
          <p:cNvSpPr>
            <a:spLocks xmlns:a="http://schemas.openxmlformats.org/drawingml/2006/main" noGrp="1"/>
          </p:cNvSpPr>
          <p:nvPr/>
        </p:nvSpPr>
        <p:spPr>
          <a:xfrm xmlns:a="http://schemas.openxmlformats.org/drawingml/2006/main">
            <a:off x="619125" y="57150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42C40"/>
                </a:solidFill>
              </a:defRPr>
            </a:defPPr>
            <a:lvl1pPr>
              <a:defRPr sz="1725" b="0">
                <a:solidFill>
                  <a:srgbClr val="142C40"/>
                </a:solidFill>
              </a:defRPr>
            </a:lvl1pPr>
            <a:lvl2pPr>
              <a:defRPr sz="1725" b="0">
                <a:solidFill>
                  <a:srgbClr val="142C40"/>
                </a:solidFill>
              </a:defRPr>
            </a:lvl2pPr>
            <a:lvl3pPr>
              <a:defRPr sz="1725" b="0">
                <a:solidFill>
                  <a:srgbClr val="142C40"/>
                </a:solidFill>
              </a:defRPr>
            </a:lvl3pPr>
            <a:lvl4pPr>
              <a:defRPr sz="1725" b="0">
                <a:solidFill>
                  <a:srgbClr val="142C40"/>
                </a:solidFill>
              </a:defRPr>
            </a:lvl4pPr>
            <a:lvl5pPr>
              <a:defRPr sz="1725" b="0">
                <a:solidFill>
                  <a:srgbClr val="142C40"/>
                </a:solidFill>
              </a:defRPr>
            </a:lvl5pPr>
            <a:lvl6pPr>
              <a:defRPr sz="1725" b="0">
                <a:solidFill>
                  <a:srgbClr val="142C40"/>
                </a:solidFill>
              </a:defRPr>
            </a:lvl6pPr>
            <a:lvl7pPr>
              <a:defRPr sz="1725" b="0">
                <a:solidFill>
                  <a:srgbClr val="142C40"/>
                </a:solidFill>
              </a:defRPr>
            </a:lvl7pPr>
            <a:lvl8pPr>
              <a:defRPr sz="1725" b="0">
                <a:solidFill>
                  <a:srgbClr val="142C40"/>
                </a:solidFill>
              </a:defRPr>
            </a:lvl8pPr>
            <a:lvl9pPr>
              <a:defRPr sz="1725" b="0">
                <a:solidFill>
                  <a:srgbClr val="142C40"/>
                </a:solidFill>
              </a:defRPr>
            </a:lvl9pPr>
          </a:lstStyle>
          <a:p xmlns:a="http://schemas.openxmlformats.org/drawingml/2006/main">
            <a:pPr>
              <a:buNone/>
              <a:defRPr sz="1725" b="0">
                <a:solidFill>
                  <a:srgbClr val="142C40"/>
                </a:solidFill>
              </a:defRPr>
            </a:pPr>
            <a:r>
              <a:rPr sz="1725" b="0">
                <a:solidFill>
                  <a:srgbClr val="142C40"/>
                </a:solidFill>
              </a:rPr>
              <a:t>ΔE nhẹ: 1,73 → 9,56 (RGB); 4,26 (HSV); 11,01 (Lab).</a:t>
            </a:r>
          </a:p>
        </p:txBody>
      </p:sp>
    </p:spTree>
    <p:extLst>
      <p:ext uri="{BB962C8B-B14F-4D97-AF65-F5344CB8AC3E}">
        <p14:creationId xmlns:p14="http://schemas.microsoft.com/office/powerpoint/2010/main" val="30262494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Hình chữ nhật 6">
            <a:extLst xmlns:a="http://schemas.openxmlformats.org/drawingml/2006/main">
              <a:ext uri="{FF2B5EF4-FFF2-40B4-BE49-F238E27FC236}">
                <a16:creationId xmlns:a16="http://schemas.microsoft.com/office/drawing/2014/main" id="{CD8E3590-90F5-4CAA-9CE9-2DA545A64209}"/>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Tác động xử lý ảnh đến nhận diện</a:t>
            </a:r>
          </a:p>
        </p:txBody>
      </p:sp>
      <p:sp>
        <p:nvSpPr>
          <p:cNvPr id="2" name="Hình chữ nhật 1">
            <a:extLst xmlns:a="http://schemas.openxmlformats.org/drawingml/2006/main">
              <a:ext uri="{FF2B5EF4-FFF2-40B4-BE49-F238E27FC236}">
                <a16:creationId xmlns:a16="http://schemas.microsoft.com/office/drawing/2014/main" id="{5888CEF8-7E8B-40A8-ACBA-024F6B66B30B}"/>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Chương 7  MobileNetV2 cố định</a:t>
            </a:r>
          </a:p>
        </p:txBody>
      </p:sp>
      <p:sp>
        <p:nvSpPr>
          <p:cNvPr id="3" name="Hình chữ nhật 2">
            <a:extLst xmlns:a="http://schemas.openxmlformats.org/drawingml/2006/main">
              <a:ext uri="{FF2B5EF4-FFF2-40B4-BE49-F238E27FC236}">
                <a16:creationId xmlns:a16="http://schemas.microsoft.com/office/drawing/2014/main" id="{7C8EA21F-EA24-419C-B47D-E83E2770C122}"/>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21</a:t>
            </a:r>
          </a:p>
        </p:txBody>
      </p:sp>
      <p:sp>
        <p:nvSpPr>
          <p:cNvPr id="4" name="Hình chữ nhật 3">
            <a:extLst xmlns:a="http://schemas.openxmlformats.org/drawingml/2006/main">
              <a:ext uri="{FF2B5EF4-FFF2-40B4-BE49-F238E27FC236}">
                <a16:creationId xmlns:a16="http://schemas.microsoft.com/office/drawing/2014/main" id="{B3D32AC6-1F80-4459-B85F-74742DBE8FD8}"/>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graphicFrame>
        <p:nvGraphicFramePr>
          <p:cNvPr id="5" name="Chart">
            <a:extLst xmlns:a="http://schemas.openxmlformats.org/drawingml/2006/main">
              <a:ext uri="{FF2B5EF4-FFF2-40B4-BE49-F238E27FC236}">
                <a16:creationId xmlns:a16="http://schemas.microsoft.com/office/drawing/2014/main" id="{E5598520-A2E1-43D1-90D5-397EC9B44A36}"/>
              </a:ext>
            </a:extLst>
          </p:cNvPr>
          <p:cNvGraphicFramePr/>
          <p:nvPr/>
        </p:nvGraphicFramePr>
        <p:xfrm>
          <a:off xmlns:a="http://schemas.openxmlformats.org/drawingml/2006/main" x="619125" y="2095500"/>
          <a:ext xmlns:a="http://schemas.openxmlformats.org/drawingml/2006/main" cx="10953750" cy="3238500"/>
        </p:xfrm>
        <a:graphic xmlns:a="http://schemas.openxmlformats.org/drawingml/2006/main">
          <a:graphicData uri="http://schemas.openxmlformats.org/drawingml/2006/chart">
            <c:chart xmlns:r="http://schemas.openxmlformats.org/officeDocument/2006/relationships" xmlns:c="http://schemas.openxmlformats.org/drawingml/2006/chart" r:id="R9950423a7f5f4585"/>
          </a:graphicData>
        </a:graphic>
      </p:graphicFrame>
      <p:sp>
        <p:nvSpPr>
          <p:cNvPr id="6" name="Hình chữ nhật 5">
            <a:extLst xmlns:a="http://schemas.openxmlformats.org/drawingml/2006/main">
              <a:ext uri="{FF2B5EF4-FFF2-40B4-BE49-F238E27FC236}">
                <a16:creationId xmlns:a16="http://schemas.microsoft.com/office/drawing/2014/main" id="{E430EEFD-7AB2-4CE1-AA2E-EA249C699103}"/>
              </a:ext>
            </a:extLst>
          </p:cNvPr>
          <p:cNvSpPr>
            <a:spLocks xmlns:a="http://schemas.openxmlformats.org/drawingml/2006/main" noGrp="1"/>
          </p:cNvSpPr>
          <p:nvPr/>
        </p:nvSpPr>
        <p:spPr>
          <a:xfrm xmlns:a="http://schemas.openxmlformats.org/drawingml/2006/main">
            <a:off x="619125" y="56197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46C64"/>
                </a:solidFill>
              </a:defRPr>
            </a:defPPr>
            <a:lvl1pPr>
              <a:defRPr sz="1950" b="0">
                <a:solidFill>
                  <a:srgbClr val="146C64"/>
                </a:solidFill>
              </a:defRPr>
            </a:lvl1pPr>
            <a:lvl2pPr>
              <a:defRPr sz="1950" b="0">
                <a:solidFill>
                  <a:srgbClr val="146C64"/>
                </a:solidFill>
              </a:defRPr>
            </a:lvl2pPr>
            <a:lvl3pPr>
              <a:defRPr sz="1950" b="0">
                <a:solidFill>
                  <a:srgbClr val="146C64"/>
                </a:solidFill>
              </a:defRPr>
            </a:lvl3pPr>
            <a:lvl4pPr>
              <a:defRPr sz="1950" b="0">
                <a:solidFill>
                  <a:srgbClr val="146C64"/>
                </a:solidFill>
              </a:defRPr>
            </a:lvl4pPr>
            <a:lvl5pPr>
              <a:defRPr sz="1950" b="0">
                <a:solidFill>
                  <a:srgbClr val="146C64"/>
                </a:solidFill>
              </a:defRPr>
            </a:lvl5pPr>
            <a:lvl6pPr>
              <a:defRPr sz="1950" b="0">
                <a:solidFill>
                  <a:srgbClr val="146C64"/>
                </a:solidFill>
              </a:defRPr>
            </a:lvl6pPr>
            <a:lvl7pPr>
              <a:defRPr sz="1950" b="0">
                <a:solidFill>
                  <a:srgbClr val="146C64"/>
                </a:solidFill>
              </a:defRPr>
            </a:lvl7pPr>
            <a:lvl8pPr>
              <a:defRPr sz="1950" b="0">
                <a:solidFill>
                  <a:srgbClr val="146C64"/>
                </a:solidFill>
              </a:defRPr>
            </a:lvl8pPr>
            <a:lvl9pPr>
              <a:defRPr sz="1950" b="0">
                <a:solidFill>
                  <a:srgbClr val="146C64"/>
                </a:solidFill>
              </a:defRPr>
            </a:lvl9pPr>
          </a:lstStyle>
          <a:p xmlns:a="http://schemas.openxmlformats.org/drawingml/2006/main">
            <a:pPr>
              <a:buNone/>
              <a:defRPr sz="1950" b="0">
                <a:solidFill>
                  <a:srgbClr val="146C64"/>
                </a:solidFill>
              </a:defRPr>
            </a:pPr>
            <a:r>
              <a:rPr sz="1950" b="0">
                <a:solidFill>
                  <a:srgbClr val="146C64"/>
                </a:solidFill>
              </a:rPr>
              <a:t>Clean F1 = 0,9020; median ở nhiễu xung mạnh tăng 20,07 điểm phần trăm.</a:t>
            </a:r>
          </a:p>
        </p:txBody>
      </p:sp>
    </p:spTree>
    <p:extLst>
      <p:ext uri="{BB962C8B-B14F-4D97-AF65-F5344CB8AC3E}">
        <p14:creationId xmlns:p14="http://schemas.microsoft.com/office/powerpoint/2010/main" val="137423187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Hình chữ nhật 9">
            <a:extLst xmlns:a="http://schemas.openxmlformats.org/drawingml/2006/main">
              <a:ext uri="{FF2B5EF4-FFF2-40B4-BE49-F238E27FC236}">
                <a16:creationId xmlns:a16="http://schemas.microsoft.com/office/drawing/2014/main" id="{8F17A1FA-5B4A-4BE4-9F30-7CF2641B5B1A}"/>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SSIM tăng không bảo đảm nhận diện tăng</a:t>
            </a:r>
          </a:p>
        </p:txBody>
      </p:sp>
      <p:sp>
        <p:nvSpPr>
          <p:cNvPr id="2" name="Hình chữ nhật 1">
            <a:extLst xmlns:a="http://schemas.openxmlformats.org/drawingml/2006/main">
              <a:ext uri="{FF2B5EF4-FFF2-40B4-BE49-F238E27FC236}">
                <a16:creationId xmlns:a16="http://schemas.microsoft.com/office/drawing/2014/main" id="{5CE018E0-67F2-4539-B9C8-BEC38B64AB3F}"/>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Chương 8  Phân tích và thảo luận</a:t>
            </a:r>
          </a:p>
        </p:txBody>
      </p:sp>
      <p:sp>
        <p:nvSpPr>
          <p:cNvPr id="3" name="Hình chữ nhật 2">
            <a:extLst xmlns:a="http://schemas.openxmlformats.org/drawingml/2006/main">
              <a:ext uri="{FF2B5EF4-FFF2-40B4-BE49-F238E27FC236}">
                <a16:creationId xmlns:a16="http://schemas.microsoft.com/office/drawing/2014/main" id="{B5D3FC60-AD85-45BA-B63C-92E695A95903}"/>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22</a:t>
            </a:r>
          </a:p>
        </p:txBody>
      </p:sp>
      <p:sp>
        <p:nvSpPr>
          <p:cNvPr id="4" name="Hình chữ nhật 3">
            <a:extLst xmlns:a="http://schemas.openxmlformats.org/drawingml/2006/main">
              <a:ext uri="{FF2B5EF4-FFF2-40B4-BE49-F238E27FC236}">
                <a16:creationId xmlns:a16="http://schemas.microsoft.com/office/drawing/2014/main" id="{E1605804-7320-4F94-8612-E48275F283D1}"/>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pic>
        <p:nvPicPr>
          <p:cNvPr id="5" name="Hình ảnh 4">
            <a:extLst xmlns:a="http://schemas.openxmlformats.org/drawingml/2006/main">
              <a:ext uri="{FF2B5EF4-FFF2-40B4-BE49-F238E27FC236}">
                <a16:creationId xmlns:a16="http://schemas.microsoft.com/office/drawing/2014/main" id="{527C8308-79B5-4935-8C44-79D81AFF0CFE}"/>
              </a:ext>
            </a:extLst>
          </p:cNvPr>
          <p:cNvPicPr>
            <a:picLocks xmlns:a="http://schemas.openxmlformats.org/drawingml/2006/main" noChangeAspect="1"/>
          </p:cNvPicPr>
          <p:nvPr/>
        </p:nvPicPr>
        <p:blipFill>
          <a:blip xmlns:r="http://schemas.openxmlformats.org/officeDocument/2006/relationships" xmlns:a="http://schemas.openxmlformats.org/drawingml/2006/main" r:embed="R42e5d28226294547"/>
          <a:stretch xmlns:a="http://schemas.openxmlformats.org/drawingml/2006/main"/>
        </p:blipFill>
        <p:spPr>
          <a:xfrm xmlns:a="http://schemas.openxmlformats.org/drawingml/2006/main">
            <a:off x="619125" y="2466154"/>
            <a:ext cx="6191250" cy="2878192"/>
          </a:xfrm>
          <a:prstGeom xmlns:a="http://schemas.openxmlformats.org/drawingml/2006/main" prst="rect">
            <a:avLst/>
          </a:prstGeom>
        </p:spPr>
      </p:pic>
      <p:sp>
        <p:nvSpPr>
          <p:cNvPr id="6" name="Hình chữ nhật 5">
            <a:extLst xmlns:a="http://schemas.openxmlformats.org/drawingml/2006/main">
              <a:ext uri="{FF2B5EF4-FFF2-40B4-BE49-F238E27FC236}">
                <a16:creationId xmlns:a16="http://schemas.microsoft.com/office/drawing/2014/main" id="{FE8CBAC7-7ADC-4650-BE9B-74494141D776}"/>
              </a:ext>
            </a:extLst>
          </p:cNvPr>
          <p:cNvSpPr>
            <a:spLocks xmlns:a="http://schemas.openxmlformats.org/drawingml/2006/main" noGrp="1"/>
          </p:cNvSpPr>
          <p:nvPr/>
        </p:nvSpPr>
        <p:spPr>
          <a:xfrm xmlns:a="http://schemas.openxmlformats.org/drawingml/2006/main">
            <a:off x="7239000" y="2238375"/>
            <a:ext cx="4238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42C40"/>
                </a:solidFill>
              </a:defRPr>
            </a:defPPr>
            <a:lvl1pPr>
              <a:defRPr sz="1950" b="0">
                <a:solidFill>
                  <a:srgbClr val="142C40"/>
                </a:solidFill>
              </a:defRPr>
            </a:lvl1pPr>
            <a:lvl2pPr>
              <a:defRPr sz="1950" b="0">
                <a:solidFill>
                  <a:srgbClr val="142C40"/>
                </a:solidFill>
              </a:defRPr>
            </a:lvl2pPr>
            <a:lvl3pPr>
              <a:defRPr sz="1950" b="0">
                <a:solidFill>
                  <a:srgbClr val="142C40"/>
                </a:solidFill>
              </a:defRPr>
            </a:lvl3pPr>
            <a:lvl4pPr>
              <a:defRPr sz="1950" b="0">
                <a:solidFill>
                  <a:srgbClr val="142C40"/>
                </a:solidFill>
              </a:defRPr>
            </a:lvl4pPr>
            <a:lvl5pPr>
              <a:defRPr sz="1950" b="0">
                <a:solidFill>
                  <a:srgbClr val="142C40"/>
                </a:solidFill>
              </a:defRPr>
            </a:lvl5pPr>
            <a:lvl6pPr>
              <a:defRPr sz="1950" b="0">
                <a:solidFill>
                  <a:srgbClr val="142C40"/>
                </a:solidFill>
              </a:defRPr>
            </a:lvl6pPr>
            <a:lvl7pPr>
              <a:defRPr sz="1950" b="0">
                <a:solidFill>
                  <a:srgbClr val="142C40"/>
                </a:solidFill>
              </a:defRPr>
            </a:lvl7pPr>
            <a:lvl8pPr>
              <a:defRPr sz="1950" b="0">
                <a:solidFill>
                  <a:srgbClr val="142C40"/>
                </a:solidFill>
              </a:defRPr>
            </a:lvl8pPr>
            <a:lvl9pPr>
              <a:defRPr sz="1950" b="0">
                <a:solidFill>
                  <a:srgbClr val="142C40"/>
                </a:solidFill>
              </a:defRPr>
            </a:lvl9pPr>
          </a:lstStyle>
          <a:p xmlns:a="http://schemas.openxmlformats.org/drawingml/2006/main">
            <a:pPr>
              <a:buNone/>
              <a:defRPr sz="1950" b="0">
                <a:solidFill>
                  <a:srgbClr val="142C40"/>
                </a:solidFill>
              </a:defRPr>
            </a:pPr>
            <a:r>
              <a:rPr sz="1950" b="0">
                <a:solidFill>
                  <a:srgbClr val="142C40"/>
                </a:solidFill>
              </a:rPr>
              <a:t>33 cặp enhanced–degraded.</a:t>
            </a:r>
          </a:p>
        </p:txBody>
      </p:sp>
      <p:sp>
        <p:nvSpPr>
          <p:cNvPr id="7" name="Hình chữ nhật 6">
            <a:extLst xmlns:a="http://schemas.openxmlformats.org/drawingml/2006/main">
              <a:ext uri="{FF2B5EF4-FFF2-40B4-BE49-F238E27FC236}">
                <a16:creationId xmlns:a16="http://schemas.microsoft.com/office/drawing/2014/main" id="{0E3F68BC-B161-4E14-8AE5-D8E1B5182CD9}"/>
              </a:ext>
            </a:extLst>
          </p:cNvPr>
          <p:cNvSpPr>
            <a:spLocks xmlns:a="http://schemas.openxmlformats.org/drawingml/2006/main" noGrp="1"/>
          </p:cNvSpPr>
          <p:nvPr/>
        </p:nvSpPr>
        <p:spPr>
          <a:xfrm xmlns:a="http://schemas.openxmlformats.org/drawingml/2006/main">
            <a:off x="7239000" y="3038475"/>
            <a:ext cx="4238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42C40"/>
                </a:solidFill>
              </a:defRPr>
            </a:defPPr>
            <a:lvl1pPr>
              <a:defRPr sz="1950" b="0">
                <a:solidFill>
                  <a:srgbClr val="142C40"/>
                </a:solidFill>
              </a:defRPr>
            </a:lvl1pPr>
            <a:lvl2pPr>
              <a:defRPr sz="1950" b="0">
                <a:solidFill>
                  <a:srgbClr val="142C40"/>
                </a:solidFill>
              </a:defRPr>
            </a:lvl2pPr>
            <a:lvl3pPr>
              <a:defRPr sz="1950" b="0">
                <a:solidFill>
                  <a:srgbClr val="142C40"/>
                </a:solidFill>
              </a:defRPr>
            </a:lvl3pPr>
            <a:lvl4pPr>
              <a:defRPr sz="1950" b="0">
                <a:solidFill>
                  <a:srgbClr val="142C40"/>
                </a:solidFill>
              </a:defRPr>
            </a:lvl4pPr>
            <a:lvl5pPr>
              <a:defRPr sz="1950" b="0">
                <a:solidFill>
                  <a:srgbClr val="142C40"/>
                </a:solidFill>
              </a:defRPr>
            </a:lvl5pPr>
            <a:lvl6pPr>
              <a:defRPr sz="1950" b="0">
                <a:solidFill>
                  <a:srgbClr val="142C40"/>
                </a:solidFill>
              </a:defRPr>
            </a:lvl6pPr>
            <a:lvl7pPr>
              <a:defRPr sz="1950" b="0">
                <a:solidFill>
                  <a:srgbClr val="142C40"/>
                </a:solidFill>
              </a:defRPr>
            </a:lvl7pPr>
            <a:lvl8pPr>
              <a:defRPr sz="1950" b="0">
                <a:solidFill>
                  <a:srgbClr val="142C40"/>
                </a:solidFill>
              </a:defRPr>
            </a:lvl8pPr>
            <a:lvl9pPr>
              <a:defRPr sz="1950" b="0">
                <a:solidFill>
                  <a:srgbClr val="142C40"/>
                </a:solidFill>
              </a:defRPr>
            </a:lvl9pPr>
          </a:lstStyle>
          <a:p xmlns:a="http://schemas.openxmlformats.org/drawingml/2006/main">
            <a:pPr>
              <a:buNone/>
              <a:defRPr sz="1950" b="0">
                <a:solidFill>
                  <a:srgbClr val="142C40"/>
                </a:solidFill>
              </a:defRPr>
            </a:pPr>
            <a:r>
              <a:rPr sz="1950" b="0">
                <a:solidFill>
                  <a:srgbClr val="142C40"/>
                </a:solidFill>
              </a:rPr>
              <a:t>Pearson 0,710; Spearman 0,702.</a:t>
            </a:r>
          </a:p>
        </p:txBody>
      </p:sp>
      <p:sp>
        <p:nvSpPr>
          <p:cNvPr id="8" name="Hình chữ nhật 7">
            <a:extLst xmlns:a="http://schemas.openxmlformats.org/drawingml/2006/main">
              <a:ext uri="{FF2B5EF4-FFF2-40B4-BE49-F238E27FC236}">
                <a16:creationId xmlns:a16="http://schemas.microsoft.com/office/drawing/2014/main" id="{936F8704-8D04-4AA2-95BA-8D834204571D}"/>
              </a:ext>
            </a:extLst>
          </p:cNvPr>
          <p:cNvSpPr>
            <a:spLocks xmlns:a="http://schemas.openxmlformats.org/drawingml/2006/main" noGrp="1"/>
          </p:cNvSpPr>
          <p:nvPr/>
        </p:nvSpPr>
        <p:spPr>
          <a:xfrm xmlns:a="http://schemas.openxmlformats.org/drawingml/2006/main">
            <a:off x="7239000" y="3838575"/>
            <a:ext cx="4238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42C40"/>
                </a:solidFill>
              </a:defRPr>
            </a:defPPr>
            <a:lvl1pPr>
              <a:defRPr sz="1950" b="0">
                <a:solidFill>
                  <a:srgbClr val="142C40"/>
                </a:solidFill>
              </a:defRPr>
            </a:lvl1pPr>
            <a:lvl2pPr>
              <a:defRPr sz="1950" b="0">
                <a:solidFill>
                  <a:srgbClr val="142C40"/>
                </a:solidFill>
              </a:defRPr>
            </a:lvl2pPr>
            <a:lvl3pPr>
              <a:defRPr sz="1950" b="0">
                <a:solidFill>
                  <a:srgbClr val="142C40"/>
                </a:solidFill>
              </a:defRPr>
            </a:lvl3pPr>
            <a:lvl4pPr>
              <a:defRPr sz="1950" b="0">
                <a:solidFill>
                  <a:srgbClr val="142C40"/>
                </a:solidFill>
              </a:defRPr>
            </a:lvl4pPr>
            <a:lvl5pPr>
              <a:defRPr sz="1950" b="0">
                <a:solidFill>
                  <a:srgbClr val="142C40"/>
                </a:solidFill>
              </a:defRPr>
            </a:lvl5pPr>
            <a:lvl6pPr>
              <a:defRPr sz="1950" b="0">
                <a:solidFill>
                  <a:srgbClr val="142C40"/>
                </a:solidFill>
              </a:defRPr>
            </a:lvl6pPr>
            <a:lvl7pPr>
              <a:defRPr sz="1950" b="0">
                <a:solidFill>
                  <a:srgbClr val="142C40"/>
                </a:solidFill>
              </a:defRPr>
            </a:lvl7pPr>
            <a:lvl8pPr>
              <a:defRPr sz="1950" b="0">
                <a:solidFill>
                  <a:srgbClr val="142C40"/>
                </a:solidFill>
              </a:defRPr>
            </a:lvl8pPr>
            <a:lvl9pPr>
              <a:defRPr sz="1950" b="0">
                <a:solidFill>
                  <a:srgbClr val="142C40"/>
                </a:solidFill>
              </a:defRPr>
            </a:lvl9pPr>
          </a:lstStyle>
          <a:p xmlns:a="http://schemas.openxmlformats.org/drawingml/2006/main">
            <a:pPr>
              <a:buNone/>
              <a:defRPr sz="1950" b="0">
                <a:solidFill>
                  <a:srgbClr val="142C40"/>
                </a:solidFill>
              </a:defRPr>
            </a:pPr>
            <a:r>
              <a:rPr sz="1950" b="0">
                <a:solidFill>
                  <a:srgbClr val="142C40"/>
                </a:solidFill>
              </a:rPr>
              <a:t>Gamma ở thiếu sáng nhẹ:</a:t>
            </a:r>
          </a:p>
        </p:txBody>
      </p:sp>
      <p:sp>
        <p:nvSpPr>
          <p:cNvPr id="9" name="Hình chữ nhật 8">
            <a:extLst xmlns:a="http://schemas.openxmlformats.org/drawingml/2006/main">
              <a:ext uri="{FF2B5EF4-FFF2-40B4-BE49-F238E27FC236}">
                <a16:creationId xmlns:a16="http://schemas.microsoft.com/office/drawing/2014/main" id="{30A51206-C789-4097-9A64-FF299BAB7840}"/>
              </a:ext>
            </a:extLst>
          </p:cNvPr>
          <p:cNvSpPr>
            <a:spLocks xmlns:a="http://schemas.openxmlformats.org/drawingml/2006/main" noGrp="1"/>
          </p:cNvSpPr>
          <p:nvPr/>
        </p:nvSpPr>
        <p:spPr>
          <a:xfrm xmlns:a="http://schemas.openxmlformats.org/drawingml/2006/main">
            <a:off x="7239000" y="4638675"/>
            <a:ext cx="4238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42C40"/>
                </a:solidFill>
              </a:defRPr>
            </a:defPPr>
            <a:lvl1pPr>
              <a:defRPr sz="1950" b="0">
                <a:solidFill>
                  <a:srgbClr val="142C40"/>
                </a:solidFill>
              </a:defRPr>
            </a:lvl1pPr>
            <a:lvl2pPr>
              <a:defRPr sz="1950" b="0">
                <a:solidFill>
                  <a:srgbClr val="142C40"/>
                </a:solidFill>
              </a:defRPr>
            </a:lvl2pPr>
            <a:lvl3pPr>
              <a:defRPr sz="1950" b="0">
                <a:solidFill>
                  <a:srgbClr val="142C40"/>
                </a:solidFill>
              </a:defRPr>
            </a:lvl3pPr>
            <a:lvl4pPr>
              <a:defRPr sz="1950" b="0">
                <a:solidFill>
                  <a:srgbClr val="142C40"/>
                </a:solidFill>
              </a:defRPr>
            </a:lvl4pPr>
            <a:lvl5pPr>
              <a:defRPr sz="1950" b="0">
                <a:solidFill>
                  <a:srgbClr val="142C40"/>
                </a:solidFill>
              </a:defRPr>
            </a:lvl5pPr>
            <a:lvl6pPr>
              <a:defRPr sz="1950" b="0">
                <a:solidFill>
                  <a:srgbClr val="142C40"/>
                </a:solidFill>
              </a:defRPr>
            </a:lvl6pPr>
            <a:lvl7pPr>
              <a:defRPr sz="1950" b="0">
                <a:solidFill>
                  <a:srgbClr val="142C40"/>
                </a:solidFill>
              </a:defRPr>
            </a:lvl7pPr>
            <a:lvl8pPr>
              <a:defRPr sz="1950" b="0">
                <a:solidFill>
                  <a:srgbClr val="142C40"/>
                </a:solidFill>
              </a:defRPr>
            </a:lvl8pPr>
            <a:lvl9pPr>
              <a:defRPr sz="1950" b="0">
                <a:solidFill>
                  <a:srgbClr val="142C40"/>
                </a:solidFill>
              </a:defRPr>
            </a:lvl9pPr>
          </a:lstStyle>
          <a:p xmlns:a="http://schemas.openxmlformats.org/drawingml/2006/main">
            <a:pPr>
              <a:buNone/>
              <a:defRPr sz="1950" b="0">
                <a:solidFill>
                  <a:srgbClr val="142C40"/>
                </a:solidFill>
              </a:defRPr>
            </a:pPr>
            <a:r>
              <a:rPr sz="1950" b="0">
                <a:solidFill>
                  <a:srgbClr val="142C40"/>
                </a:solidFill>
              </a:rPr>
              <a:t>SSIM tăng, F1 0,9127 → 0,9002.</a:t>
            </a:r>
          </a:p>
        </p:txBody>
      </p:sp>
    </p:spTree>
    <p:extLst>
      <p:ext uri="{BB962C8B-B14F-4D97-AF65-F5344CB8AC3E}">
        <p14:creationId xmlns:p14="http://schemas.microsoft.com/office/powerpoint/2010/main" val="63468026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Hình chữ nhật 6">
            <a:extLst xmlns:a="http://schemas.openxmlformats.org/drawingml/2006/main">
              <a:ext uri="{FF2B5EF4-FFF2-40B4-BE49-F238E27FC236}">
                <a16:creationId xmlns:a16="http://schemas.microsoft.com/office/drawing/2014/main" id="{D0F08D7C-6EE4-4E5B-BB6A-91C98B752795}"/>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Median giúp sửa một ca nhiễu xung</a:t>
            </a:r>
          </a:p>
        </p:txBody>
      </p:sp>
      <p:sp>
        <p:nvSpPr>
          <p:cNvPr id="2" name="Hình chữ nhật 1">
            <a:extLst xmlns:a="http://schemas.openxmlformats.org/drawingml/2006/main">
              <a:ext uri="{FF2B5EF4-FFF2-40B4-BE49-F238E27FC236}">
                <a16:creationId xmlns:a16="http://schemas.microsoft.com/office/drawing/2014/main" id="{5A34A461-8DF8-4001-AE20-8E5CBBC31F80}"/>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Chương 9  Phân tích lỗi</a:t>
            </a:r>
          </a:p>
        </p:txBody>
      </p:sp>
      <p:sp>
        <p:nvSpPr>
          <p:cNvPr id="3" name="Hình chữ nhật 2">
            <a:extLst xmlns:a="http://schemas.openxmlformats.org/drawingml/2006/main">
              <a:ext uri="{FF2B5EF4-FFF2-40B4-BE49-F238E27FC236}">
                <a16:creationId xmlns:a16="http://schemas.microsoft.com/office/drawing/2014/main" id="{300E08E8-5CEE-457B-802B-BDB7DABD2D78}"/>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23</a:t>
            </a:r>
          </a:p>
        </p:txBody>
      </p:sp>
      <p:sp>
        <p:nvSpPr>
          <p:cNvPr id="4" name="Hình chữ nhật 3">
            <a:extLst xmlns:a="http://schemas.openxmlformats.org/drawingml/2006/main">
              <a:ext uri="{FF2B5EF4-FFF2-40B4-BE49-F238E27FC236}">
                <a16:creationId xmlns:a16="http://schemas.microsoft.com/office/drawing/2014/main" id="{AB59345B-A7B9-4938-BB70-4D8F90CADBD6}"/>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pic>
        <p:nvPicPr>
          <p:cNvPr id="5" name="Hình ảnh 4">
            <a:extLst xmlns:a="http://schemas.openxmlformats.org/drawingml/2006/main">
              <a:ext uri="{FF2B5EF4-FFF2-40B4-BE49-F238E27FC236}">
                <a16:creationId xmlns:a16="http://schemas.microsoft.com/office/drawing/2014/main" id="{FAB94C13-C8E3-49B8-B3CA-87E708D9B1C1}"/>
              </a:ext>
            </a:extLst>
          </p:cNvPr>
          <p:cNvPicPr>
            <a:picLocks xmlns:a="http://schemas.openxmlformats.org/drawingml/2006/main" noChangeAspect="1"/>
          </p:cNvPicPr>
          <p:nvPr/>
        </p:nvPicPr>
        <p:blipFill>
          <a:blip xmlns:r="http://schemas.openxmlformats.org/officeDocument/2006/relationships" xmlns:a="http://schemas.openxmlformats.org/drawingml/2006/main" r:embed="Re01766a0d98c4bd4"/>
          <a:stretch xmlns:a="http://schemas.openxmlformats.org/drawingml/2006/main"/>
        </p:blipFill>
        <p:spPr>
          <a:xfrm xmlns:a="http://schemas.openxmlformats.org/drawingml/2006/main">
            <a:off x="1670461" y="1905000"/>
            <a:ext cx="8851077" cy="3333750"/>
          </a:xfrm>
          <a:prstGeom xmlns:a="http://schemas.openxmlformats.org/drawingml/2006/main" prst="rect">
            <a:avLst/>
          </a:prstGeom>
        </p:spPr>
      </p:pic>
      <p:sp>
        <p:nvSpPr>
          <p:cNvPr id="6" name="Hình chữ nhật 5">
            <a:extLst xmlns:a="http://schemas.openxmlformats.org/drawingml/2006/main">
              <a:ext uri="{FF2B5EF4-FFF2-40B4-BE49-F238E27FC236}">
                <a16:creationId xmlns:a16="http://schemas.microsoft.com/office/drawing/2014/main" id="{71CE8DED-B6E5-4474-AFDA-FCDD3FD764DE}"/>
              </a:ext>
            </a:extLst>
          </p:cNvPr>
          <p:cNvSpPr>
            <a:spLocks xmlns:a="http://schemas.openxmlformats.org/drawingml/2006/main" noGrp="1"/>
          </p:cNvSpPr>
          <p:nvPr/>
        </p:nvSpPr>
        <p:spPr>
          <a:xfrm xmlns:a="http://schemas.openxmlformats.org/drawingml/2006/main">
            <a:off x="619125" y="55245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46C64"/>
                </a:solidFill>
              </a:defRPr>
            </a:defPPr>
            <a:lvl1pPr>
              <a:defRPr sz="2025" b="0">
                <a:solidFill>
                  <a:srgbClr val="146C64"/>
                </a:solidFill>
              </a:defRPr>
            </a:lvl1pPr>
            <a:lvl2pPr>
              <a:defRPr sz="2025" b="0">
                <a:solidFill>
                  <a:srgbClr val="146C64"/>
                </a:solidFill>
              </a:defRPr>
            </a:lvl2pPr>
            <a:lvl3pPr>
              <a:defRPr sz="2025" b="0">
                <a:solidFill>
                  <a:srgbClr val="146C64"/>
                </a:solidFill>
              </a:defRPr>
            </a:lvl3pPr>
            <a:lvl4pPr>
              <a:defRPr sz="2025" b="0">
                <a:solidFill>
                  <a:srgbClr val="146C64"/>
                </a:solidFill>
              </a:defRPr>
            </a:lvl4pPr>
            <a:lvl5pPr>
              <a:defRPr sz="2025" b="0">
                <a:solidFill>
                  <a:srgbClr val="146C64"/>
                </a:solidFill>
              </a:defRPr>
            </a:lvl5pPr>
            <a:lvl6pPr>
              <a:defRPr sz="2025" b="0">
                <a:solidFill>
                  <a:srgbClr val="146C64"/>
                </a:solidFill>
              </a:defRPr>
            </a:lvl6pPr>
            <a:lvl7pPr>
              <a:defRPr sz="2025" b="0">
                <a:solidFill>
                  <a:srgbClr val="146C64"/>
                </a:solidFill>
              </a:defRPr>
            </a:lvl7pPr>
            <a:lvl8pPr>
              <a:defRPr sz="2025" b="0">
                <a:solidFill>
                  <a:srgbClr val="146C64"/>
                </a:solidFill>
              </a:defRPr>
            </a:lvl8pPr>
            <a:lvl9pPr>
              <a:defRPr sz="2025" b="0">
                <a:solidFill>
                  <a:srgbClr val="146C64"/>
                </a:solidFill>
              </a:defRPr>
            </a:lvl9pPr>
          </a:lstStyle>
          <a:p xmlns:a="http://schemas.openxmlformats.org/drawingml/2006/main">
            <a:pPr>
              <a:buNone/>
              <a:defRPr sz="2025" b="0">
                <a:solidFill>
                  <a:srgbClr val="146C64"/>
                </a:solidFill>
              </a:defRPr>
            </a:pPr>
            <a:r>
              <a:rPr sz="2025" b="0">
                <a:solidFill>
                  <a:srgbClr val="146C64"/>
                </a:solidFill>
              </a:rPr>
              <a:t>Loại chấm nhiễu giúp nhãn trở về đúng; đây là một ví dụ, không bảo đảm cho mọi ảnh.</a:t>
            </a:r>
          </a:p>
        </p:txBody>
      </p:sp>
    </p:spTree>
    <p:extLst>
      <p:ext uri="{BB962C8B-B14F-4D97-AF65-F5344CB8AC3E}">
        <p14:creationId xmlns:p14="http://schemas.microsoft.com/office/powerpoint/2010/main" val="12344957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Hình chữ nhật 6">
            <a:extLst xmlns:a="http://schemas.openxmlformats.org/drawingml/2006/main">
              <a:ext uri="{FF2B5EF4-FFF2-40B4-BE49-F238E27FC236}">
                <a16:creationId xmlns:a16="http://schemas.microsoft.com/office/drawing/2014/main" id="{43FAE2C4-DA9F-4104-B2B3-421938D5C529}"/>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Hiệu chỉnh màu có thể làm nhận diện sai</a:t>
            </a:r>
          </a:p>
        </p:txBody>
      </p:sp>
      <p:sp>
        <p:nvSpPr>
          <p:cNvPr id="2" name="Hình chữ nhật 1">
            <a:extLst xmlns:a="http://schemas.openxmlformats.org/drawingml/2006/main">
              <a:ext uri="{FF2B5EF4-FFF2-40B4-BE49-F238E27FC236}">
                <a16:creationId xmlns:a16="http://schemas.microsoft.com/office/drawing/2014/main" id="{0723C883-16DE-4850-B246-6BAE07139424}"/>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Chương 9  Phân tích lỗi</a:t>
            </a:r>
          </a:p>
        </p:txBody>
      </p:sp>
      <p:sp>
        <p:nvSpPr>
          <p:cNvPr id="3" name="Hình chữ nhật 2">
            <a:extLst xmlns:a="http://schemas.openxmlformats.org/drawingml/2006/main">
              <a:ext uri="{FF2B5EF4-FFF2-40B4-BE49-F238E27FC236}">
                <a16:creationId xmlns:a16="http://schemas.microsoft.com/office/drawing/2014/main" id="{592ACE08-5F82-4AE5-85BF-56B634DCD676}"/>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24</a:t>
            </a:r>
          </a:p>
        </p:txBody>
      </p:sp>
      <p:sp>
        <p:nvSpPr>
          <p:cNvPr id="4" name="Hình chữ nhật 3">
            <a:extLst xmlns:a="http://schemas.openxmlformats.org/drawingml/2006/main">
              <a:ext uri="{FF2B5EF4-FFF2-40B4-BE49-F238E27FC236}">
                <a16:creationId xmlns:a16="http://schemas.microsoft.com/office/drawing/2014/main" id="{404C3AC0-BBA3-483D-BBB8-32940D07FAC2}"/>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pic>
        <p:nvPicPr>
          <p:cNvPr id="5" name="Hình ảnh 4">
            <a:extLst xmlns:a="http://schemas.openxmlformats.org/drawingml/2006/main">
              <a:ext uri="{FF2B5EF4-FFF2-40B4-BE49-F238E27FC236}">
                <a16:creationId xmlns:a16="http://schemas.microsoft.com/office/drawing/2014/main" id="{D60CD3FF-1512-4F33-AA39-A5FEF53ED76D}"/>
              </a:ext>
            </a:extLst>
          </p:cNvPr>
          <p:cNvPicPr>
            <a:picLocks xmlns:a="http://schemas.openxmlformats.org/drawingml/2006/main" noChangeAspect="1"/>
          </p:cNvPicPr>
          <p:nvPr/>
        </p:nvPicPr>
        <p:blipFill>
          <a:blip xmlns:r="http://schemas.openxmlformats.org/officeDocument/2006/relationships" xmlns:a="http://schemas.openxmlformats.org/drawingml/2006/main" r:embed="Raf379c5b7b004d80"/>
          <a:stretch xmlns:a="http://schemas.openxmlformats.org/drawingml/2006/main"/>
        </p:blipFill>
        <p:spPr>
          <a:xfrm xmlns:a="http://schemas.openxmlformats.org/drawingml/2006/main">
            <a:off x="1670461" y="1905000"/>
            <a:ext cx="8851077" cy="3333750"/>
          </a:xfrm>
          <a:prstGeom xmlns:a="http://schemas.openxmlformats.org/drawingml/2006/main" prst="rect">
            <a:avLst/>
          </a:prstGeom>
        </p:spPr>
      </p:pic>
      <p:sp>
        <p:nvSpPr>
          <p:cNvPr id="6" name="Hình chữ nhật 5">
            <a:extLst xmlns:a="http://schemas.openxmlformats.org/drawingml/2006/main">
              <a:ext uri="{FF2B5EF4-FFF2-40B4-BE49-F238E27FC236}">
                <a16:creationId xmlns:a16="http://schemas.microsoft.com/office/drawing/2014/main" id="{D1511D22-CE1F-4D89-8960-4A5A6106DD2B}"/>
              </a:ext>
            </a:extLst>
          </p:cNvPr>
          <p:cNvSpPr>
            <a:spLocks xmlns:a="http://schemas.openxmlformats.org/drawingml/2006/main" noGrp="1"/>
          </p:cNvSpPr>
          <p:nvPr/>
        </p:nvSpPr>
        <p:spPr>
          <a:xfrm xmlns:a="http://schemas.openxmlformats.org/drawingml/2006/main">
            <a:off x="619125" y="55245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44516"/>
                </a:solidFill>
              </a:defRPr>
            </a:defPPr>
            <a:lvl1pPr>
              <a:defRPr sz="2100" b="1">
                <a:solidFill>
                  <a:srgbClr val="A44516"/>
                </a:solidFill>
              </a:defRPr>
            </a:lvl1pPr>
            <a:lvl2pPr>
              <a:defRPr sz="2100" b="1">
                <a:solidFill>
                  <a:srgbClr val="A44516"/>
                </a:solidFill>
              </a:defRPr>
            </a:lvl2pPr>
            <a:lvl3pPr>
              <a:defRPr sz="2100" b="1">
                <a:solidFill>
                  <a:srgbClr val="A44516"/>
                </a:solidFill>
              </a:defRPr>
            </a:lvl3pPr>
            <a:lvl4pPr>
              <a:defRPr sz="2100" b="1">
                <a:solidFill>
                  <a:srgbClr val="A44516"/>
                </a:solidFill>
              </a:defRPr>
            </a:lvl4pPr>
            <a:lvl5pPr>
              <a:defRPr sz="2100" b="1">
                <a:solidFill>
                  <a:srgbClr val="A44516"/>
                </a:solidFill>
              </a:defRPr>
            </a:lvl5pPr>
            <a:lvl6pPr>
              <a:defRPr sz="2100" b="1">
                <a:solidFill>
                  <a:srgbClr val="A44516"/>
                </a:solidFill>
              </a:defRPr>
            </a:lvl6pPr>
            <a:lvl7pPr>
              <a:defRPr sz="2100" b="1">
                <a:solidFill>
                  <a:srgbClr val="A44516"/>
                </a:solidFill>
              </a:defRPr>
            </a:lvl7pPr>
            <a:lvl8pPr>
              <a:defRPr sz="2100" b="1">
                <a:solidFill>
                  <a:srgbClr val="A44516"/>
                </a:solidFill>
              </a:defRPr>
            </a:lvl8pPr>
            <a:lvl9pPr>
              <a:defRPr sz="2100" b="1">
                <a:solidFill>
                  <a:srgbClr val="A44516"/>
                </a:solidFill>
              </a:defRPr>
            </a:lvl9pPr>
          </a:lstStyle>
          <a:p xmlns:a="http://schemas.openxmlformats.org/drawingml/2006/main">
            <a:pPr>
              <a:buNone/>
              <a:defRPr sz="2100" b="1">
                <a:solidFill>
                  <a:srgbClr val="A44516"/>
                </a:solidFill>
              </a:defRPr>
            </a:pPr>
            <a:r>
              <a:rPr sz="2100" b="1">
                <a:solidFill>
                  <a:srgbClr val="A44516"/>
                </a:solidFill>
              </a:rPr>
              <a:t>Daisy → dandelion sau HSV correction. Giữ đối chứng không xử lý.</a:t>
            </a:r>
          </a:p>
        </p:txBody>
      </p:sp>
    </p:spTree>
    <p:extLst>
      <p:ext uri="{BB962C8B-B14F-4D97-AF65-F5344CB8AC3E}">
        <p14:creationId xmlns:p14="http://schemas.microsoft.com/office/powerpoint/2010/main" val="149468082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Hình chữ nhật 9">
            <a:extLst xmlns:a="http://schemas.openxmlformats.org/drawingml/2006/main">
              <a:ext uri="{FF2B5EF4-FFF2-40B4-BE49-F238E27FC236}">
                <a16:creationId xmlns:a16="http://schemas.microsoft.com/office/drawing/2014/main" id="{62FBE074-2749-4528-A90C-EEAC3884EA8A}"/>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Ứng dụng minh họa pipeline xử lý ảnh</a:t>
            </a:r>
          </a:p>
        </p:txBody>
      </p:sp>
      <p:sp>
        <p:nvSpPr>
          <p:cNvPr id="2" name="Hình chữ nhật 1">
            <a:extLst xmlns:a="http://schemas.openxmlformats.org/drawingml/2006/main">
              <a:ext uri="{FF2B5EF4-FFF2-40B4-BE49-F238E27FC236}">
                <a16:creationId xmlns:a16="http://schemas.microsoft.com/office/drawing/2014/main" id="{59DBA2F8-8C8D-48C3-99E7-9966A2AFA0F0}"/>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Chương 10  Ứng dụng và triển khai</a:t>
            </a:r>
          </a:p>
        </p:txBody>
      </p:sp>
      <p:sp>
        <p:nvSpPr>
          <p:cNvPr id="3" name="Hình chữ nhật 2">
            <a:extLst xmlns:a="http://schemas.openxmlformats.org/drawingml/2006/main">
              <a:ext uri="{FF2B5EF4-FFF2-40B4-BE49-F238E27FC236}">
                <a16:creationId xmlns:a16="http://schemas.microsoft.com/office/drawing/2014/main" id="{915375F3-9AA8-4EB4-AE44-6428069BC9C8}"/>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25</a:t>
            </a:r>
          </a:p>
        </p:txBody>
      </p:sp>
      <p:sp>
        <p:nvSpPr>
          <p:cNvPr id="4" name="Hình chữ nhật 3">
            <a:extLst xmlns:a="http://schemas.openxmlformats.org/drawingml/2006/main">
              <a:ext uri="{FF2B5EF4-FFF2-40B4-BE49-F238E27FC236}">
                <a16:creationId xmlns:a16="http://schemas.microsoft.com/office/drawing/2014/main" id="{D952540F-4203-4ED6-AF64-905B04C69EE0}"/>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sp>
        <p:nvSpPr>
          <p:cNvPr id="5" name="Hình chữ nhật 4">
            <a:extLst xmlns:a="http://schemas.openxmlformats.org/drawingml/2006/main">
              <a:ext uri="{FF2B5EF4-FFF2-40B4-BE49-F238E27FC236}">
                <a16:creationId xmlns:a16="http://schemas.microsoft.com/office/drawing/2014/main" id="{AB903E92-6942-433C-BBB5-5BFD44A7B97B}"/>
              </a:ext>
            </a:extLst>
          </p:cNvPr>
          <p:cNvSpPr>
            <a:spLocks xmlns:a="http://schemas.openxmlformats.org/drawingml/2006/main" noGrp="1"/>
          </p:cNvSpPr>
          <p:nvPr/>
        </p:nvSpPr>
        <p:spPr>
          <a:xfrm xmlns:a="http://schemas.openxmlformats.org/drawingml/2006/main">
            <a:off x="619125" y="19526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vl1pPr>
              <a:defRPr sz="2100" b="0">
                <a:solidFill>
                  <a:srgbClr val="142C40"/>
                </a:solidFill>
              </a:defRPr>
            </a:lvl1pPr>
            <a:lvl2pPr>
              <a:defRPr sz="2100" b="0">
                <a:solidFill>
                  <a:srgbClr val="142C40"/>
                </a:solidFill>
              </a:defRPr>
            </a:lvl2pPr>
            <a:lvl3pPr>
              <a:defRPr sz="2100" b="0">
                <a:solidFill>
                  <a:srgbClr val="142C40"/>
                </a:solidFill>
              </a:defRPr>
            </a:lvl3pPr>
            <a:lvl4pPr>
              <a:defRPr sz="2100" b="0">
                <a:solidFill>
                  <a:srgbClr val="142C40"/>
                </a:solidFill>
              </a:defRPr>
            </a:lvl4pPr>
            <a:lvl5pPr>
              <a:defRPr sz="2100" b="0">
                <a:solidFill>
                  <a:srgbClr val="142C40"/>
                </a:solidFill>
              </a:defRPr>
            </a:lvl5pPr>
            <a:lvl6pPr>
              <a:defRPr sz="2100" b="0">
                <a:solidFill>
                  <a:srgbClr val="142C40"/>
                </a:solidFill>
              </a:defRPr>
            </a:lvl6pPr>
            <a:lvl7pPr>
              <a:defRPr sz="2100" b="0">
                <a:solidFill>
                  <a:srgbClr val="142C40"/>
                </a:solidFill>
              </a:defRPr>
            </a:lvl7pPr>
            <a:lvl8pPr>
              <a:defRPr sz="2100" b="0">
                <a:solidFill>
                  <a:srgbClr val="142C40"/>
                </a:solidFill>
              </a:defRPr>
            </a:lvl8pPr>
            <a:lvl9pPr>
              <a:defRPr sz="2100" b="0">
                <a:solidFill>
                  <a:srgbClr val="142C40"/>
                </a:solidFill>
              </a:defRPr>
            </a:lvl9pPr>
          </a:lstStyle>
          <a:p xmlns:a="http://schemas.openxmlformats.org/drawingml/2006/main">
            <a:pPr>
              <a:buNone/>
              <a:defRPr sz="2100" b="0">
                <a:solidFill>
                  <a:srgbClr val="142C40"/>
                </a:solidFill>
              </a:defRPr>
            </a:pPr>
            <a:r>
              <a:rPr sz="2100" b="0">
                <a:solidFill>
                  <a:srgbClr val="142C40"/>
                </a:solidFill>
              </a:rPr>
              <a:t>Tải JPEG/PNG → chọn suy giảm và xử lý → so ảnh và dự đoán.</a:t>
            </a:r>
          </a:p>
        </p:txBody>
      </p:sp>
      <p:sp>
        <p:nvSpPr>
          <p:cNvPr id="6" name="Hình chữ nhật 5">
            <a:extLst xmlns:a="http://schemas.openxmlformats.org/drawingml/2006/main">
              <a:ext uri="{FF2B5EF4-FFF2-40B4-BE49-F238E27FC236}">
                <a16:creationId xmlns:a16="http://schemas.microsoft.com/office/drawing/2014/main" id="{DD291A85-9DAC-4659-903C-3597E01D7453}"/>
              </a:ext>
            </a:extLst>
          </p:cNvPr>
          <p:cNvSpPr>
            <a:spLocks xmlns:a="http://schemas.openxmlformats.org/drawingml/2006/main" noGrp="1"/>
          </p:cNvSpPr>
          <p:nvPr/>
        </p:nvSpPr>
        <p:spPr>
          <a:xfrm xmlns:a="http://schemas.openxmlformats.org/drawingml/2006/main">
            <a:off x="619125" y="27146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42C40"/>
                </a:solidFill>
              </a:defRPr>
            </a:defPPr>
            <a:lvl1pPr>
              <a:defRPr sz="2100" b="0">
                <a:solidFill>
                  <a:srgbClr val="142C40"/>
                </a:solidFill>
              </a:defRPr>
            </a:lvl1pPr>
            <a:lvl2pPr>
              <a:defRPr sz="2100" b="0">
                <a:solidFill>
                  <a:srgbClr val="142C40"/>
                </a:solidFill>
              </a:defRPr>
            </a:lvl2pPr>
            <a:lvl3pPr>
              <a:defRPr sz="2100" b="0">
                <a:solidFill>
                  <a:srgbClr val="142C40"/>
                </a:solidFill>
              </a:defRPr>
            </a:lvl3pPr>
            <a:lvl4pPr>
              <a:defRPr sz="2100" b="0">
                <a:solidFill>
                  <a:srgbClr val="142C40"/>
                </a:solidFill>
              </a:defRPr>
            </a:lvl4pPr>
            <a:lvl5pPr>
              <a:defRPr sz="2100" b="0">
                <a:solidFill>
                  <a:srgbClr val="142C40"/>
                </a:solidFill>
              </a:defRPr>
            </a:lvl5pPr>
            <a:lvl6pPr>
              <a:defRPr sz="2100" b="0">
                <a:solidFill>
                  <a:srgbClr val="142C40"/>
                </a:solidFill>
              </a:defRPr>
            </a:lvl6pPr>
            <a:lvl7pPr>
              <a:defRPr sz="2100" b="0">
                <a:solidFill>
                  <a:srgbClr val="142C40"/>
                </a:solidFill>
              </a:defRPr>
            </a:lvl7pPr>
            <a:lvl8pPr>
              <a:defRPr sz="2100" b="0">
                <a:solidFill>
                  <a:srgbClr val="142C40"/>
                </a:solidFill>
              </a:defRPr>
            </a:lvl8pPr>
            <a:lvl9pPr>
              <a:defRPr sz="2100" b="0">
                <a:solidFill>
                  <a:srgbClr val="142C40"/>
                </a:solidFill>
              </a:defRPr>
            </a:lvl9pPr>
          </a:lstStyle>
          <a:p xmlns:a="http://schemas.openxmlformats.org/drawingml/2006/main">
            <a:pPr>
              <a:buNone/>
              <a:defRPr sz="2100" b="0">
                <a:solidFill>
                  <a:srgbClr val="142C40"/>
                </a:solidFill>
              </a:defRPr>
            </a:pPr>
            <a:r>
              <a:rPr sz="2100" b="0">
                <a:solidFill>
                  <a:srgbClr val="142C40"/>
                </a:solidFill>
              </a:rPr>
              <a:t>Streamlit dùng cùng pipeline Python và cấu hình Validation đã khóa.</a:t>
            </a:r>
          </a:p>
        </p:txBody>
      </p:sp>
      <p:sp>
        <p:nvSpPr>
          <p:cNvPr id="9" name="Hình chữ nhật 8">
            <a:extLst xmlns:a="http://schemas.openxmlformats.org/drawingml/2006/main">
              <a:ext uri="{FF2B5EF4-FFF2-40B4-BE49-F238E27FC236}">
                <a16:creationId xmlns:a16="http://schemas.microsoft.com/office/drawing/2014/main" id="{D42B4D4B-CC2C-4715-A4A8-697FABEC935C}"/>
              </a:ext>
            </a:extLst>
          </p:cNvPr>
          <p:cNvSpPr>
            <a:spLocks xmlns:a="http://schemas.openxmlformats.org/drawingml/2006/main" noGrp="1"/>
          </p:cNvSpPr>
          <p:nvPr/>
        </p:nvSpPr>
        <p:spPr>
          <a:xfrm xmlns:a="http://schemas.openxmlformats.org/drawingml/2006/main">
            <a:off x="619125" y="590550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5676"/>
                </a:solidFill>
              </a:defRPr>
            </a:defPPr>
            <a:lvl1pPr>
              <a:defRPr sz="2175" b="1">
                <a:solidFill>
                  <a:srgbClr val="175676"/>
                </a:solidFill>
              </a:defRPr>
            </a:lvl1pPr>
            <a:lvl2pPr>
              <a:defRPr sz="2175" b="1">
                <a:solidFill>
                  <a:srgbClr val="175676"/>
                </a:solidFill>
              </a:defRPr>
            </a:lvl2pPr>
            <a:lvl3pPr>
              <a:defRPr sz="2175" b="1">
                <a:solidFill>
                  <a:srgbClr val="175676"/>
                </a:solidFill>
              </a:defRPr>
            </a:lvl3pPr>
            <a:lvl4pPr>
              <a:defRPr sz="2175" b="1">
                <a:solidFill>
                  <a:srgbClr val="175676"/>
                </a:solidFill>
              </a:defRPr>
            </a:lvl4pPr>
            <a:lvl5pPr>
              <a:defRPr sz="2175" b="1">
                <a:solidFill>
                  <a:srgbClr val="175676"/>
                </a:solidFill>
              </a:defRPr>
            </a:lvl5pPr>
            <a:lvl6pPr>
              <a:defRPr sz="2175" b="1">
                <a:solidFill>
                  <a:srgbClr val="175676"/>
                </a:solidFill>
              </a:defRPr>
            </a:lvl6pPr>
            <a:lvl7pPr>
              <a:defRPr sz="2175" b="1">
                <a:solidFill>
                  <a:srgbClr val="175676"/>
                </a:solidFill>
              </a:defRPr>
            </a:lvl7pPr>
            <a:lvl8pPr>
              <a:defRPr sz="2175" b="1">
                <a:solidFill>
                  <a:srgbClr val="175676"/>
                </a:solidFill>
              </a:defRPr>
            </a:lvl8pPr>
            <a:lvl9pPr>
              <a:defRPr sz="2175" b="1">
                <a:solidFill>
                  <a:srgbClr val="175676"/>
                </a:solidFill>
              </a:defRPr>
            </a:lvl9pPr>
          </a:lstStyle>
          <a:p xmlns:a="http://schemas.openxmlformats.org/drawingml/2006/main">
            <a:pPr>
              <a:buNone/>
              <a:defRPr sz="2175" b="1">
                <a:solidFill>
                  <a:srgbClr val="175676"/>
                </a:solidFill>
              </a:defRPr>
            </a:pPr>
            <a:r>
              <a:rPr sz="2175" b="1">
                <a:solidFill>
                  <a:srgbClr val="175676"/>
                </a:solidFill>
              </a:rPr>
              <a:t>flower-image-restoration-cnn-td.streamlit.app</a:t>
            </a:r>
          </a:p>
        </p:txBody>
      </p:sp>
      <p:sp>
        <p:nvSpPr>
          <p:cNvPr id="11" name="sync-25-368-285">
            <a:extLst xmlns:a="http://schemas.openxmlformats.org/drawingml/2006/main">
              <a:ext uri="{FF2B5EF4-FFF2-40B4-BE49-F238E27FC236}">
                <a16:creationId xmlns:a16="http://schemas.microsoft.com/office/drawing/2014/main" id="{D1C9244A-01CA-4FC2-A800-5FE1CB8B715F}"/>
              </a:ext>
            </a:extLst>
          </p:cNvPr>
          <p:cNvSpPr>
            <a:spLocks xmlns:a="http://schemas.openxmlformats.org/drawingml/2006/main" noGrp="1"/>
          </p:cNvSpPr>
          <p:nvPr/>
        </p:nvSpPr>
        <p:spPr>
          <a:xfrm xmlns:a="http://schemas.openxmlformats.org/drawingml/2006/main">
            <a:off x="2714625" y="3505200"/>
            <a:ext cx="2000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46C64"/>
                </a:solidFill>
              </a:defRPr>
            </a:defPPr>
            <a:lvl1pPr>
              <a:defRPr sz="1425" b="1">
                <a:solidFill>
                  <a:srgbClr val="146C64"/>
                </a:solidFill>
              </a:defRPr>
            </a:lvl1pPr>
            <a:lvl2pPr>
              <a:defRPr sz="1425" b="1">
                <a:solidFill>
                  <a:srgbClr val="146C64"/>
                </a:solidFill>
              </a:defRPr>
            </a:lvl2pPr>
            <a:lvl3pPr>
              <a:defRPr sz="1425" b="1">
                <a:solidFill>
                  <a:srgbClr val="146C64"/>
                </a:solidFill>
              </a:defRPr>
            </a:lvl3pPr>
            <a:lvl4pPr>
              <a:defRPr sz="1425" b="1">
                <a:solidFill>
                  <a:srgbClr val="146C64"/>
                </a:solidFill>
              </a:defRPr>
            </a:lvl4pPr>
            <a:lvl5pPr>
              <a:defRPr sz="1425" b="1">
                <a:solidFill>
                  <a:srgbClr val="146C64"/>
                </a:solidFill>
              </a:defRPr>
            </a:lvl5pPr>
            <a:lvl6pPr>
              <a:defRPr sz="1425" b="1">
                <a:solidFill>
                  <a:srgbClr val="146C64"/>
                </a:solidFill>
              </a:defRPr>
            </a:lvl6pPr>
            <a:lvl7pPr>
              <a:defRPr sz="1425" b="1">
                <a:solidFill>
                  <a:srgbClr val="146C64"/>
                </a:solidFill>
              </a:defRPr>
            </a:lvl7pPr>
            <a:lvl8pPr>
              <a:defRPr sz="1425" b="1">
                <a:solidFill>
                  <a:srgbClr val="146C64"/>
                </a:solidFill>
              </a:defRPr>
            </a:lvl8pPr>
            <a:lvl9pPr>
              <a:defRPr sz="1425" b="1">
                <a:solidFill>
                  <a:srgbClr val="146C64"/>
                </a:solidFill>
              </a:defRPr>
            </a:lvl9pPr>
          </a:lstStyle>
          <a:p xmlns:a="http://schemas.openxmlformats.org/drawingml/2006/main">
            <a:pPr>
              <a:defRPr sz="1425" b="1">
                <a:solidFill>
                  <a:srgbClr val="146C64"/>
                </a:solidFill>
              </a:defRPr>
            </a:pPr>
            <a:r>
              <a:rPr sz="1425" b="1">
                <a:solidFill>
                  <a:srgbClr val="146C64"/>
                </a:solidFill>
              </a:rPr>
              <a:t>Ảnh đầu vào</a:t>
            </a:r>
          </a:p>
        </p:txBody>
      </p:sp>
      <p:pic>
        <p:nvPicPr>
          <p:cNvPr id="12" name="">
            <a:extLst xmlns:a="http://schemas.openxmlformats.org/drawingml/2006/main">
              <a:ext uri="{FF2B5EF4-FFF2-40B4-BE49-F238E27FC236}">
                <a16:creationId xmlns:a16="http://schemas.microsoft.com/office/drawing/2014/main" id="{6CC3E916-7363-41E1-A2E5-66E9D90D34E1}"/>
              </a:ext>
            </a:extLst>
          </p:cNvPr>
          <p:cNvPicPr>
            <a:picLocks xmlns:a="http://schemas.openxmlformats.org/drawingml/2006/main" noChangeAspect="1"/>
          </p:cNvPicPr>
          <p:nvPr/>
        </p:nvPicPr>
        <p:blipFill>
          <a:blip xmlns:r="http://schemas.openxmlformats.org/officeDocument/2006/relationships" xmlns:a="http://schemas.openxmlformats.org/drawingml/2006/main" r:embed="R5d71866a081146a7"/>
          <a:stretch xmlns:a="http://schemas.openxmlformats.org/drawingml/2006/main"/>
        </p:blipFill>
        <p:spPr>
          <a:xfrm xmlns:a="http://schemas.openxmlformats.org/drawingml/2006/main">
            <a:off x="3000375" y="3857625"/>
            <a:ext cx="1428750" cy="1428750"/>
          </a:xfrm>
          <a:prstGeom xmlns:a="http://schemas.openxmlformats.org/drawingml/2006/main" prst="rect">
            <a:avLst/>
          </a:prstGeom>
        </p:spPr>
      </p:pic>
      <p:sp>
        <p:nvSpPr>
          <p:cNvPr id="13" name="sync-25-368-535">
            <a:extLst xmlns:a="http://schemas.openxmlformats.org/drawingml/2006/main">
              <a:ext uri="{FF2B5EF4-FFF2-40B4-BE49-F238E27FC236}">
                <a16:creationId xmlns:a16="http://schemas.microsoft.com/office/drawing/2014/main" id="{981C498D-0B20-4562-85E0-06E4F6B3B5B3}"/>
              </a:ext>
            </a:extLst>
          </p:cNvPr>
          <p:cNvSpPr>
            <a:spLocks xmlns:a="http://schemas.openxmlformats.org/drawingml/2006/main" noGrp="1"/>
          </p:cNvSpPr>
          <p:nvPr/>
        </p:nvSpPr>
        <p:spPr>
          <a:xfrm xmlns:a="http://schemas.openxmlformats.org/drawingml/2006/main">
            <a:off x="5095875" y="3505200"/>
            <a:ext cx="2000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46C64"/>
                </a:solidFill>
              </a:defRPr>
            </a:defPPr>
            <a:lvl1pPr>
              <a:defRPr sz="1425" b="1">
                <a:solidFill>
                  <a:srgbClr val="146C64"/>
                </a:solidFill>
              </a:defRPr>
            </a:lvl1pPr>
            <a:lvl2pPr>
              <a:defRPr sz="1425" b="1">
                <a:solidFill>
                  <a:srgbClr val="146C64"/>
                </a:solidFill>
              </a:defRPr>
            </a:lvl2pPr>
            <a:lvl3pPr>
              <a:defRPr sz="1425" b="1">
                <a:solidFill>
                  <a:srgbClr val="146C64"/>
                </a:solidFill>
              </a:defRPr>
            </a:lvl3pPr>
            <a:lvl4pPr>
              <a:defRPr sz="1425" b="1">
                <a:solidFill>
                  <a:srgbClr val="146C64"/>
                </a:solidFill>
              </a:defRPr>
            </a:lvl4pPr>
            <a:lvl5pPr>
              <a:defRPr sz="1425" b="1">
                <a:solidFill>
                  <a:srgbClr val="146C64"/>
                </a:solidFill>
              </a:defRPr>
            </a:lvl5pPr>
            <a:lvl6pPr>
              <a:defRPr sz="1425" b="1">
                <a:solidFill>
                  <a:srgbClr val="146C64"/>
                </a:solidFill>
              </a:defRPr>
            </a:lvl6pPr>
            <a:lvl7pPr>
              <a:defRPr sz="1425" b="1">
                <a:solidFill>
                  <a:srgbClr val="146C64"/>
                </a:solidFill>
              </a:defRPr>
            </a:lvl7pPr>
            <a:lvl8pPr>
              <a:defRPr sz="1425" b="1">
                <a:solidFill>
                  <a:srgbClr val="146C64"/>
                </a:solidFill>
              </a:defRPr>
            </a:lvl8pPr>
            <a:lvl9pPr>
              <a:defRPr sz="1425" b="1">
                <a:solidFill>
                  <a:srgbClr val="146C64"/>
                </a:solidFill>
              </a:defRPr>
            </a:lvl9pPr>
          </a:lstStyle>
          <a:p xmlns:a="http://schemas.openxmlformats.org/drawingml/2006/main">
            <a:pPr>
              <a:defRPr sz="1425" b="1">
                <a:solidFill>
                  <a:srgbClr val="146C64"/>
                </a:solidFill>
              </a:defRPr>
            </a:pPr>
            <a:r>
              <a:rPr sz="1425" b="1">
                <a:solidFill>
                  <a:srgbClr val="146C64"/>
                </a:solidFill>
              </a:rPr>
              <a:t>Suy giảm</a:t>
            </a:r>
          </a:p>
        </p:txBody>
      </p:sp>
      <p:pic>
        <p:nvPicPr>
          <p:cNvPr id="14" name="">
            <a:extLst xmlns:a="http://schemas.openxmlformats.org/drawingml/2006/main">
              <a:ext uri="{FF2B5EF4-FFF2-40B4-BE49-F238E27FC236}">
                <a16:creationId xmlns:a16="http://schemas.microsoft.com/office/drawing/2014/main" id="{21857A60-0BFE-49D1-BA65-EE057C5BE5C8}"/>
              </a:ext>
            </a:extLst>
          </p:cNvPr>
          <p:cNvPicPr>
            <a:picLocks xmlns:a="http://schemas.openxmlformats.org/drawingml/2006/main" noChangeAspect="1"/>
          </p:cNvPicPr>
          <p:nvPr/>
        </p:nvPicPr>
        <p:blipFill>
          <a:blip xmlns:r="http://schemas.openxmlformats.org/officeDocument/2006/relationships" xmlns:a="http://schemas.openxmlformats.org/drawingml/2006/main" r:embed="Rbdc0e5c8b5f14c4d"/>
          <a:stretch xmlns:a="http://schemas.openxmlformats.org/drawingml/2006/main"/>
        </p:blipFill>
        <p:spPr>
          <a:xfrm xmlns:a="http://schemas.openxmlformats.org/drawingml/2006/main">
            <a:off x="5381625" y="3857625"/>
            <a:ext cx="1428750" cy="1428750"/>
          </a:xfrm>
          <a:prstGeom xmlns:a="http://schemas.openxmlformats.org/drawingml/2006/main" prst="rect">
            <a:avLst/>
          </a:prstGeom>
        </p:spPr>
      </p:pic>
      <p:sp>
        <p:nvSpPr>
          <p:cNvPr id="15" name="sync-25-368-785">
            <a:extLst xmlns:a="http://schemas.openxmlformats.org/drawingml/2006/main">
              <a:ext uri="{FF2B5EF4-FFF2-40B4-BE49-F238E27FC236}">
                <a16:creationId xmlns:a16="http://schemas.microsoft.com/office/drawing/2014/main" id="{5271F758-E4EA-4698-B154-A069A6E33976}"/>
              </a:ext>
            </a:extLst>
          </p:cNvPr>
          <p:cNvSpPr>
            <a:spLocks xmlns:a="http://schemas.openxmlformats.org/drawingml/2006/main" noGrp="1"/>
          </p:cNvSpPr>
          <p:nvPr/>
        </p:nvSpPr>
        <p:spPr>
          <a:xfrm xmlns:a="http://schemas.openxmlformats.org/drawingml/2006/main">
            <a:off x="7477125" y="3505200"/>
            <a:ext cx="2000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1">
                <a:solidFill>
                  <a:srgbClr val="146C64"/>
                </a:solidFill>
              </a:defRPr>
            </a:defPPr>
            <a:lvl1pPr>
              <a:defRPr sz="1425" b="1">
                <a:solidFill>
                  <a:srgbClr val="146C64"/>
                </a:solidFill>
              </a:defRPr>
            </a:lvl1pPr>
            <a:lvl2pPr>
              <a:defRPr sz="1425" b="1">
                <a:solidFill>
                  <a:srgbClr val="146C64"/>
                </a:solidFill>
              </a:defRPr>
            </a:lvl2pPr>
            <a:lvl3pPr>
              <a:defRPr sz="1425" b="1">
                <a:solidFill>
                  <a:srgbClr val="146C64"/>
                </a:solidFill>
              </a:defRPr>
            </a:lvl3pPr>
            <a:lvl4pPr>
              <a:defRPr sz="1425" b="1">
                <a:solidFill>
                  <a:srgbClr val="146C64"/>
                </a:solidFill>
              </a:defRPr>
            </a:lvl4pPr>
            <a:lvl5pPr>
              <a:defRPr sz="1425" b="1">
                <a:solidFill>
                  <a:srgbClr val="146C64"/>
                </a:solidFill>
              </a:defRPr>
            </a:lvl5pPr>
            <a:lvl6pPr>
              <a:defRPr sz="1425" b="1">
                <a:solidFill>
                  <a:srgbClr val="146C64"/>
                </a:solidFill>
              </a:defRPr>
            </a:lvl6pPr>
            <a:lvl7pPr>
              <a:defRPr sz="1425" b="1">
                <a:solidFill>
                  <a:srgbClr val="146C64"/>
                </a:solidFill>
              </a:defRPr>
            </a:lvl7pPr>
            <a:lvl8pPr>
              <a:defRPr sz="1425" b="1">
                <a:solidFill>
                  <a:srgbClr val="146C64"/>
                </a:solidFill>
              </a:defRPr>
            </a:lvl8pPr>
            <a:lvl9pPr>
              <a:defRPr sz="1425" b="1">
                <a:solidFill>
                  <a:srgbClr val="146C64"/>
                </a:solidFill>
              </a:defRPr>
            </a:lvl9pPr>
          </a:lstStyle>
          <a:p xmlns:a="http://schemas.openxmlformats.org/drawingml/2006/main">
            <a:pPr>
              <a:defRPr sz="1425" b="1">
                <a:solidFill>
                  <a:srgbClr val="146C64"/>
                </a:solidFill>
              </a:defRPr>
            </a:pPr>
            <a:r>
              <a:rPr sz="1425" b="1">
                <a:solidFill>
                  <a:srgbClr val="146C64"/>
                </a:solidFill>
              </a:rPr>
              <a:t>Sau xử lý</a:t>
            </a:r>
          </a:p>
        </p:txBody>
      </p:sp>
      <p:pic>
        <p:nvPicPr>
          <p:cNvPr id="16" name="">
            <a:extLst xmlns:a="http://schemas.openxmlformats.org/drawingml/2006/main">
              <a:ext uri="{FF2B5EF4-FFF2-40B4-BE49-F238E27FC236}">
                <a16:creationId xmlns:a16="http://schemas.microsoft.com/office/drawing/2014/main" id="{C20E0A51-03D4-47BC-8C66-9169AD822743}"/>
              </a:ext>
            </a:extLst>
          </p:cNvPr>
          <p:cNvPicPr>
            <a:picLocks xmlns:a="http://schemas.openxmlformats.org/drawingml/2006/main" noChangeAspect="1"/>
          </p:cNvPicPr>
          <p:nvPr/>
        </p:nvPicPr>
        <p:blipFill>
          <a:blip xmlns:r="http://schemas.openxmlformats.org/officeDocument/2006/relationships" xmlns:a="http://schemas.openxmlformats.org/drawingml/2006/main" r:embed="Rfee17d1d91b94805"/>
          <a:stretch xmlns:a="http://schemas.openxmlformats.org/drawingml/2006/main"/>
        </p:blipFill>
        <p:spPr>
          <a:xfrm xmlns:a="http://schemas.openxmlformats.org/drawingml/2006/main">
            <a:off x="7762875" y="3857625"/>
            <a:ext cx="1428750" cy="1428750"/>
          </a:xfrm>
          <a:prstGeom xmlns:a="http://schemas.openxmlformats.org/drawingml/2006/main" prst="rect">
            <a:avLst/>
          </a:prstGeom>
        </p:spPr>
      </p:pic>
      <p:sp>
        <p:nvSpPr>
          <p:cNvPr id="17" name="sync-25-575-65">
            <a:extLst xmlns:a="http://schemas.openxmlformats.org/drawingml/2006/main">
              <a:ext uri="{FF2B5EF4-FFF2-40B4-BE49-F238E27FC236}">
                <a16:creationId xmlns:a16="http://schemas.microsoft.com/office/drawing/2014/main" id="{7B21D3C3-9AF9-4407-AC3E-AA9CA2A51FF8}"/>
              </a:ext>
            </a:extLst>
          </p:cNvPr>
          <p:cNvSpPr>
            <a:spLocks xmlns:a="http://schemas.openxmlformats.org/drawingml/2006/main" noGrp="1"/>
          </p:cNvSpPr>
          <p:nvPr/>
        </p:nvSpPr>
        <p:spPr>
          <a:xfrm xmlns:a="http://schemas.openxmlformats.org/drawingml/2006/main">
            <a:off x="619125" y="5476875"/>
            <a:ext cx="1095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0616D"/>
                </a:solidFill>
              </a:defRPr>
            </a:defPPr>
            <a:lvl1pPr>
              <a:defRPr sz="1425" b="0">
                <a:solidFill>
                  <a:srgbClr val="50616D"/>
                </a:solidFill>
              </a:defRPr>
            </a:lvl1pPr>
            <a:lvl2pPr>
              <a:defRPr sz="1425" b="0">
                <a:solidFill>
                  <a:srgbClr val="50616D"/>
                </a:solidFill>
              </a:defRPr>
            </a:lvl2pPr>
            <a:lvl3pPr>
              <a:defRPr sz="1425" b="0">
                <a:solidFill>
                  <a:srgbClr val="50616D"/>
                </a:solidFill>
              </a:defRPr>
            </a:lvl3pPr>
            <a:lvl4pPr>
              <a:defRPr sz="1425" b="0">
                <a:solidFill>
                  <a:srgbClr val="50616D"/>
                </a:solidFill>
              </a:defRPr>
            </a:lvl4pPr>
            <a:lvl5pPr>
              <a:defRPr sz="1425" b="0">
                <a:solidFill>
                  <a:srgbClr val="50616D"/>
                </a:solidFill>
              </a:defRPr>
            </a:lvl5pPr>
            <a:lvl6pPr>
              <a:defRPr sz="1425" b="0">
                <a:solidFill>
                  <a:srgbClr val="50616D"/>
                </a:solidFill>
              </a:defRPr>
            </a:lvl6pPr>
            <a:lvl7pPr>
              <a:defRPr sz="1425" b="0">
                <a:solidFill>
                  <a:srgbClr val="50616D"/>
                </a:solidFill>
              </a:defRPr>
            </a:lvl7pPr>
            <a:lvl8pPr>
              <a:defRPr sz="1425" b="0">
                <a:solidFill>
                  <a:srgbClr val="50616D"/>
                </a:solidFill>
              </a:defRPr>
            </a:lvl8pPr>
            <a:lvl9pPr>
              <a:defRPr sz="1425" b="0">
                <a:solidFill>
                  <a:srgbClr val="50616D"/>
                </a:solidFill>
              </a:defRPr>
            </a:lvl9pPr>
          </a:lstStyle>
          <a:p xmlns:a="http://schemas.openxmlformats.org/drawingml/2006/main">
            <a:pPr>
              <a:defRPr sz="1425" b="0">
                <a:solidFill>
                  <a:srgbClr val="50616D"/>
                </a:solidFill>
              </a:defRPr>
            </a:pPr>
            <a:r>
              <a:rPr sz="1425" b="0">
                <a:solidFill>
                  <a:srgbClr val="50616D"/>
                </a:solidFill>
              </a:rPr>
              <a:t>Ví dụ ảnh đã lưu từ thực nghiệm; demo tương tác thực hiện trực tiếp.</a:t>
            </a:r>
          </a:p>
        </p:txBody>
      </p:sp>
    </p:spTree>
    <p:extLst>
      <p:ext uri="{BB962C8B-B14F-4D97-AF65-F5344CB8AC3E}">
        <p14:creationId xmlns:p14="http://schemas.microsoft.com/office/powerpoint/2010/main" val="194283145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Hình chữ nhật 8">
            <a:extLst xmlns:a="http://schemas.openxmlformats.org/drawingml/2006/main">
              <a:ext uri="{FF2B5EF4-FFF2-40B4-BE49-F238E27FC236}">
                <a16:creationId xmlns:a16="http://schemas.microsoft.com/office/drawing/2014/main" id="{12914C40-522F-4063-AF3D-EEC3641623A3}"/>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Kết luận về tăng cường và phục hồi ảnh</a:t>
            </a:r>
          </a:p>
        </p:txBody>
      </p:sp>
      <p:sp>
        <p:nvSpPr>
          <p:cNvPr id="2" name="Hình chữ nhật 1">
            <a:extLst xmlns:a="http://schemas.openxmlformats.org/drawingml/2006/main">
              <a:ext uri="{FF2B5EF4-FFF2-40B4-BE49-F238E27FC236}">
                <a16:creationId xmlns:a16="http://schemas.microsoft.com/office/drawing/2014/main" id="{0DD35D98-49BE-436A-BF6D-2A3AB37BF67F}"/>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Chương 11  Kết luận</a:t>
            </a:r>
          </a:p>
        </p:txBody>
      </p:sp>
      <p:sp>
        <p:nvSpPr>
          <p:cNvPr id="3" name="Hình chữ nhật 2">
            <a:extLst xmlns:a="http://schemas.openxmlformats.org/drawingml/2006/main">
              <a:ext uri="{FF2B5EF4-FFF2-40B4-BE49-F238E27FC236}">
                <a16:creationId xmlns:a16="http://schemas.microsoft.com/office/drawing/2014/main" id="{DB98107E-F156-47E0-813C-F72BED1915E5}"/>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26</a:t>
            </a:r>
          </a:p>
        </p:txBody>
      </p:sp>
      <p:sp>
        <p:nvSpPr>
          <p:cNvPr id="4" name="Hình chữ nhật 3">
            <a:extLst xmlns:a="http://schemas.openxmlformats.org/drawingml/2006/main">
              <a:ext uri="{FF2B5EF4-FFF2-40B4-BE49-F238E27FC236}">
                <a16:creationId xmlns:a16="http://schemas.microsoft.com/office/drawing/2014/main" id="{5D012117-6329-45C4-B2CD-7F07C0BC05E4}"/>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sp>
        <p:nvSpPr>
          <p:cNvPr id="5" name="Hình chữ nhật 4">
            <a:extLst xmlns:a="http://schemas.openxmlformats.org/drawingml/2006/main">
              <a:ext uri="{FF2B5EF4-FFF2-40B4-BE49-F238E27FC236}">
                <a16:creationId xmlns:a16="http://schemas.microsoft.com/office/drawing/2014/main" id="{F445224E-0119-4706-96E3-35C397C4D100}"/>
              </a:ext>
            </a:extLst>
          </p:cNvPr>
          <p:cNvSpPr>
            <a:spLocks xmlns:a="http://schemas.openxmlformats.org/drawingml/2006/main" noGrp="1"/>
          </p:cNvSpPr>
          <p:nvPr/>
        </p:nvSpPr>
        <p:spPr>
          <a:xfrm xmlns:a="http://schemas.openxmlformats.org/drawingml/2006/main">
            <a:off x="619125" y="20955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42C40"/>
                </a:solidFill>
              </a:defRPr>
            </a:defPPr>
            <a:lvl1pPr>
              <a:defRPr sz="2325" b="0">
                <a:solidFill>
                  <a:srgbClr val="142C40"/>
                </a:solidFill>
              </a:defRPr>
            </a:lvl1pPr>
            <a:lvl2pPr>
              <a:defRPr sz="2325" b="0">
                <a:solidFill>
                  <a:srgbClr val="142C40"/>
                </a:solidFill>
              </a:defRPr>
            </a:lvl2pPr>
            <a:lvl3pPr>
              <a:defRPr sz="2325" b="0">
                <a:solidFill>
                  <a:srgbClr val="142C40"/>
                </a:solidFill>
              </a:defRPr>
            </a:lvl3pPr>
            <a:lvl4pPr>
              <a:defRPr sz="2325" b="0">
                <a:solidFill>
                  <a:srgbClr val="142C40"/>
                </a:solidFill>
              </a:defRPr>
            </a:lvl4pPr>
            <a:lvl5pPr>
              <a:defRPr sz="2325" b="0">
                <a:solidFill>
                  <a:srgbClr val="142C40"/>
                </a:solidFill>
              </a:defRPr>
            </a:lvl5pPr>
            <a:lvl6pPr>
              <a:defRPr sz="2325" b="0">
                <a:solidFill>
                  <a:srgbClr val="142C40"/>
                </a:solidFill>
              </a:defRPr>
            </a:lvl6pPr>
            <a:lvl7pPr>
              <a:defRPr sz="2325" b="0">
                <a:solidFill>
                  <a:srgbClr val="142C40"/>
                </a:solidFill>
              </a:defRPr>
            </a:lvl7pPr>
            <a:lvl8pPr>
              <a:defRPr sz="2325" b="0">
                <a:solidFill>
                  <a:srgbClr val="142C40"/>
                </a:solidFill>
              </a:defRPr>
            </a:lvl8pPr>
            <a:lvl9pPr>
              <a:defRPr sz="2325" b="0">
                <a:solidFill>
                  <a:srgbClr val="142C40"/>
                </a:solidFill>
              </a:defRPr>
            </a:lvl9pPr>
          </a:lstStyle>
          <a:p xmlns:a="http://schemas.openxmlformats.org/drawingml/2006/main">
            <a:pPr>
              <a:buNone/>
              <a:defRPr sz="2325" b="0">
                <a:solidFill>
                  <a:srgbClr val="142C40"/>
                </a:solidFill>
              </a:defRPr>
            </a:pPr>
            <a:r>
              <a:rPr sz="2325" b="0">
                <a:solidFill>
                  <a:srgbClr val="142C40"/>
                </a:solidFill>
              </a:rPr>
              <a:t>Hiệu quả phụ thuộc cơ chế suy giảm, mức và tham số.</a:t>
            </a:r>
          </a:p>
        </p:txBody>
      </p:sp>
      <p:sp>
        <p:nvSpPr>
          <p:cNvPr id="6" name="Hình chữ nhật 5">
            <a:extLst xmlns:a="http://schemas.openxmlformats.org/drawingml/2006/main">
              <a:ext uri="{FF2B5EF4-FFF2-40B4-BE49-F238E27FC236}">
                <a16:creationId xmlns:a16="http://schemas.microsoft.com/office/drawing/2014/main" id="{F0B31E55-F0A6-4066-B27D-691FB6EB5794}"/>
              </a:ext>
            </a:extLst>
          </p:cNvPr>
          <p:cNvSpPr>
            <a:spLocks xmlns:a="http://schemas.openxmlformats.org/drawingml/2006/main" noGrp="1"/>
          </p:cNvSpPr>
          <p:nvPr/>
        </p:nvSpPr>
        <p:spPr>
          <a:xfrm xmlns:a="http://schemas.openxmlformats.org/drawingml/2006/main">
            <a:off x="619125" y="29718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42C40"/>
                </a:solidFill>
              </a:defRPr>
            </a:defPPr>
            <a:lvl1pPr>
              <a:defRPr sz="2325" b="0">
                <a:solidFill>
                  <a:srgbClr val="142C40"/>
                </a:solidFill>
              </a:defRPr>
            </a:lvl1pPr>
            <a:lvl2pPr>
              <a:defRPr sz="2325" b="0">
                <a:solidFill>
                  <a:srgbClr val="142C40"/>
                </a:solidFill>
              </a:defRPr>
            </a:lvl2pPr>
            <a:lvl3pPr>
              <a:defRPr sz="2325" b="0">
                <a:solidFill>
                  <a:srgbClr val="142C40"/>
                </a:solidFill>
              </a:defRPr>
            </a:lvl3pPr>
            <a:lvl4pPr>
              <a:defRPr sz="2325" b="0">
                <a:solidFill>
                  <a:srgbClr val="142C40"/>
                </a:solidFill>
              </a:defRPr>
            </a:lvl4pPr>
            <a:lvl5pPr>
              <a:defRPr sz="2325" b="0">
                <a:solidFill>
                  <a:srgbClr val="142C40"/>
                </a:solidFill>
              </a:defRPr>
            </a:lvl5pPr>
            <a:lvl6pPr>
              <a:defRPr sz="2325" b="0">
                <a:solidFill>
                  <a:srgbClr val="142C40"/>
                </a:solidFill>
              </a:defRPr>
            </a:lvl6pPr>
            <a:lvl7pPr>
              <a:defRPr sz="2325" b="0">
                <a:solidFill>
                  <a:srgbClr val="142C40"/>
                </a:solidFill>
              </a:defRPr>
            </a:lvl7pPr>
            <a:lvl8pPr>
              <a:defRPr sz="2325" b="0">
                <a:solidFill>
                  <a:srgbClr val="142C40"/>
                </a:solidFill>
              </a:defRPr>
            </a:lvl8pPr>
            <a:lvl9pPr>
              <a:defRPr sz="2325" b="0">
                <a:solidFill>
                  <a:srgbClr val="142C40"/>
                </a:solidFill>
              </a:defRPr>
            </a:lvl9pPr>
          </a:lstStyle>
          <a:p xmlns:a="http://schemas.openxmlformats.org/drawingml/2006/main">
            <a:pPr>
              <a:buNone/>
              <a:defRPr sz="2325" b="0">
                <a:solidFill>
                  <a:srgbClr val="142C40"/>
                </a:solidFill>
              </a:defRPr>
            </a:pPr>
            <a:r>
              <a:rPr sz="2325" b="0">
                <a:solidFill>
                  <a:srgbClr val="142C40"/>
                </a:solidFill>
              </a:rPr>
              <a:t>Khử nhiễu cần cân bằng với giữ biên và chi tiết.</a:t>
            </a:r>
          </a:p>
        </p:txBody>
      </p:sp>
      <p:sp>
        <p:nvSpPr>
          <p:cNvPr id="7" name="Hình chữ nhật 6">
            <a:extLst xmlns:a="http://schemas.openxmlformats.org/drawingml/2006/main">
              <a:ext uri="{FF2B5EF4-FFF2-40B4-BE49-F238E27FC236}">
                <a16:creationId xmlns:a16="http://schemas.microsoft.com/office/drawing/2014/main" id="{540EBD2B-E951-4E98-8B80-7AF0E4763816}"/>
              </a:ext>
            </a:extLst>
          </p:cNvPr>
          <p:cNvSpPr>
            <a:spLocks xmlns:a="http://schemas.openxmlformats.org/drawingml/2006/main" noGrp="1"/>
          </p:cNvSpPr>
          <p:nvPr/>
        </p:nvSpPr>
        <p:spPr>
          <a:xfrm xmlns:a="http://schemas.openxmlformats.org/drawingml/2006/main">
            <a:off x="619125" y="38481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42C40"/>
                </a:solidFill>
              </a:defRPr>
            </a:defPPr>
            <a:lvl1pPr>
              <a:defRPr sz="2325" b="0">
                <a:solidFill>
                  <a:srgbClr val="142C40"/>
                </a:solidFill>
              </a:defRPr>
            </a:lvl1pPr>
            <a:lvl2pPr>
              <a:defRPr sz="2325" b="0">
                <a:solidFill>
                  <a:srgbClr val="142C40"/>
                </a:solidFill>
              </a:defRPr>
            </a:lvl2pPr>
            <a:lvl3pPr>
              <a:defRPr sz="2325" b="0">
                <a:solidFill>
                  <a:srgbClr val="142C40"/>
                </a:solidFill>
              </a:defRPr>
            </a:lvl3pPr>
            <a:lvl4pPr>
              <a:defRPr sz="2325" b="0">
                <a:solidFill>
                  <a:srgbClr val="142C40"/>
                </a:solidFill>
              </a:defRPr>
            </a:lvl4pPr>
            <a:lvl5pPr>
              <a:defRPr sz="2325" b="0">
                <a:solidFill>
                  <a:srgbClr val="142C40"/>
                </a:solidFill>
              </a:defRPr>
            </a:lvl5pPr>
            <a:lvl6pPr>
              <a:defRPr sz="2325" b="0">
                <a:solidFill>
                  <a:srgbClr val="142C40"/>
                </a:solidFill>
              </a:defRPr>
            </a:lvl6pPr>
            <a:lvl7pPr>
              <a:defRPr sz="2325" b="0">
                <a:solidFill>
                  <a:srgbClr val="142C40"/>
                </a:solidFill>
              </a:defRPr>
            </a:lvl7pPr>
            <a:lvl8pPr>
              <a:defRPr sz="2325" b="0">
                <a:solidFill>
                  <a:srgbClr val="142C40"/>
                </a:solidFill>
              </a:defRPr>
            </a:lvl8pPr>
            <a:lvl9pPr>
              <a:defRPr sz="2325" b="0">
                <a:solidFill>
                  <a:srgbClr val="142C40"/>
                </a:solidFill>
              </a:defRPr>
            </a:lvl9pPr>
          </a:lstStyle>
          <a:p xmlns:a="http://schemas.openxmlformats.org/drawingml/2006/main">
            <a:pPr>
              <a:buNone/>
              <a:defRPr sz="2325" b="0">
                <a:solidFill>
                  <a:srgbClr val="142C40"/>
                </a:solidFill>
              </a:defRPr>
            </a:pPr>
            <a:r>
              <a:rPr sz="2325" b="0">
                <a:solidFill>
                  <a:srgbClr val="142C40"/>
                </a:solidFill>
              </a:rPr>
              <a:t>Giả</a:t>
            </a:r>
            <a:r>
              <a:rPr sz="2325" b="0">
                <a:solidFill>
                  <a:srgbClr val="142C40"/>
                </a:solidFill>
              </a:rPr>
              <a:t> </a:t>
            </a:r>
            <a:r>
              <a:rPr sz="2325" b="0">
                <a:solidFill>
                  <a:srgbClr val="142C40"/>
                </a:solidFill>
              </a:rPr>
              <a:t>định</a:t>
            </a:r>
            <a:r>
              <a:rPr sz="2325" b="0">
                <a:solidFill>
                  <a:srgbClr val="142C40"/>
                </a:solidFill>
              </a:rPr>
              <a:t> </a:t>
            </a:r>
            <a:r>
              <a:rPr sz="2325" b="0">
                <a:solidFill>
                  <a:srgbClr val="142C40"/>
                </a:solidFill>
              </a:rPr>
              <a:t>trung</a:t>
            </a:r>
            <a:r>
              <a:rPr sz="2325" b="0">
                <a:solidFill>
                  <a:srgbClr val="142C40"/>
                </a:solidFill>
              </a:rPr>
              <a:t> </a:t>
            </a:r>
            <a:r>
              <a:rPr sz="2325" b="0">
                <a:solidFill>
                  <a:srgbClr val="142C40"/>
                </a:solidFill>
              </a:rPr>
              <a:t>tính</a:t>
            </a:r>
            <a:r>
              <a:rPr sz="2325" b="0">
                <a:solidFill>
                  <a:srgbClr val="142C40"/>
                </a:solidFill>
              </a:rPr>
              <a:t> </a:t>
            </a:r>
            <a:r>
              <a:rPr sz="2325" b="0">
                <a:solidFill>
                  <a:srgbClr val="142C40"/>
                </a:solidFill>
              </a:rPr>
              <a:t>màu</a:t>
            </a:r>
            <a:r>
              <a:rPr sz="2325" b="0">
                <a:solidFill>
                  <a:srgbClr val="142C40"/>
                </a:solidFill>
              </a:rPr>
              <a:t> </a:t>
            </a:r>
            <a:r>
              <a:rPr sz="2325" b="0">
                <a:solidFill>
                  <a:srgbClr val="142C40"/>
                </a:solidFill>
              </a:rPr>
              <a:t>có</a:t>
            </a:r>
            <a:r>
              <a:rPr sz="2325" b="0">
                <a:solidFill>
                  <a:srgbClr val="142C40"/>
                </a:solidFill>
              </a:rPr>
              <a:t> </a:t>
            </a:r>
            <a:r>
              <a:rPr sz="2325" b="0">
                <a:solidFill>
                  <a:srgbClr val="142C40"/>
                </a:solidFill>
              </a:rPr>
              <a:t>thể</a:t>
            </a:r>
            <a:r>
              <a:rPr sz="2325" b="0">
                <a:solidFill>
                  <a:srgbClr val="142C40"/>
                </a:solidFill>
              </a:rPr>
              <a:t> </a:t>
            </a:r>
            <a:r>
              <a:rPr sz="2325" b="0">
                <a:solidFill>
                  <a:srgbClr val="142C40"/>
                </a:solidFill>
              </a:rPr>
              <a:t>sai</a:t>
            </a:r>
            <a:r>
              <a:rPr sz="2325" b="0">
                <a:solidFill>
                  <a:srgbClr val="142C40"/>
                </a:solidFill>
              </a:rPr>
              <a:t> </a:t>
            </a:r>
            <a:r>
              <a:rPr sz="2325" b="0">
                <a:solidFill>
                  <a:srgbClr val="142C40"/>
                </a:solidFill>
              </a:rPr>
              <a:t>trên</a:t>
            </a:r>
            <a:r>
              <a:rPr sz="2325" b="0">
                <a:solidFill>
                  <a:srgbClr val="142C40"/>
                </a:solidFill>
              </a:rPr>
              <a:t> </a:t>
            </a:r>
            <a:r>
              <a:rPr sz="2325" b="0">
                <a:solidFill>
                  <a:srgbClr val="142C40"/>
                </a:solidFill>
              </a:rPr>
              <a:t>cảnh</a:t>
            </a:r>
            <a:r>
              <a:rPr sz="2325" b="0">
                <a:solidFill>
                  <a:srgbClr val="142C40"/>
                </a:solidFill>
              </a:rPr>
              <a:t> </a:t>
            </a:r>
            <a:r>
              <a:rPr sz="2325" b="0">
                <a:solidFill>
                  <a:srgbClr val="142C40"/>
                </a:solidFill>
              </a:rPr>
              <a:t>hoa</a:t>
            </a:r>
            <a:r>
              <a:rPr sz="2325" b="0">
                <a:solidFill>
                  <a:srgbClr val="142C40"/>
                </a:solidFill>
              </a:rPr>
              <a:t> </a:t>
            </a:r>
            <a:r>
              <a:rPr sz="2325" b="0">
                <a:solidFill>
                  <a:srgbClr val="142C40"/>
                </a:solidFill>
              </a:rPr>
              <a:t>màu</a:t>
            </a:r>
            <a:r>
              <a:rPr sz="2325" b="0">
                <a:solidFill>
                  <a:srgbClr val="142C40"/>
                </a:solidFill>
              </a:rPr>
              <a:t> </a:t>
            </a:r>
            <a:r>
              <a:rPr sz="2325" b="0">
                <a:solidFill>
                  <a:srgbClr val="142C40"/>
                </a:solidFill>
              </a:rPr>
              <a:t>trội</a:t>
            </a:r>
            <a:r>
              <a:rPr sz="2325" b="0">
                <a:solidFill>
                  <a:srgbClr val="142C40"/>
                </a:solidFill>
              </a:rPr>
              <a:t>.</a:t>
            </a:r>
          </a:p>
        </p:txBody>
      </p:sp>
      <p:sp>
        <p:nvSpPr>
          <p:cNvPr id="8" name="Hình chữ nhật 7">
            <a:extLst xmlns:a="http://schemas.openxmlformats.org/drawingml/2006/main">
              <a:ext uri="{FF2B5EF4-FFF2-40B4-BE49-F238E27FC236}">
                <a16:creationId xmlns:a16="http://schemas.microsoft.com/office/drawing/2014/main" id="{8F685272-1D72-49DA-A6EA-A8BEC90CC2CD}"/>
              </a:ext>
            </a:extLst>
          </p:cNvPr>
          <p:cNvSpPr>
            <a:spLocks xmlns:a="http://schemas.openxmlformats.org/drawingml/2006/main" noGrp="1"/>
          </p:cNvSpPr>
          <p:nvPr/>
        </p:nvSpPr>
        <p:spPr>
          <a:xfrm xmlns:a="http://schemas.openxmlformats.org/drawingml/2006/main">
            <a:off x="619125" y="47244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42C40"/>
                </a:solidFill>
              </a:defRPr>
            </a:defPPr>
            <a:lvl1pPr>
              <a:defRPr sz="2325" b="0">
                <a:solidFill>
                  <a:srgbClr val="142C40"/>
                </a:solidFill>
              </a:defRPr>
            </a:lvl1pPr>
            <a:lvl2pPr>
              <a:defRPr sz="2325" b="0">
                <a:solidFill>
                  <a:srgbClr val="142C40"/>
                </a:solidFill>
              </a:defRPr>
            </a:lvl2pPr>
            <a:lvl3pPr>
              <a:defRPr sz="2325" b="0">
                <a:solidFill>
                  <a:srgbClr val="142C40"/>
                </a:solidFill>
              </a:defRPr>
            </a:lvl3pPr>
            <a:lvl4pPr>
              <a:defRPr sz="2325" b="0">
                <a:solidFill>
                  <a:srgbClr val="142C40"/>
                </a:solidFill>
              </a:defRPr>
            </a:lvl4pPr>
            <a:lvl5pPr>
              <a:defRPr sz="2325" b="0">
                <a:solidFill>
                  <a:srgbClr val="142C40"/>
                </a:solidFill>
              </a:defRPr>
            </a:lvl5pPr>
            <a:lvl6pPr>
              <a:defRPr sz="2325" b="0">
                <a:solidFill>
                  <a:srgbClr val="142C40"/>
                </a:solidFill>
              </a:defRPr>
            </a:lvl6pPr>
            <a:lvl7pPr>
              <a:defRPr sz="2325" b="0">
                <a:solidFill>
                  <a:srgbClr val="142C40"/>
                </a:solidFill>
              </a:defRPr>
            </a:lvl7pPr>
            <a:lvl8pPr>
              <a:defRPr sz="2325" b="0">
                <a:solidFill>
                  <a:srgbClr val="142C40"/>
                </a:solidFill>
              </a:defRPr>
            </a:lvl8pPr>
            <a:lvl9pPr>
              <a:defRPr sz="2325" b="0">
                <a:solidFill>
                  <a:srgbClr val="142C40"/>
                </a:solidFill>
              </a:defRPr>
            </a:lvl9pPr>
          </a:lstStyle>
          <a:p xmlns:a="http://schemas.openxmlformats.org/drawingml/2006/main">
            <a:pPr>
              <a:buNone/>
              <a:defRPr sz="2325" b="0">
                <a:solidFill>
                  <a:srgbClr val="142C40"/>
                </a:solidFill>
              </a:defRPr>
            </a:pPr>
            <a:r>
              <a:rPr sz="2325" b="0">
                <a:solidFill>
                  <a:srgbClr val="142C40"/>
                </a:solidFill>
              </a:rPr>
              <a:t>Đo chất lượng ảnh và nhận diện như hai kết quả riêng.</a:t>
            </a:r>
          </a:p>
        </p:txBody>
      </p:sp>
    </p:spTree>
    <p:extLst>
      <p:ext uri="{BB962C8B-B14F-4D97-AF65-F5344CB8AC3E}">
        <p14:creationId xmlns:p14="http://schemas.microsoft.com/office/powerpoint/2010/main" val="47113098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Hình chữ nhật 8">
            <a:extLst xmlns:a="http://schemas.openxmlformats.org/drawingml/2006/main">
              <a:ext uri="{FF2B5EF4-FFF2-40B4-BE49-F238E27FC236}">
                <a16:creationId xmlns:a16="http://schemas.microsoft.com/office/drawing/2014/main" id="{71C4EE89-31D1-4071-BD69-1245856BC05C}"/>
              </a:ext>
            </a:extLst>
          </p:cNvPr>
          <p:cNvSpPr>
            <a:spLocks xmlns:a="http://schemas.openxmlformats.org/drawingml/2006/main" noGrp="1"/>
          </p:cNvSpPr>
          <p:nvPr/>
        </p:nvSpPr>
        <p:spPr>
          <a:xfrm xmlns:a="http://schemas.openxmlformats.org/drawingml/2006/main">
            <a:off x="571500" y="3810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42C40"/>
                </a:solidFill>
              </a:defRPr>
            </a:defPPr>
            <a:lvl1pPr>
              <a:defRPr sz="2850" b="1">
                <a:solidFill>
                  <a:srgbClr val="142C40"/>
                </a:solidFill>
              </a:defRPr>
            </a:lvl1pPr>
            <a:lvl2pPr>
              <a:defRPr sz="2850" b="1">
                <a:solidFill>
                  <a:srgbClr val="142C40"/>
                </a:solidFill>
              </a:defRPr>
            </a:lvl2pPr>
            <a:lvl3pPr>
              <a:defRPr sz="2850" b="1">
                <a:solidFill>
                  <a:srgbClr val="142C40"/>
                </a:solidFill>
              </a:defRPr>
            </a:lvl3pPr>
            <a:lvl4pPr>
              <a:defRPr sz="2850" b="1">
                <a:solidFill>
                  <a:srgbClr val="142C40"/>
                </a:solidFill>
              </a:defRPr>
            </a:lvl4pPr>
            <a:lvl5pPr>
              <a:defRPr sz="2850" b="1">
                <a:solidFill>
                  <a:srgbClr val="142C40"/>
                </a:solidFill>
              </a:defRPr>
            </a:lvl5pPr>
            <a:lvl6pPr>
              <a:defRPr sz="2850" b="1">
                <a:solidFill>
                  <a:srgbClr val="142C40"/>
                </a:solidFill>
              </a:defRPr>
            </a:lvl6pPr>
            <a:lvl7pPr>
              <a:defRPr sz="2850" b="1">
                <a:solidFill>
                  <a:srgbClr val="142C40"/>
                </a:solidFill>
              </a:defRPr>
            </a:lvl7pPr>
            <a:lvl8pPr>
              <a:defRPr sz="2850" b="1">
                <a:solidFill>
                  <a:srgbClr val="142C40"/>
                </a:solidFill>
              </a:defRPr>
            </a:lvl8pPr>
            <a:lvl9pPr>
              <a:defRPr sz="2850" b="1">
                <a:solidFill>
                  <a:srgbClr val="142C40"/>
                </a:solidFill>
              </a:defRPr>
            </a:lvl9pPr>
          </a:lstStyle>
          <a:p xmlns:a="http://schemas.openxmlformats.org/drawingml/2006/main">
            <a:pPr>
              <a:buNone/>
              <a:defRPr sz="2850" b="1">
                <a:solidFill>
                  <a:srgbClr val="142C40"/>
                </a:solidFill>
              </a:defRPr>
            </a:pPr>
            <a:r>
              <a:rPr sz="2850" b="1">
                <a:solidFill>
                  <a:srgbClr val="142C40"/>
                </a:solidFill>
              </a:rPr>
              <a:t>Hạn chế và hướng phát triển</a:t>
            </a:r>
          </a:p>
        </p:txBody>
      </p:sp>
      <p:sp>
        <p:nvSpPr>
          <p:cNvPr id="2" name="Hình chữ nhật 1">
            <a:extLst xmlns:a="http://schemas.openxmlformats.org/drawingml/2006/main">
              <a:ext uri="{FF2B5EF4-FFF2-40B4-BE49-F238E27FC236}">
                <a16:creationId xmlns:a16="http://schemas.microsoft.com/office/drawing/2014/main" id="{EC129255-1AA6-469C-AA01-53B6DD1C9BB8}"/>
              </a:ext>
            </a:extLst>
          </p:cNvPr>
          <p:cNvSpPr>
            <a:spLocks xmlns:a="http://schemas.openxmlformats.org/drawingml/2006/main" noGrp="1"/>
          </p:cNvSpPr>
          <p:nvPr/>
        </p:nvSpPr>
        <p:spPr>
          <a:xfrm xmlns:a="http://schemas.openxmlformats.org/drawingml/2006/main">
            <a:off x="571500" y="1352550"/>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146C64"/>
                </a:solidFill>
              </a:defRPr>
            </a:defPPr>
            <a:lvl1pPr>
              <a:defRPr sz="1425" b="0">
                <a:solidFill>
                  <a:srgbClr val="146C64"/>
                </a:solidFill>
              </a:defRPr>
            </a:lvl1pPr>
            <a:lvl2pPr>
              <a:defRPr sz="1425" b="0">
                <a:solidFill>
                  <a:srgbClr val="146C64"/>
                </a:solidFill>
              </a:defRPr>
            </a:lvl2pPr>
            <a:lvl3pPr>
              <a:defRPr sz="1425" b="0">
                <a:solidFill>
                  <a:srgbClr val="146C64"/>
                </a:solidFill>
              </a:defRPr>
            </a:lvl3pPr>
            <a:lvl4pPr>
              <a:defRPr sz="1425" b="0">
                <a:solidFill>
                  <a:srgbClr val="146C64"/>
                </a:solidFill>
              </a:defRPr>
            </a:lvl4pPr>
            <a:lvl5pPr>
              <a:defRPr sz="1425" b="0">
                <a:solidFill>
                  <a:srgbClr val="146C64"/>
                </a:solidFill>
              </a:defRPr>
            </a:lvl5pPr>
            <a:lvl6pPr>
              <a:defRPr sz="1425" b="0">
                <a:solidFill>
                  <a:srgbClr val="146C64"/>
                </a:solidFill>
              </a:defRPr>
            </a:lvl6pPr>
            <a:lvl7pPr>
              <a:defRPr sz="1425" b="0">
                <a:solidFill>
                  <a:srgbClr val="146C64"/>
                </a:solidFill>
              </a:defRPr>
            </a:lvl7pPr>
            <a:lvl8pPr>
              <a:defRPr sz="1425" b="0">
                <a:solidFill>
                  <a:srgbClr val="146C64"/>
                </a:solidFill>
              </a:defRPr>
            </a:lvl8pPr>
            <a:lvl9pPr>
              <a:defRPr sz="1425" b="0">
                <a:solidFill>
                  <a:srgbClr val="146C64"/>
                </a:solidFill>
              </a:defRPr>
            </a:lvl9pPr>
          </a:lstStyle>
          <a:p xmlns:a="http://schemas.openxmlformats.org/drawingml/2006/main">
            <a:pPr>
              <a:buNone/>
              <a:defRPr sz="1425" b="0">
                <a:solidFill>
                  <a:srgbClr val="146C64"/>
                </a:solidFill>
              </a:defRPr>
            </a:pPr>
            <a:r>
              <a:rPr sz="1425" b="0">
                <a:solidFill>
                  <a:srgbClr val="146C64"/>
                </a:solidFill>
              </a:rPr>
              <a:t>Chương 12  Hạn chế và hướng phát triển</a:t>
            </a:r>
          </a:p>
        </p:txBody>
      </p:sp>
      <p:sp>
        <p:nvSpPr>
          <p:cNvPr id="3" name="Hình chữ nhật 2">
            <a:extLst xmlns:a="http://schemas.openxmlformats.org/drawingml/2006/main">
              <a:ext uri="{FF2B5EF4-FFF2-40B4-BE49-F238E27FC236}">
                <a16:creationId xmlns:a16="http://schemas.microsoft.com/office/drawing/2014/main" id="{7F948592-C685-4207-A69C-53E5CC5016D7}"/>
              </a:ext>
            </a:extLst>
          </p:cNvPr>
          <p:cNvSpPr>
            <a:spLocks xmlns:a="http://schemas.openxmlformats.org/drawingml/2006/main" noGrp="1"/>
          </p:cNvSpPr>
          <p:nvPr/>
        </p:nvSpPr>
        <p:spPr>
          <a:xfrm xmlns:a="http://schemas.openxmlformats.org/drawingml/2006/main">
            <a:off x="11049000" y="638175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16D"/>
                </a:solidFill>
              </a:defRPr>
            </a:defPPr>
            <a:lvl1pPr>
              <a:defRPr sz="1275" b="0">
                <a:solidFill>
                  <a:srgbClr val="50616D"/>
                </a:solidFill>
              </a:defRPr>
            </a:lvl1pPr>
            <a:lvl2pPr>
              <a:defRPr sz="1275" b="0">
                <a:solidFill>
                  <a:srgbClr val="50616D"/>
                </a:solidFill>
              </a:defRPr>
            </a:lvl2pPr>
            <a:lvl3pPr>
              <a:defRPr sz="1275" b="0">
                <a:solidFill>
                  <a:srgbClr val="50616D"/>
                </a:solidFill>
              </a:defRPr>
            </a:lvl3pPr>
            <a:lvl4pPr>
              <a:defRPr sz="1275" b="0">
                <a:solidFill>
                  <a:srgbClr val="50616D"/>
                </a:solidFill>
              </a:defRPr>
            </a:lvl4pPr>
            <a:lvl5pPr>
              <a:defRPr sz="1275" b="0">
                <a:solidFill>
                  <a:srgbClr val="50616D"/>
                </a:solidFill>
              </a:defRPr>
            </a:lvl5pPr>
            <a:lvl6pPr>
              <a:defRPr sz="1275" b="0">
                <a:solidFill>
                  <a:srgbClr val="50616D"/>
                </a:solidFill>
              </a:defRPr>
            </a:lvl6pPr>
            <a:lvl7pPr>
              <a:defRPr sz="1275" b="0">
                <a:solidFill>
                  <a:srgbClr val="50616D"/>
                </a:solidFill>
              </a:defRPr>
            </a:lvl7pPr>
            <a:lvl8pPr>
              <a:defRPr sz="1275" b="0">
                <a:solidFill>
                  <a:srgbClr val="50616D"/>
                </a:solidFill>
              </a:defRPr>
            </a:lvl8pPr>
            <a:lvl9pPr>
              <a:defRPr sz="1275" b="0">
                <a:solidFill>
                  <a:srgbClr val="50616D"/>
                </a:solidFill>
              </a:defRPr>
            </a:lvl9pPr>
          </a:lstStyle>
          <a:p xmlns:a="http://schemas.openxmlformats.org/drawingml/2006/main">
            <a:pPr>
              <a:buNone/>
              <a:defRPr sz="1275" b="0">
                <a:solidFill>
                  <a:srgbClr val="50616D"/>
                </a:solidFill>
              </a:defRPr>
            </a:pPr>
            <a:r>
              <a:rPr sz="1275" b="0">
                <a:solidFill>
                  <a:srgbClr val="50616D"/>
                </a:solidFill>
              </a:rPr>
              <a:t>27</a:t>
            </a:r>
          </a:p>
        </p:txBody>
      </p:sp>
      <p:sp>
        <p:nvSpPr>
          <p:cNvPr id="4" name="Hình chữ nhật 3">
            <a:extLst xmlns:a="http://schemas.openxmlformats.org/drawingml/2006/main">
              <a:ext uri="{FF2B5EF4-FFF2-40B4-BE49-F238E27FC236}">
                <a16:creationId xmlns:a16="http://schemas.microsoft.com/office/drawing/2014/main" id="{4EC6855E-016B-4DDA-AB54-81A1917E53A8}"/>
              </a:ext>
            </a:extLst>
          </p:cNvPr>
          <p:cNvSpPr>
            <a:spLocks xmlns:a="http://schemas.openxmlformats.org/drawingml/2006/main" noGrp="1"/>
          </p:cNvSpPr>
          <p:nvPr/>
        </p:nvSpPr>
        <p:spPr>
          <a:xfrm xmlns:a="http://schemas.openxmlformats.org/drawingml/2006/main">
            <a:off x="571500" y="63817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0616D"/>
                </a:solidFill>
              </a:defRPr>
            </a:defPPr>
            <a:lvl1pPr>
              <a:defRPr sz="1125" b="0">
                <a:solidFill>
                  <a:srgbClr val="50616D"/>
                </a:solidFill>
              </a:defRPr>
            </a:lvl1pPr>
            <a:lvl2pPr>
              <a:defRPr sz="1125" b="0">
                <a:solidFill>
                  <a:srgbClr val="50616D"/>
                </a:solidFill>
              </a:defRPr>
            </a:lvl2pPr>
            <a:lvl3pPr>
              <a:defRPr sz="1125" b="0">
                <a:solidFill>
                  <a:srgbClr val="50616D"/>
                </a:solidFill>
              </a:defRPr>
            </a:lvl3pPr>
            <a:lvl4pPr>
              <a:defRPr sz="1125" b="0">
                <a:solidFill>
                  <a:srgbClr val="50616D"/>
                </a:solidFill>
              </a:defRPr>
            </a:lvl4pPr>
            <a:lvl5pPr>
              <a:defRPr sz="1125" b="0">
                <a:solidFill>
                  <a:srgbClr val="50616D"/>
                </a:solidFill>
              </a:defRPr>
            </a:lvl5pPr>
            <a:lvl6pPr>
              <a:defRPr sz="1125" b="0">
                <a:solidFill>
                  <a:srgbClr val="50616D"/>
                </a:solidFill>
              </a:defRPr>
            </a:lvl6pPr>
            <a:lvl7pPr>
              <a:defRPr sz="1125" b="0">
                <a:solidFill>
                  <a:srgbClr val="50616D"/>
                </a:solidFill>
              </a:defRPr>
            </a:lvl7pPr>
            <a:lvl8pPr>
              <a:defRPr sz="1125" b="0">
                <a:solidFill>
                  <a:srgbClr val="50616D"/>
                </a:solidFill>
              </a:defRPr>
            </a:lvl8pPr>
            <a:lvl9pPr>
              <a:defRPr sz="1125" b="0">
                <a:solidFill>
                  <a:srgbClr val="50616D"/>
                </a:solidFill>
              </a:defRPr>
            </a:lvl9pPr>
          </a:lstStyle>
          <a:p xmlns:a="http://schemas.openxmlformats.org/drawingml/2006/main">
            <a:pPr>
              <a:buNone/>
              <a:defRPr sz="1125" b="0">
                <a:solidFill>
                  <a:srgbClr val="50616D"/>
                </a:solidFill>
              </a:defRPr>
            </a:pPr>
            <a:r>
              <a:rPr sz="1125" b="0">
                <a:solidFill>
                  <a:srgbClr val="50616D"/>
                </a:solidFill>
              </a:rPr>
              <a:t>XỬ LÝ ẢNH  ·  TĂNG CƯỜNG VÀ PHỤC HỒI ẢNH HOA</a:t>
            </a:r>
          </a:p>
        </p:txBody>
      </p:sp>
      <p:sp>
        <p:nvSpPr>
          <p:cNvPr id="5" name="Hình chữ nhật 4">
            <a:extLst xmlns:a="http://schemas.openxmlformats.org/drawingml/2006/main">
              <a:ext uri="{FF2B5EF4-FFF2-40B4-BE49-F238E27FC236}">
                <a16:creationId xmlns:a16="http://schemas.microsoft.com/office/drawing/2014/main" id="{9DED66E1-F5C0-4EDA-B2AE-66A3EB8C4C8A}"/>
              </a:ext>
            </a:extLst>
          </p:cNvPr>
          <p:cNvSpPr>
            <a:spLocks xmlns:a="http://schemas.openxmlformats.org/drawingml/2006/main" noGrp="1"/>
          </p:cNvSpPr>
          <p:nvPr/>
        </p:nvSpPr>
        <p:spPr>
          <a:xfrm xmlns:a="http://schemas.openxmlformats.org/drawingml/2006/main">
            <a:off x="619125" y="20955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42C40"/>
                </a:solidFill>
              </a:defRPr>
            </a:defPPr>
            <a:lvl1pPr>
              <a:defRPr sz="2250" b="0">
                <a:solidFill>
                  <a:srgbClr val="142C40"/>
                </a:solidFill>
              </a:defRPr>
            </a:lvl1pPr>
            <a:lvl2pPr>
              <a:defRPr sz="2250" b="0">
                <a:solidFill>
                  <a:srgbClr val="142C40"/>
                </a:solidFill>
              </a:defRPr>
            </a:lvl2pPr>
            <a:lvl3pPr>
              <a:defRPr sz="2250" b="0">
                <a:solidFill>
                  <a:srgbClr val="142C40"/>
                </a:solidFill>
              </a:defRPr>
            </a:lvl3pPr>
            <a:lvl4pPr>
              <a:defRPr sz="2250" b="0">
                <a:solidFill>
                  <a:srgbClr val="142C40"/>
                </a:solidFill>
              </a:defRPr>
            </a:lvl4pPr>
            <a:lvl5pPr>
              <a:defRPr sz="2250" b="0">
                <a:solidFill>
                  <a:srgbClr val="142C40"/>
                </a:solidFill>
              </a:defRPr>
            </a:lvl5pPr>
            <a:lvl6pPr>
              <a:defRPr sz="2250" b="0">
                <a:solidFill>
                  <a:srgbClr val="142C40"/>
                </a:solidFill>
              </a:defRPr>
            </a:lvl6pPr>
            <a:lvl7pPr>
              <a:defRPr sz="2250" b="0">
                <a:solidFill>
                  <a:srgbClr val="142C40"/>
                </a:solidFill>
              </a:defRPr>
            </a:lvl7pPr>
            <a:lvl8pPr>
              <a:defRPr sz="2250" b="0">
                <a:solidFill>
                  <a:srgbClr val="142C40"/>
                </a:solidFill>
              </a:defRPr>
            </a:lvl8pPr>
            <a:lvl9pPr>
              <a:defRPr sz="2250" b="0">
                <a:solidFill>
                  <a:srgbClr val="142C40"/>
                </a:solidFill>
              </a:defRPr>
            </a:lvl9pPr>
          </a:lstStyle>
          <a:p xmlns:a="http://schemas.openxmlformats.org/drawingml/2006/main">
            <a:pPr>
              <a:buNone/>
              <a:defRPr sz="2250" b="0">
                <a:solidFill>
                  <a:srgbClr val="142C40"/>
                </a:solidFill>
              </a:defRPr>
            </a:pPr>
            <a:r>
              <a:rPr sz="2250" b="0">
                <a:solidFill>
                  <a:srgbClr val="142C40"/>
                </a:solidFill>
              </a:rPr>
              <a:t>Một split, một checkpoint; 5 lớp và nhiễu tổng hợp đã biết mức.</a:t>
            </a:r>
          </a:p>
        </p:txBody>
      </p:sp>
      <p:sp>
        <p:nvSpPr>
          <p:cNvPr id="6" name="Hình chữ nhật 5">
            <a:extLst xmlns:a="http://schemas.openxmlformats.org/drawingml/2006/main">
              <a:ext uri="{FF2B5EF4-FFF2-40B4-BE49-F238E27FC236}">
                <a16:creationId xmlns:a16="http://schemas.microsoft.com/office/drawing/2014/main" id="{D1A5B103-DC65-4949-94F0-1B5340DA942D}"/>
              </a:ext>
            </a:extLst>
          </p:cNvPr>
          <p:cNvSpPr>
            <a:spLocks xmlns:a="http://schemas.openxmlformats.org/drawingml/2006/main" noGrp="1"/>
          </p:cNvSpPr>
          <p:nvPr/>
        </p:nvSpPr>
        <p:spPr>
          <a:xfrm xmlns:a="http://schemas.openxmlformats.org/drawingml/2006/main">
            <a:off x="619125" y="29718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42C40"/>
                </a:solidFill>
              </a:defRPr>
            </a:defPPr>
            <a:lvl1pPr>
              <a:defRPr sz="2250" b="0">
                <a:solidFill>
                  <a:srgbClr val="142C40"/>
                </a:solidFill>
              </a:defRPr>
            </a:lvl1pPr>
            <a:lvl2pPr>
              <a:defRPr sz="2250" b="0">
                <a:solidFill>
                  <a:srgbClr val="142C40"/>
                </a:solidFill>
              </a:defRPr>
            </a:lvl2pPr>
            <a:lvl3pPr>
              <a:defRPr sz="2250" b="0">
                <a:solidFill>
                  <a:srgbClr val="142C40"/>
                </a:solidFill>
              </a:defRPr>
            </a:lvl3pPr>
            <a:lvl4pPr>
              <a:defRPr sz="2250" b="0">
                <a:solidFill>
                  <a:srgbClr val="142C40"/>
                </a:solidFill>
              </a:defRPr>
            </a:lvl4pPr>
            <a:lvl5pPr>
              <a:defRPr sz="2250" b="0">
                <a:solidFill>
                  <a:srgbClr val="142C40"/>
                </a:solidFill>
              </a:defRPr>
            </a:lvl5pPr>
            <a:lvl6pPr>
              <a:defRPr sz="2250" b="0">
                <a:solidFill>
                  <a:srgbClr val="142C40"/>
                </a:solidFill>
              </a:defRPr>
            </a:lvl6pPr>
            <a:lvl7pPr>
              <a:defRPr sz="2250" b="0">
                <a:solidFill>
                  <a:srgbClr val="142C40"/>
                </a:solidFill>
              </a:defRPr>
            </a:lvl7pPr>
            <a:lvl8pPr>
              <a:defRPr sz="2250" b="0">
                <a:solidFill>
                  <a:srgbClr val="142C40"/>
                </a:solidFill>
              </a:defRPr>
            </a:lvl8pPr>
            <a:lvl9pPr>
              <a:defRPr sz="2250" b="0">
                <a:solidFill>
                  <a:srgbClr val="142C40"/>
                </a:solidFill>
              </a:defRPr>
            </a:lvl9pPr>
          </a:lstStyle>
          <a:p xmlns:a="http://schemas.openxmlformats.org/drawingml/2006/main">
            <a:pPr>
              <a:buNone/>
              <a:defRPr sz="2250" b="0">
                <a:solidFill>
                  <a:srgbClr val="142C40"/>
                </a:solidFill>
              </a:defRPr>
            </a:pPr>
            <a:r>
              <a:rPr sz="2250" b="0">
                <a:solidFill>
                  <a:srgbClr val="142C40"/>
                </a:solidFill>
              </a:rPr>
              <a:t>Metric stride 4; một nhóm trùng chéo nhãn cần xác minh.</a:t>
            </a:r>
          </a:p>
        </p:txBody>
      </p:sp>
      <p:sp>
        <p:nvSpPr>
          <p:cNvPr id="7" name="Hình chữ nhật 6">
            <a:extLst xmlns:a="http://schemas.openxmlformats.org/drawingml/2006/main">
              <a:ext uri="{FF2B5EF4-FFF2-40B4-BE49-F238E27FC236}">
                <a16:creationId xmlns:a16="http://schemas.microsoft.com/office/drawing/2014/main" id="{744DA2FF-4B9A-4816-9886-13A2BFAB2BDD}"/>
              </a:ext>
            </a:extLst>
          </p:cNvPr>
          <p:cNvSpPr>
            <a:spLocks xmlns:a="http://schemas.openxmlformats.org/drawingml/2006/main" noGrp="1"/>
          </p:cNvSpPr>
          <p:nvPr/>
        </p:nvSpPr>
        <p:spPr>
          <a:xfrm xmlns:a="http://schemas.openxmlformats.org/drawingml/2006/main">
            <a:off x="619125" y="38481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42C40"/>
                </a:solidFill>
              </a:defRPr>
            </a:defPPr>
            <a:lvl1pPr>
              <a:defRPr sz="2250" b="0">
                <a:solidFill>
                  <a:srgbClr val="142C40"/>
                </a:solidFill>
              </a:defRPr>
            </a:lvl1pPr>
            <a:lvl2pPr>
              <a:defRPr sz="2250" b="0">
                <a:solidFill>
                  <a:srgbClr val="142C40"/>
                </a:solidFill>
              </a:defRPr>
            </a:lvl2pPr>
            <a:lvl3pPr>
              <a:defRPr sz="2250" b="0">
                <a:solidFill>
                  <a:srgbClr val="142C40"/>
                </a:solidFill>
              </a:defRPr>
            </a:lvl3pPr>
            <a:lvl4pPr>
              <a:defRPr sz="2250" b="0">
                <a:solidFill>
                  <a:srgbClr val="142C40"/>
                </a:solidFill>
              </a:defRPr>
            </a:lvl4pPr>
            <a:lvl5pPr>
              <a:defRPr sz="2250" b="0">
                <a:solidFill>
                  <a:srgbClr val="142C40"/>
                </a:solidFill>
              </a:defRPr>
            </a:lvl5pPr>
            <a:lvl6pPr>
              <a:defRPr sz="2250" b="0">
                <a:solidFill>
                  <a:srgbClr val="142C40"/>
                </a:solidFill>
              </a:defRPr>
            </a:lvl6pPr>
            <a:lvl7pPr>
              <a:defRPr sz="2250" b="0">
                <a:solidFill>
                  <a:srgbClr val="142C40"/>
                </a:solidFill>
              </a:defRPr>
            </a:lvl7pPr>
            <a:lvl8pPr>
              <a:defRPr sz="2250" b="0">
                <a:solidFill>
                  <a:srgbClr val="142C40"/>
                </a:solidFill>
              </a:defRPr>
            </a:lvl8pPr>
            <a:lvl9pPr>
              <a:defRPr sz="2250" b="0">
                <a:solidFill>
                  <a:srgbClr val="142C40"/>
                </a:solidFill>
              </a:defRPr>
            </a:lvl9pPr>
          </a:lstStyle>
          <a:p xmlns:a="http://schemas.openxmlformats.org/drawingml/2006/main">
            <a:pPr>
              <a:buNone/>
              <a:defRPr sz="2250" b="0">
                <a:solidFill>
                  <a:srgbClr val="142C40"/>
                </a:solidFill>
              </a:defRPr>
            </a:pPr>
            <a:r>
              <a:rPr sz="2250" b="0">
                <a:solidFill>
                  <a:srgbClr val="142C40"/>
                </a:solidFill>
              </a:rPr>
              <a:t>Tuning ưu tiên F1, không phải nghiệm tối ưu chất lượng ảnh.</a:t>
            </a:r>
          </a:p>
        </p:txBody>
      </p:sp>
      <p:sp>
        <p:nvSpPr>
          <p:cNvPr id="8" name="Hình chữ nhật 7">
            <a:extLst xmlns:a="http://schemas.openxmlformats.org/drawingml/2006/main">
              <a:ext uri="{FF2B5EF4-FFF2-40B4-BE49-F238E27FC236}">
                <a16:creationId xmlns:a16="http://schemas.microsoft.com/office/drawing/2014/main" id="{BD56A46F-1133-40A4-8F29-F0851607BAD7}"/>
              </a:ext>
            </a:extLst>
          </p:cNvPr>
          <p:cNvSpPr>
            <a:spLocks xmlns:a="http://schemas.openxmlformats.org/drawingml/2006/main" noGrp="1"/>
          </p:cNvSpPr>
          <p:nvPr/>
        </p:nvSpPr>
        <p:spPr>
          <a:xfrm xmlns:a="http://schemas.openxmlformats.org/drawingml/2006/main">
            <a:off x="619125" y="472440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42C40"/>
                </a:solidFill>
              </a:defRPr>
            </a:defPPr>
            <a:lvl1pPr>
              <a:defRPr sz="2250" b="0">
                <a:solidFill>
                  <a:srgbClr val="142C40"/>
                </a:solidFill>
              </a:defRPr>
            </a:lvl1pPr>
            <a:lvl2pPr>
              <a:defRPr sz="2250" b="0">
                <a:solidFill>
                  <a:srgbClr val="142C40"/>
                </a:solidFill>
              </a:defRPr>
            </a:lvl2pPr>
            <a:lvl3pPr>
              <a:defRPr sz="2250" b="0">
                <a:solidFill>
                  <a:srgbClr val="142C40"/>
                </a:solidFill>
              </a:defRPr>
            </a:lvl3pPr>
            <a:lvl4pPr>
              <a:defRPr sz="2250" b="0">
                <a:solidFill>
                  <a:srgbClr val="142C40"/>
                </a:solidFill>
              </a:defRPr>
            </a:lvl4pPr>
            <a:lvl5pPr>
              <a:defRPr sz="2250" b="0">
                <a:solidFill>
                  <a:srgbClr val="142C40"/>
                </a:solidFill>
              </a:defRPr>
            </a:lvl5pPr>
            <a:lvl6pPr>
              <a:defRPr sz="2250" b="0">
                <a:solidFill>
                  <a:srgbClr val="142C40"/>
                </a:solidFill>
              </a:defRPr>
            </a:lvl6pPr>
            <a:lvl7pPr>
              <a:defRPr sz="2250" b="0">
                <a:solidFill>
                  <a:srgbClr val="142C40"/>
                </a:solidFill>
              </a:defRPr>
            </a:lvl7pPr>
            <a:lvl8pPr>
              <a:defRPr sz="2250" b="0">
                <a:solidFill>
                  <a:srgbClr val="142C40"/>
                </a:solidFill>
              </a:defRPr>
            </a:lvl8pPr>
            <a:lvl9pPr>
              <a:defRPr sz="2250" b="0">
                <a:solidFill>
                  <a:srgbClr val="142C40"/>
                </a:solidFill>
              </a:defRPr>
            </a:lvl9pPr>
          </a:lstStyle>
          <a:p xmlns:a="http://schemas.openxmlformats.org/drawingml/2006/main">
            <a:pPr>
              <a:buNone/>
              <a:defRPr sz="2250" b="0">
                <a:solidFill>
                  <a:srgbClr val="142C40"/>
                </a:solidFill>
              </a:defRPr>
            </a:pPr>
            <a:r>
              <a:rPr sz="2250" b="0">
                <a:solidFill>
                  <a:srgbClr val="142C40"/>
                </a:solidFill>
              </a:rPr>
              <a:t>Hướng tiếp: ảnh thực, tiêu chí tuning chất lượng ảnh và đối chứng mới.</a:t>
            </a:r>
          </a:p>
        </p:txBody>
      </p:sp>
    </p:spTree>
    <p:extLst>
      <p:ext uri="{BB962C8B-B14F-4D97-AF65-F5344CB8AC3E}">
        <p14:creationId xmlns:p14="http://schemas.microsoft.com/office/powerpoint/2010/main" val="2026477357"/>
      </p:ext>
    </p:extLst>
  </p:cSld>
</p:sld>
</file>

<file path=ppt/theme/theme1.xml><?xml version="1.0" encoding="utf-8"?>
<a:theme xmlns:a="http://schemas.openxmlformats.org/drawingml/2006/main" name="Flower Restoration">
  <a:themeElements>
    <a:clrScheme name="Flower Restoration">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Flower Restoration">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2026-10-22T15:53:03.8710000Z</dcterms:created>
  <dcterms:modified xsi:type="dcterms:W3CDTF">2026-10-22T15:53:03.8710000Z</dcterms:modified>
</coreProperties>
</file>