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8dd279c1444b70" /><Relationship Type="http://schemas.openxmlformats.org/officeDocument/2006/relationships/extended-properties" Target="/docProps/app.xml" Id="Rf853d0e1590a44d9" /><Relationship Type="http://schemas.openxmlformats.org/officeDocument/2006/relationships/officeDocument" Target="/ppt/presentation.xml" Id="Rd01720cc1efc49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a3943b9a4e44b7"/>
  </p:sldMasterIdLst>
  <p:notesMasterIdLst>
    <p:notesMasterId xmlns:r="http://schemas.openxmlformats.org/officeDocument/2006/relationships" r:id="R84fdc7631f4e4d01"/>
  </p:notesMasterIdLst>
  <p:sldIdLst>
    <p:sldId xmlns:r="http://schemas.openxmlformats.org/officeDocument/2006/relationships" id="256" r:id="R0ea019f150dc4d74"/>
    <p:sldId xmlns:r="http://schemas.openxmlformats.org/officeDocument/2006/relationships" id="257" r:id="R38841d406065467d"/>
    <p:sldId xmlns:r="http://schemas.openxmlformats.org/officeDocument/2006/relationships" id="258" r:id="R47dfde222d64408a"/>
    <p:sldId xmlns:r="http://schemas.openxmlformats.org/officeDocument/2006/relationships" id="259" r:id="R339cecbad9d24147"/>
    <p:sldId xmlns:r="http://schemas.openxmlformats.org/officeDocument/2006/relationships" id="260" r:id="Rc559c38bf3df40e8"/>
    <p:sldId xmlns:r="http://schemas.openxmlformats.org/officeDocument/2006/relationships" id="261" r:id="R4e94464be2ae4c8b"/>
    <p:sldId xmlns:r="http://schemas.openxmlformats.org/officeDocument/2006/relationships" id="262" r:id="R1a5f4aa1d8644ce8"/>
    <p:sldId xmlns:r="http://schemas.openxmlformats.org/officeDocument/2006/relationships" id="263" r:id="R12224b03cb7d43ae"/>
    <p:sldId xmlns:r="http://schemas.openxmlformats.org/officeDocument/2006/relationships" id="264" r:id="Rf743903d6cfd410a"/>
    <p:sldId xmlns:r="http://schemas.openxmlformats.org/officeDocument/2006/relationships" id="265" r:id="R3d4149f191894571"/>
    <p:sldId xmlns:r="http://schemas.openxmlformats.org/officeDocument/2006/relationships" id="266" r:id="R2614b15d63d24059"/>
    <p:sldId xmlns:r="http://schemas.openxmlformats.org/officeDocument/2006/relationships" id="267" r:id="R1fdd251728fc4eb3"/>
    <p:sldId xmlns:r="http://schemas.openxmlformats.org/officeDocument/2006/relationships" id="268" r:id="Rc32b95149fba412e"/>
    <p:sldId xmlns:r="http://schemas.openxmlformats.org/officeDocument/2006/relationships" id="269" r:id="Ra2f6bb7623b14046"/>
    <p:sldId xmlns:r="http://schemas.openxmlformats.org/officeDocument/2006/relationships" id="270" r:id="R1aebdf96a75747aa"/>
    <p:sldId xmlns:r="http://schemas.openxmlformats.org/officeDocument/2006/relationships" id="271" r:id="Ra351413aa7c4410a"/>
    <p:sldId xmlns:r="http://schemas.openxmlformats.org/officeDocument/2006/relationships" id="272" r:id="R82c784bcdd064b18"/>
    <p:sldId xmlns:r="http://schemas.openxmlformats.org/officeDocument/2006/relationships" id="273" r:id="R2f78cc48194f4d42"/>
    <p:sldId xmlns:r="http://schemas.openxmlformats.org/officeDocument/2006/relationships" id="274" r:id="Rd1b252f6d0734504"/>
    <p:sldId xmlns:r="http://schemas.openxmlformats.org/officeDocument/2006/relationships" id="275" r:id="Rcf8714213785449f"/>
    <p:sldId xmlns:r="http://schemas.openxmlformats.org/officeDocument/2006/relationships" id="276" r:id="R753faa5dd4864aa4"/>
    <p:sldId xmlns:r="http://schemas.openxmlformats.org/officeDocument/2006/relationships" id="277" r:id="Rfbf6dee242e745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8ec7ce5ada43ca" /><Relationship Type="http://schemas.openxmlformats.org/officeDocument/2006/relationships/slideMaster" Target="/ppt/slideMasters/slideMaster1.xml" Id="R66a3943b9a4e44b7" /><Relationship Type="http://schemas.openxmlformats.org/officeDocument/2006/relationships/notesMaster" Target="/ppt/notesMasters/notesMaster1.xml" Id="R84fdc7631f4e4d01" /><Relationship Type="http://schemas.openxmlformats.org/officeDocument/2006/relationships/presProps" Target="/ppt/presProps.xml" Id="R33591a95e0254af1" /><Relationship Type="http://schemas.openxmlformats.org/officeDocument/2006/relationships/tableStyles" Target="/ppt/tableStyles.xml" Id="R2c5b228b3ba84db1" /><Relationship Type="http://schemas.openxmlformats.org/officeDocument/2006/relationships/slide" Target="/ppt/slides/slide1.xml" Id="R0ea019f150dc4d74" /><Relationship Type="http://schemas.openxmlformats.org/officeDocument/2006/relationships/slide" Target="/ppt/slides/slide2.xml" Id="R38841d406065467d" /><Relationship Type="http://schemas.openxmlformats.org/officeDocument/2006/relationships/slide" Target="/ppt/slides/slide3.xml" Id="R47dfde222d64408a" /><Relationship Type="http://schemas.openxmlformats.org/officeDocument/2006/relationships/slide" Target="/ppt/slides/slide4.xml" Id="R339cecbad9d24147" /><Relationship Type="http://schemas.openxmlformats.org/officeDocument/2006/relationships/slide" Target="/ppt/slides/slide5.xml" Id="Rc559c38bf3df40e8" /><Relationship Type="http://schemas.openxmlformats.org/officeDocument/2006/relationships/slide" Target="/ppt/slides/slide6.xml" Id="R4e94464be2ae4c8b" /><Relationship Type="http://schemas.openxmlformats.org/officeDocument/2006/relationships/slide" Target="/ppt/slides/slide7.xml" Id="R1a5f4aa1d8644ce8" /><Relationship Type="http://schemas.openxmlformats.org/officeDocument/2006/relationships/slide" Target="/ppt/slides/slide8.xml" Id="R12224b03cb7d43ae" /><Relationship Type="http://schemas.openxmlformats.org/officeDocument/2006/relationships/slide" Target="/ppt/slides/slide9.xml" Id="Rf743903d6cfd410a" /><Relationship Type="http://schemas.openxmlformats.org/officeDocument/2006/relationships/slide" Target="/ppt/slides/slide10.xml" Id="R3d4149f191894571" /><Relationship Type="http://schemas.openxmlformats.org/officeDocument/2006/relationships/slide" Target="/ppt/slides/slide11.xml" Id="R2614b15d63d24059" /><Relationship Type="http://schemas.openxmlformats.org/officeDocument/2006/relationships/slide" Target="/ppt/slides/slide12.xml" Id="R1fdd251728fc4eb3" /><Relationship Type="http://schemas.openxmlformats.org/officeDocument/2006/relationships/slide" Target="/ppt/slides/slide13.xml" Id="Rc32b95149fba412e" /><Relationship Type="http://schemas.openxmlformats.org/officeDocument/2006/relationships/slide" Target="/ppt/slides/slide14.xml" Id="Ra2f6bb7623b14046" /><Relationship Type="http://schemas.openxmlformats.org/officeDocument/2006/relationships/slide" Target="/ppt/slides/slide15.xml" Id="R1aebdf96a75747aa" /><Relationship Type="http://schemas.openxmlformats.org/officeDocument/2006/relationships/slide" Target="/ppt/slides/slide16.xml" Id="Ra351413aa7c4410a" /><Relationship Type="http://schemas.openxmlformats.org/officeDocument/2006/relationships/slide" Target="/ppt/slides/slide17.xml" Id="R82c784bcdd064b18" /><Relationship Type="http://schemas.openxmlformats.org/officeDocument/2006/relationships/slide" Target="/ppt/slides/slide18.xml" Id="R2f78cc48194f4d42" /><Relationship Type="http://schemas.openxmlformats.org/officeDocument/2006/relationships/slide" Target="/ppt/slides/slide19.xml" Id="Rd1b252f6d0734504" /><Relationship Type="http://schemas.openxmlformats.org/officeDocument/2006/relationships/slide" Target="/ppt/slides/slide20.xml" Id="Rcf8714213785449f" /><Relationship Type="http://schemas.openxmlformats.org/officeDocument/2006/relationships/slide" Target="/ppt/slides/slide21.xml" Id="R753faa5dd4864aa4" /><Relationship Type="http://schemas.openxmlformats.org/officeDocument/2006/relationships/slide" Target="/ppt/slides/slide22.xml" Id="Rfbf6dee242e745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418880e1534d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8db67ca2814ded" /><Relationship Type="http://schemas.openxmlformats.org/officeDocument/2006/relationships/notesMaster" Target="/ppt/notesMasters/notesMaster1.xml" Id="Ra7f35ae390724d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bf8a4cf9c444e6" /><Relationship Type="http://schemas.openxmlformats.org/officeDocument/2006/relationships/notesMaster" Target="/ppt/notesMasters/notesMaster1.xml" Id="R6ad821edceb643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72b9d8ba424ab8" /><Relationship Type="http://schemas.openxmlformats.org/officeDocument/2006/relationships/notesMaster" Target="/ppt/notesMasters/notesMaster1.xml" Id="R0cad795ea87b4d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aea0df5bb1459a" /><Relationship Type="http://schemas.openxmlformats.org/officeDocument/2006/relationships/notesMaster" Target="/ppt/notesMasters/notesMaster1.xml" Id="Rb991977956ad4e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95724610b24466" /><Relationship Type="http://schemas.openxmlformats.org/officeDocument/2006/relationships/notesMaster" Target="/ppt/notesMasters/notesMaster1.xml" Id="R4fe4d747a6c445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b716d5f5454ad3" /><Relationship Type="http://schemas.openxmlformats.org/officeDocument/2006/relationships/notesMaster" Target="/ppt/notesMasters/notesMaster1.xml" Id="Rf917a350d91940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660c80aa3441b4" /><Relationship Type="http://schemas.openxmlformats.org/officeDocument/2006/relationships/notesMaster" Target="/ppt/notesMasters/notesMaster1.xml" Id="R158205b8269c45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dd06c96463490f" /><Relationship Type="http://schemas.openxmlformats.org/officeDocument/2006/relationships/notesMaster" Target="/ppt/notesMasters/notesMaster1.xml" Id="R337d963f2d8640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ca48dcd4d84972" /><Relationship Type="http://schemas.openxmlformats.org/officeDocument/2006/relationships/notesMaster" Target="/ppt/notesMasters/notesMaster1.xml" Id="R398a112268a34c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88f936cf27429a" /><Relationship Type="http://schemas.openxmlformats.org/officeDocument/2006/relationships/notesMaster" Target="/ppt/notesMasters/notesMaster1.xml" Id="R35d75f7801024f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bb041464da4b43" /><Relationship Type="http://schemas.openxmlformats.org/officeDocument/2006/relationships/notesMaster" Target="/ppt/notesMasters/notesMaster1.xml" Id="R7d3bbba3d30e44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5d0f01bcfc467d" /><Relationship Type="http://schemas.openxmlformats.org/officeDocument/2006/relationships/notesMaster" Target="/ppt/notesMasters/notesMaster1.xml" Id="R6a708726db5e4b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8ebe87201e4ebf" /><Relationship Type="http://schemas.openxmlformats.org/officeDocument/2006/relationships/notesMaster" Target="/ppt/notesMasters/notesMaster1.xml" Id="Ra461593cce884f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db9b6307a64d82" /><Relationship Type="http://schemas.openxmlformats.org/officeDocument/2006/relationships/notesMaster" Target="/ppt/notesMasters/notesMaster1.xml" Id="R50efa487e42a4b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bb5c9b7e8d4208" /><Relationship Type="http://schemas.openxmlformats.org/officeDocument/2006/relationships/notesMaster" Target="/ppt/notesMasters/notesMaster1.xml" Id="R5e09ce99fc12485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5fa4214eb940fc" /><Relationship Type="http://schemas.openxmlformats.org/officeDocument/2006/relationships/notesMaster" Target="/ppt/notesMasters/notesMaster1.xml" Id="R961992a75a5d4df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e0691f49704d11" /><Relationship Type="http://schemas.openxmlformats.org/officeDocument/2006/relationships/notesMaster" Target="/ppt/notesMasters/notesMaster1.xml" Id="Rc2778df3f75341b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e2ebae843344d0" /><Relationship Type="http://schemas.openxmlformats.org/officeDocument/2006/relationships/notesMaster" Target="/ppt/notesMasters/notesMaster1.xml" Id="Rf53d3acaf3ec4d9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7ed27aac6e7467e" /><Relationship Type="http://schemas.openxmlformats.org/officeDocument/2006/relationships/notesMaster" Target="/ppt/notesMasters/notesMaster1.xml" Id="R0ce3558154b74af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24ce5f44a7a4e2f" /><Relationship Type="http://schemas.openxmlformats.org/officeDocument/2006/relationships/notesMaster" Target="/ppt/notesMasters/notesMaster1.xml" Id="R31e843fd7083493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d4cf6685c2d417c" /><Relationship Type="http://schemas.openxmlformats.org/officeDocument/2006/relationships/notesMaster" Target="/ppt/notesMasters/notesMaster1.xml" Id="R409cb7971201441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f0ea0ffb83e491d" /><Relationship Type="http://schemas.openxmlformats.org/officeDocument/2006/relationships/notesMaster" Target="/ppt/notesMasters/notesMaster1.xml" Id="Rf1c6d39ed34946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bằng câu hỏi: cùng một bông hoa nhưng ảnh suy giảm có thể đổi quyết định của CNN.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rõ tên thành viên còn thiếu và phải được nhóm điền trước khi nộp.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docs/ASSIGNMENT_FINAL.xlsx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Biến độc lập là dạng/mức suy giảm và phương pháp xử lý; biến phụ thuộc gồm metric ảnh và phân loại.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Macro F1 đi cùng Accuracy; Validation chọn tham số, Test chỉ báo cáo sau khi khóa.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Inventory trong gói là hồ sơ ghi sẵn; raw data phải được khôi phục để audit lại.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artifacts/data_audit.json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Hình EDA hiện có hỗ trợ mô tả; FULL_RUN phải tái sinh từ inventory đã 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data/inventory.csv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Mọi suy giảm dùng tham số cấu hình và seed xác định.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configs/degradation_matrix.json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đánh đổi giữa khử nhiễu, bảo toàn biên và màu.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src/enhancements.py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mapping ứng viên; kết luận chỉ có sau Validation tuning và Test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src/tuning.py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Bốn nhánh giữ cùng split/checkpoint để so sánh paired.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49 hàng là ma trận điều kiện; không phải 49 mô hình CNN.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configs/degradation_matrix.json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Checkpoint chuẩn duy nhất là mobilenetv2_flowers.keras; hiện chưa có trong gói.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src/train.py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số chất lượng ảnh là hồ sơ kế thừa; không suy diễn trực tiếp thành Macro F1.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results/image_quality_results_49_conditions.csv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điền Accuracy/F1 khi chưa có results/final/manifest.json FULL_RUN.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scripts/validate_project.py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Đọc ΔE cùng ảnh thực tế và metric phân loại; không chọn bằng cảm nhận.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src/color_spaces.py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Confusion matrix chỉ xuất bản khi support test bằng 550 và class order khớp.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src/evaluate.py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Error analysis được sinh từ predictions thật; không suy đoán khi chưa xem ảnh sai.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src/error_analysis.py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Kiến trúc production chỉ có Streamlit standalone gọi trực tiếp src.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docs/STREAMLIT_DEPLOYMENT.md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 khóa khi thiếu model/locked params và không dùng surrogate fallback.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streamlit_app.py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Quy tắc chọn tham số: Validation trước, Test một lần sau khi khóa.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configs/experiment.yaml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Chốt rõ phần đạt và phần blocked; điểm CNN/kết quả/deploy chưa thể tối đa.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QUALITY_REPORT.md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cách mời câu hỏi về chống leakage, 49 điều kiện và Streamlit standalone.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26839d3b24d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b7a77c62b4a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c7db20ca04a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06caa338842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531c37cee4d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057400fce7449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12ce6c8914a3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cbf058dc748b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0bcea395a4b8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c77fd08014dd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58ea0684c4a2d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56CDEB0-C148-4A4F-9E08-B24E39A331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30480"/>
            <a:ext cx="7772040" cy="146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CB7576B-3383-4DD0-B8FB-E14A2FB05773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AE38671-BC25-402F-B671-344CBFE303D1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856A847-47C8-4DA2-910B-69D5E8503E33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1DFB225E-194C-4C48-A00B-1734FC7F82C0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vertTx" preserve="1">
  <p:cSld name="Title and Vertical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1B3775C-14ED-43A8-AAA7-C57E8CBC80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60F463F-FE75-411C-BADD-74D56B45DA7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17DAFD9-69CD-4C9B-8463-026C3E647FAD}"/>
              </a:ext>
            </a:extLst>
          </p:cNvPr>
          <p:cNvSpPr>
            <a:spLocks xmlns:a="http://schemas.openxmlformats.org/drawingml/2006/main" noGrp="1"/>
          </p:cNvSpPr>
          <p:nvPr>
            <p:ph type="dt" idx="4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068AEC2-0707-49C5-AB16-CEB3BFC2F97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8D6A6216-3C6D-40DB-B124-0A23E80871A5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EB376141-EB76-483D-B22E-0E5614D7ADA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vertTitleAndTx" preserve="1">
  <p:cSld name="Vertical Title and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C5E1DCC-CD77-4A45-96A3-16916AB44A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80"/>
            <a:ext cx="2057040" cy="585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2BBA409-917C-48B5-9E46-39699EBCD20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74680"/>
            <a:ext cx="6019560" cy="585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28B2D71-291B-4923-884F-A03660DA6A73}"/>
              </a:ext>
            </a:extLst>
          </p:cNvPr>
          <p:cNvSpPr>
            <a:spLocks xmlns:a="http://schemas.openxmlformats.org/drawingml/2006/main" noGrp="1"/>
          </p:cNvSpPr>
          <p:nvPr>
            <p:ph type="dt" idx="7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A35CB93-2B21-4D78-9BD0-149BBFFC8F7E}"/>
              </a:ext>
            </a:extLst>
          </p:cNvPr>
          <p:cNvSpPr>
            <a:spLocks xmlns:a="http://schemas.openxmlformats.org/drawingml/2006/main" noGrp="1"/>
          </p:cNvSpPr>
          <p:nvPr>
            <p:ph type="ftr" idx="8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D0BF9FC-74CD-442D-8E2E-7D73864D534B}"/>
              </a:ext>
            </a:extLst>
          </p:cNvPr>
          <p:cNvSpPr>
            <a:spLocks xmlns:a="http://schemas.openxmlformats.org/drawingml/2006/main" noGrp="1"/>
          </p:cNvSpPr>
          <p:nvPr>
            <p:ph type="sldNum" idx="9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C5675F33-D2C8-414F-8234-79EA1BA3567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and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0824B07-DE3A-4681-A8E1-9C331B20F2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7FEFE47-783F-4493-9E72-1436A2818AA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3EC3F63-0A66-444F-AAEC-F656020449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D1B9278-50B1-47A2-94D1-C674D30C96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CB2885C-04D0-45FD-85F7-272980D968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B7F52366-0D37-4B73-84A0-002FFA5D91A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D7373AC-3922-43CE-ADE7-A356EF20F7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160" y="4406760"/>
            <a:ext cx="7772040" cy="13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4000" b="1" u="none" cap="all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4000" b="1" u="none" cap="all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000" b="1" u="none" cap="all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A8DDF99-AA72-403B-9740-B25E236169C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2160" y="2906640"/>
            <a:ext cx="7772040" cy="149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000" b="0" u="none">
              <a:solidFill>
                <a:schemeClr val="dk1">
                  <a:tint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3C7391CE-2209-4F85-85E9-8AD8E497A508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B700E87-B53E-40B4-91CB-0143EC0D49B7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F52C2696-495A-4335-A3EA-56D8A12B92FA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11C91682-8B16-48E4-91EC-4AA0737768EB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 preserve="1">
  <p:cSld name="Two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A53F5E7-4122-4BDF-8F61-AAA2CCE0EA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8FB4D7E-F524-4056-A8CC-4A641024F7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D5EF3B7-4F86-4127-BC5D-692186AECD9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832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F12528F-EC1E-4309-BA28-F0D62C8A648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5A605F1-9A83-4D9F-A320-A83A35B0E464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07B8743B-6C6C-40BA-94A8-79BA2D6E29D3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C408BE0B-FA23-49F8-800E-E1C90C82C197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Comparis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F483CE4-8AB0-42E3-A062-A8BCEA36B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8983C41-C83D-4D2A-93C5-F01E00FE0E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535040"/>
            <a:ext cx="403992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0E432FB-B026-4188-A6D3-0109267BDD2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174760"/>
            <a:ext cx="403992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EF21CAA4-E911-4E13-A562-EF310C89ACF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1535040"/>
            <a:ext cx="404136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6875F34C-5D5F-460E-900E-2525E76A52A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2174760"/>
            <a:ext cx="404136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09134D3E-09A1-40C8-8D37-6E8A74B556C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895A5A7E-8CCF-46A2-B391-8918F4DA7F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BDCC33C7-26EC-47AB-8AAB-956B7B036BB7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B2172BFC-196C-433B-AD4E-21DF48DE3E0B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 preserve="1">
  <p:cSld name="Title Onl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8C213A8-A073-4BFC-A404-94E2A8D9D2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B602F3D-A1DB-4317-84B5-5EA0C27822B6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4F73E11-0293-43A4-A593-E7A17060590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8B6C7CF-E5C4-4021-8897-167755AED0C3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3185A762-3193-416C-BABB-2D38505D4FFD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D145B2E-1E13-4F13-B9BC-EDDBBAAA1704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BD7990A-7B35-4DC8-93E3-E024658DF81E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8BD5534-379C-438B-8702-AACB2F5AA5BE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B531BFA0-862C-44D0-8B41-A66F26C47DF5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0CC5B74-F7E7-482D-B1A1-2D83C92F3E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 defTabSz="457200"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6FA2A403-62AF-4603-8963-0C7DD2CC820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Content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90C7B42-C263-45BC-BE26-127EB86D6F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2880"/>
            <a:ext cx="3007800" cy="1161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1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C5A893C-057B-4841-895D-EBEE9906186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575160" y="272880"/>
            <a:ext cx="5111280" cy="585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7325C4E-BDEC-49A9-8289-628AFDDEE49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434960"/>
            <a:ext cx="3007800" cy="46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4EC8200-77CA-4AB4-BFC7-3CED1E943F4C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270BEE32-A48C-4560-A6BE-AA43682330D4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1180609F-96BF-42A6-BB7C-9BFEB6FAC320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CB46AB71-0AA1-455F-A4D7-F2A617D0D5E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Picture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54D6749-D139-4026-A6DE-CA9E2ED630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440" y="4800600"/>
            <a:ext cx="5486040" cy="56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1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58B0699-9CF2-43F1-9DD6-8995B6FA6D2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612720"/>
            <a:ext cx="5486040" cy="411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2127269-A74D-412E-8BCA-04C5BC74DD6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5367240"/>
            <a:ext cx="5486040" cy="80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499E2E0-0BDE-4B81-A968-01E4F9E79B9B}"/>
              </a:ext>
            </a:extLst>
          </p:cNvPr>
          <p:cNvSpPr>
            <a:spLocks xmlns:a="http://schemas.openxmlformats.org/drawingml/2006/main" noGrp="1"/>
          </p:cNvSpPr>
          <p:nvPr>
            <p:ph type="dt" idx="31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269FD63E-8E66-4445-9690-F97608DB5E27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68DCAE22-29A5-45BB-8C32-1624B3C01260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CA29DDFF-DCD8-43E0-BE75-1457FD308F4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519dea13bb4ea5" /><Relationship Type="http://schemas.openxmlformats.org/officeDocument/2006/relationships/slideLayout" Target="/ppt/slideLayouts/slideLayout1.xml" Id="R810ccaa8105e4dba" /><Relationship Type="http://schemas.openxmlformats.org/officeDocument/2006/relationships/slideLayout" Target="/ppt/slideLayouts/slideLayout2.xml" Id="R015dcb185a4e4fc7" /><Relationship Type="http://schemas.openxmlformats.org/officeDocument/2006/relationships/slideLayout" Target="/ppt/slideLayouts/slideLayout3.xml" Id="R777c962a3d3d49a1" /><Relationship Type="http://schemas.openxmlformats.org/officeDocument/2006/relationships/slideLayout" Target="/ppt/slideLayouts/slideLayout4.xml" Id="R817bd2a6449e4e74" /><Relationship Type="http://schemas.openxmlformats.org/officeDocument/2006/relationships/slideLayout" Target="/ppt/slideLayouts/slideLayout5.xml" Id="Rd8901e30f18549c0" /><Relationship Type="http://schemas.openxmlformats.org/officeDocument/2006/relationships/slideLayout" Target="/ppt/slideLayouts/slideLayout6.xml" Id="R86545fbcd5754c40" /><Relationship Type="http://schemas.openxmlformats.org/officeDocument/2006/relationships/slideLayout" Target="/ppt/slideLayouts/slideLayout7.xml" Id="R27fa58d45ced4772" /><Relationship Type="http://schemas.openxmlformats.org/officeDocument/2006/relationships/slideLayout" Target="/ppt/slideLayouts/slideLayout8.xml" Id="R35ad46391de34364" /><Relationship Type="http://schemas.openxmlformats.org/officeDocument/2006/relationships/slideLayout" Target="/ppt/slideLayouts/slideLayout9.xml" Id="R08b258a5f2054d41" /><Relationship Type="http://schemas.openxmlformats.org/officeDocument/2006/relationships/slideLayout" Target="/ppt/slideLayouts/slideLayout10.xml" Id="R8656d574cd8c4f6a" /><Relationship Type="http://schemas.openxmlformats.org/officeDocument/2006/relationships/slideLayout" Target="/ppt/slideLayouts/slideLayout11.xml" Id="R6374ef363878480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0ccaa8105e4dba"/>
    <p:sldLayoutId xmlns:r="http://schemas.openxmlformats.org/officeDocument/2006/relationships" id="2147483650" r:id="R015dcb185a4e4fc7"/>
    <p:sldLayoutId xmlns:r="http://schemas.openxmlformats.org/officeDocument/2006/relationships" id="2147483651" r:id="R777c962a3d3d49a1"/>
    <p:sldLayoutId xmlns:r="http://schemas.openxmlformats.org/officeDocument/2006/relationships" id="2147483652" r:id="R817bd2a6449e4e74"/>
    <p:sldLayoutId xmlns:r="http://schemas.openxmlformats.org/officeDocument/2006/relationships" id="2147483653" r:id="Rd8901e30f18549c0"/>
    <p:sldLayoutId xmlns:r="http://schemas.openxmlformats.org/officeDocument/2006/relationships" id="2147483654" r:id="R86545fbcd5754c40"/>
    <p:sldLayoutId xmlns:r="http://schemas.openxmlformats.org/officeDocument/2006/relationships" id="2147483655" r:id="R27fa58d45ced4772"/>
    <p:sldLayoutId xmlns:r="http://schemas.openxmlformats.org/officeDocument/2006/relationships" id="2147483656" r:id="R35ad46391de34364"/>
    <p:sldLayoutId xmlns:r="http://schemas.openxmlformats.org/officeDocument/2006/relationships" id="2147483657" r:id="R08b258a5f2054d41"/>
    <p:sldLayoutId xmlns:r="http://schemas.openxmlformats.org/officeDocument/2006/relationships" id="2147483658" r:id="R8656d574cd8c4f6a"/>
    <p:sldLayoutId xmlns:r="http://schemas.openxmlformats.org/officeDocument/2006/relationships" id="2147483659" r:id="R6374ef363878480e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dec7daa1ae54500" /><Relationship Type="http://schemas.openxmlformats.org/officeDocument/2006/relationships/notesSlide" Target="/ppt/notesSlides/notesSlide1.xml" Id="Rd7bca075a90949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d93ddc219dd4cb2" /><Relationship Type="http://schemas.openxmlformats.org/officeDocument/2006/relationships/notesSlide" Target="/ppt/notesSlides/notesSlide2.xml" Id="R61fba8ca1a174a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96e9e93d795451c" /><Relationship Type="http://schemas.openxmlformats.org/officeDocument/2006/relationships/image" Target="/ppt/media/image.png" Id="Rf280523021ae41e0" /><Relationship Type="http://schemas.openxmlformats.org/officeDocument/2006/relationships/notesSlide" Target="/ppt/notesSlides/notesSlide3.xml" Id="R48aa278d766042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a29dd7b5c1448d0" /><Relationship Type="http://schemas.openxmlformats.org/officeDocument/2006/relationships/notesSlide" Target="/ppt/notesSlides/notesSlide4.xml" Id="R1a1dfd9401f64f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f51781ef2b84c09" /><Relationship Type="http://schemas.openxmlformats.org/officeDocument/2006/relationships/image" Target="/ppt/media/image2.png" Id="Rcb09431ceab94579" /><Relationship Type="http://schemas.openxmlformats.org/officeDocument/2006/relationships/notesSlide" Target="/ppt/notesSlides/notesSlide5.xml" Id="R4d38b447d90d4d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7a10a1d36f924850" /><Relationship Type="http://schemas.openxmlformats.org/officeDocument/2006/relationships/image" Target="/ppt/media/image3.png" Id="R290e98c95277427b" /><Relationship Type="http://schemas.openxmlformats.org/officeDocument/2006/relationships/image" Target="/ppt/media/image4.png" Id="Re2659d52bf634de5" /><Relationship Type="http://schemas.openxmlformats.org/officeDocument/2006/relationships/notesSlide" Target="/ppt/notesSlides/notesSlide6.xml" Id="Rc88a9ad702f845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a79851ea5e54a58" /><Relationship Type="http://schemas.openxmlformats.org/officeDocument/2006/relationships/image" Target="/ppt/media/image5.png" Id="R41265f61dd3c4036" /><Relationship Type="http://schemas.openxmlformats.org/officeDocument/2006/relationships/image" Target="/ppt/media/image6.png" Id="R4ed3e164d90148da" /><Relationship Type="http://schemas.openxmlformats.org/officeDocument/2006/relationships/notesSlide" Target="/ppt/notesSlides/notesSlide7.xml" Id="Rcd454bdf130944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495cc27fa9c24900" /><Relationship Type="http://schemas.openxmlformats.org/officeDocument/2006/relationships/notesSlide" Target="/ppt/notesSlides/notesSlide8.xml" Id="R067ca206d4324b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b81074fb5944fc5" /><Relationship Type="http://schemas.openxmlformats.org/officeDocument/2006/relationships/notesSlide" Target="/ppt/notesSlides/notesSlide9.xml" Id="R1a4481b91b2347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3139d4b79a04f90" /><Relationship Type="http://schemas.openxmlformats.org/officeDocument/2006/relationships/notesSlide" Target="/ppt/notesSlides/notesSlide10.xml" Id="R874f8c07f90d42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bdb74aefe4748be" /><Relationship Type="http://schemas.openxmlformats.org/officeDocument/2006/relationships/chart" Target="/ppt/slides/charts/chart1.xml" Id="Refc1b0e78b8b4017" /><Relationship Type="http://schemas.openxmlformats.org/officeDocument/2006/relationships/notesSlide" Target="/ppt/notesSlides/notesSlide11.xml" Id="R9bbf2b365c1544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2d5db8186474e5c" /><Relationship Type="http://schemas.openxmlformats.org/officeDocument/2006/relationships/notesSlide" Target="/ppt/notesSlides/notesSlide12.xml" Id="Rb95464d4a86541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82d7a29a4fa49e5" /><Relationship Type="http://schemas.openxmlformats.org/officeDocument/2006/relationships/chart" Target="/ppt/slides/charts/chart2.xml" Id="R2bbcd3cbc1954407" /><Relationship Type="http://schemas.openxmlformats.org/officeDocument/2006/relationships/notesSlide" Target="/ppt/notesSlides/notesSlide13.xml" Id="R9669f17e428643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34ee6d5feb04617" /><Relationship Type="http://schemas.openxmlformats.org/officeDocument/2006/relationships/notesSlide" Target="/ppt/notesSlides/notesSlide14.xml" Id="R0af9225d5fbf4a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8b89444c0bb4246" /><Relationship Type="http://schemas.openxmlformats.org/officeDocument/2006/relationships/image" Target="/ppt/media/image7.png" Id="R51eb8c5b7c364d55" /><Relationship Type="http://schemas.openxmlformats.org/officeDocument/2006/relationships/image" Target="/ppt/media/image8.png" Id="R2e0ff8eddca34d85" /><Relationship Type="http://schemas.openxmlformats.org/officeDocument/2006/relationships/notesSlide" Target="/ppt/notesSlides/notesSlide15.xml" Id="R04fadd5e6e8e45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7e13b787b0d4226" /><Relationship Type="http://schemas.openxmlformats.org/officeDocument/2006/relationships/notesSlide" Target="/ppt/notesSlides/notesSlide16.xml" Id="R467baa87383f47a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64550f6bf254b1d" /><Relationship Type="http://schemas.openxmlformats.org/officeDocument/2006/relationships/notesSlide" Target="/ppt/notesSlides/notesSlide17.xml" Id="R2df4a24ef56e46d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023383b589246e4" /><Relationship Type="http://schemas.openxmlformats.org/officeDocument/2006/relationships/notesSlide" Target="/ppt/notesSlides/notesSlide18.xml" Id="Rd7ef8d1496c445b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baf9ced1f714744" /><Relationship Type="http://schemas.openxmlformats.org/officeDocument/2006/relationships/notesSlide" Target="/ppt/notesSlides/notesSlide19.xml" Id="Rc90d2758638942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c498e6dfd6c34d1e" /><Relationship Type="http://schemas.openxmlformats.org/officeDocument/2006/relationships/notesSlide" Target="/ppt/notesSlides/notesSlide20.xml" Id="R5fa2f50c90b44da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7d3e17c107e543b9" /><Relationship Type="http://schemas.openxmlformats.org/officeDocument/2006/relationships/notesSlide" Target="/ppt/notesSlides/notesSlide21.xml" Id="R93a7488ca3d1443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42a638e5e684e16" /><Relationship Type="http://schemas.openxmlformats.org/officeDocument/2006/relationships/notesSlide" Target="/ppt/notesSlides/notesSlide22.xml" Id="Re88466ba4ecd4e17" /></Relationships>
</file>

<file path=ppt/slides/charts/chart1.xml><?xml version="1.0" encoding="utf-8"?>
<c:chartSpace xmlns:c="http://schemas.openxmlformats.org/drawingml/2006/chart">
  <c:lang val="en-US"/>
  <c:roundedCorners val="0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Số điều kiện theo nhóm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 u="none">
              <a:solidFill>
                <a:srgbClr val="000000"/>
              </a:solidFill>
              <a:latin typeface="Arial"/>
              <a:ea typeface="Arial"/>
              <a:cs typeface="Arial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Suy giảm / sạch</c:v>
                </c:pt>
              </c:strCache>
            </c:strRef>
          </c:tx>
          <c:spPr>
            <a:ln xmlns:a="http://schemas.openxmlformats.org/drawingml/2006/main" w="0">
              <a:noFill/>
            </a:ln>
          </c:spP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00" b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</c:dLbls>
          <c:cat>
            <c:strRef>
              <c:f>categories</c:f>
              <c:strCache>
                <c:ptCount val="4"/>
                <c:pt idx="0">
                  <c:v>Sạch</c:v>
                </c:pt>
                <c:pt idx="1">
                  <c:v>Low-light</c:v>
                </c:pt>
                <c:pt idx="2">
                  <c:v>2 nhiễu</c:v>
                </c:pt>
                <c:pt idx="3">
                  <c:v>Mờ + màu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6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Sau xử lý</c:v>
                </c:pt>
              </c:strCache>
            </c:strRef>
          </c:tx>
          <c:spPr>
            <a:ln xmlns:a="http://schemas.openxmlformats.org/drawingml/2006/main" w="0">
              <a:noFill/>
            </a:ln>
          </c:spP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00" b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</c:dLbls>
          <c:cat>
            <c:strRef>
              <c:f>categories</c:f>
              <c:strCache>
                <c:ptCount val="4"/>
                <c:pt idx="0">
                  <c:v>Sạch</c:v>
                </c:pt>
                <c:pt idx="1">
                  <c:v>Low-light</c:v>
                </c:pt>
                <c:pt idx="2">
                  <c:v>2 nhiễu</c:v>
                </c:pt>
                <c:pt idx="3">
                  <c:v>Mờ + màu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0</c:v>
                </c:pt>
                <c:pt idx="1">
                  <c:v>6</c:v>
                </c:pt>
                <c:pt idx="2">
                  <c:v>12</c:v>
                </c:pt>
                <c:pt idx="3">
                  <c:v>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37151406"/>
        <c:axId val="7671110"/>
      </c:barChart>
      <c:catAx>
        <c:axId val="3715140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xmlns:a="http://schemas.openxmlformats.org/drawingml/2006/main" w="9360">
            <a:solidFill>
              <a:srgbClr val="87878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7671110"/>
        <c:crosses val="autoZero"/>
        <c:lblOffset val="100"/>
      </c:catAx>
      <c:valAx>
        <c:axId val="7671110"/>
        <c:scaling>
          <c:orientation val="minMax"/>
          <c:max val="18"/>
          <c:min val="0"/>
        </c:scaling>
        <c:delete val="0"/>
        <c:axPos val="l"/>
        <c:majorGridlines>
          <c:spPr>
            <a:ln xmlns:a="http://schemas.openxmlformats.org/drawingml/2006/main" w="9360">
              <a:solidFill>
                <a:srgbClr val="878787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9360">
            <a:solidFill>
              <a:srgbClr val="87878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37151406"/>
        <c:crosses val="autoZero"/>
        <c:crossBetween val="between"/>
        <c:majorUnit val="3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0" u="none">
              <a:solidFill>
                <a:srgbClr val="00000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roundedCorners val="0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SSIM trước và sau xử lý — mức medium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 u="none">
              <a:solidFill>
                <a:srgbClr val="000000"/>
              </a:solidFill>
              <a:latin typeface="Arial"/>
              <a:ea typeface="Arial"/>
              <a:cs typeface="Arial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Trước xử lý</c:v>
                </c:pt>
              </c:strCache>
            </c:strRef>
          </c:tx>
          <c:spPr>
            <a:ln xmlns:a="http://schemas.openxmlformats.org/drawingml/2006/main" w="0">
              <a:noFill/>
            </a:ln>
          </c:spP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00" b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</c:dLbls>
          <c:cat>
            <c:strRef>
              <c:f>categories</c:f>
              <c:strCache>
                <c:ptCount val="4"/>
                <c:pt idx="0">
                  <c:v>Thiếu sáng</c:v>
                </c:pt>
                <c:pt idx="1">
                  <c:v>Gaussian</c:v>
                </c:pt>
                <c:pt idx="2">
                  <c:v>Salt-pepper</c:v>
                </c:pt>
                <c:pt idx="3">
                  <c:v>Mờ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0.492</c:v>
                </c:pt>
                <c:pt idx="1">
                  <c:v>0.603</c:v>
                </c:pt>
                <c:pt idx="2">
                  <c:v>0.71</c:v>
                </c:pt>
                <c:pt idx="3">
                  <c:v>0.722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Tốt nhất sau xử lý</c:v>
                </c:pt>
              </c:strCache>
            </c:strRef>
          </c:tx>
          <c:spPr>
            <a:ln xmlns:a="http://schemas.openxmlformats.org/drawingml/2006/main" w="0">
              <a:noFill/>
            </a:ln>
          </c:spP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00" b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</c:dLbls>
          <c:cat>
            <c:strRef>
              <c:f>categories</c:f>
              <c:strCache>
                <c:ptCount val="4"/>
                <c:pt idx="0">
                  <c:v>Thiếu sáng</c:v>
                </c:pt>
                <c:pt idx="1">
                  <c:v>Gaussian</c:v>
                </c:pt>
                <c:pt idx="2">
                  <c:v>Salt-pepper</c:v>
                </c:pt>
                <c:pt idx="3">
                  <c:v>Mờ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0.916</c:v>
                </c:pt>
                <c:pt idx="1">
                  <c:v>0.757</c:v>
                </c:pt>
                <c:pt idx="2">
                  <c:v>0.853</c:v>
                </c:pt>
                <c:pt idx="3">
                  <c:v>0.803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37151406"/>
        <c:axId val="7671110"/>
      </c:barChart>
      <c:catAx>
        <c:axId val="3715140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xmlns:a="http://schemas.openxmlformats.org/drawingml/2006/main" w="9360">
            <a:solidFill>
              <a:srgbClr val="87878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7671110"/>
        <c:crosses val="autoZero"/>
        <c:lblOffset val="100"/>
      </c:catAx>
      <c:valAx>
        <c:axId val="7671110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360">
              <a:solidFill>
                <a:srgbClr val="878787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 xmlns:a="http://schemas.openxmlformats.org/drawingml/2006/main" w="9360">
            <a:solidFill>
              <a:srgbClr val="87878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37151406"/>
        <c:crosses val="autoZero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0" u="none">
              <a:solidFill>
                <a:srgbClr val="00000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TextBox 1">
            <a:extLst xmlns:a="http://schemas.openxmlformats.org/drawingml/2006/main">
              <a:ext uri="{FF2B5EF4-FFF2-40B4-BE49-F238E27FC236}">
                <a16:creationId xmlns:a16="http://schemas.microsoft.com/office/drawing/2014/main" id="{8BCC32E6-D317-41F5-8A6C-3D535167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800" y="502920"/>
            <a:ext cx="6072480" cy="31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ĐẠI HỌC PHENIKAA • TRƯỜNG CÔNG NGHỆ THÔNG TIN PHENIKAA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TextBox 2">
            <a:extLst xmlns:a="http://schemas.openxmlformats.org/drawingml/2006/main">
              <a:ext uri="{FF2B5EF4-FFF2-40B4-BE49-F238E27FC236}">
                <a16:creationId xmlns:a16="http://schemas.microsoft.com/office/drawing/2014/main" id="{D560A988-955F-4C82-92BF-29AE16A2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000" y="1143000"/>
            <a:ext cx="4742280" cy="113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650">
                <a:latin typeface="Arial"/>
                <a:ea typeface="Arial"/>
                <a:cs typeface="Arial"/>
              </a:defRPr>
            </a:pPr>
            <a:r>
              <a:rPr sz="16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NÂNG CAO NHẬN DIỆN 5 LOẠI HOA</a:t>
            </a:r>
            <a:endParaRPr sz="3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650">
                <a:latin typeface="Arial"/>
                <a:ea typeface="Arial"/>
                <a:cs typeface="Arial"/>
              </a:defRPr>
            </a:pPr>
            <a:r>
              <a:rPr sz="16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TRONG ĐIỀU KIỆN ẢNH SUY GIẢM</a:t>
            </a:r>
            <a:endParaRPr sz="3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TextBox 3">
            <a:extLst xmlns:a="http://schemas.openxmlformats.org/drawingml/2006/main">
              <a:ext uri="{FF2B5EF4-FFF2-40B4-BE49-F238E27FC236}">
                <a16:creationId xmlns:a16="http://schemas.microsoft.com/office/drawing/2014/main" id="{65EE005E-B422-4421-978E-9D26C06D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600" y="2331720"/>
            <a:ext cx="5330520" cy="38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650">
                <a:latin typeface="Arial"/>
                <a:ea typeface="Arial"/>
                <a:cs typeface="Arial"/>
              </a:defRPr>
            </a:pPr>
            <a:r>
              <a:rPr sz="16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Xử lý ảnh thích nghi kết hợp mạng nơ-ron tích chập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TextBox 4">
            <a:extLst xmlns:a="http://schemas.openxmlformats.org/drawingml/2006/main">
              <a:ext uri="{FF2B5EF4-FFF2-40B4-BE49-F238E27FC236}">
                <a16:creationId xmlns:a16="http://schemas.microsoft.com/office/drawing/2014/main" id="{E69924CF-8CD4-4955-B725-DC858D80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080" y="2788920"/>
            <a:ext cx="5245560" cy="34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650">
                <a:latin typeface="Arial"/>
                <a:ea typeface="Arial"/>
                <a:cs typeface="Arial"/>
              </a:defRPr>
            </a:pPr>
            <a:r>
              <a:rPr sz="1650" b="0" i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Adaptive Image Enhancement for Robust Five-Class Flower Recognition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extBox 5">
            <a:extLst xmlns:a="http://schemas.openxmlformats.org/drawingml/2006/main">
              <a:ext uri="{FF2B5EF4-FFF2-40B4-BE49-F238E27FC236}">
                <a16:creationId xmlns:a16="http://schemas.microsoft.com/office/drawing/2014/main" id="{42E5B090-547E-49E4-BEF5-802B18BC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880" y="3977640"/>
            <a:ext cx="5334480" cy="78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Môn: Xử lý ảnh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Giảng viên: chưa được cung cấp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Nhóm: thông tin ba thành viên chưa được cung cấp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TextBox 6">
            <a:extLst xmlns:a="http://schemas.openxmlformats.org/drawingml/2006/main">
              <a:ext uri="{FF2B5EF4-FFF2-40B4-BE49-F238E27FC236}">
                <a16:creationId xmlns:a16="http://schemas.microsoft.com/office/drawing/2014/main" id="{2EB401EA-FA20-459F-A0F8-9F368AC2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60" y="5074920"/>
            <a:ext cx="3511080" cy="30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Daisy • Dandelion • Roses • Sunflowers • Tulips • Hà Nội, 2026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Box 7">
            <a:extLst xmlns:a="http://schemas.openxmlformats.org/drawingml/2006/main">
              <a:ext uri="{FF2B5EF4-FFF2-40B4-BE49-F238E27FC236}">
                <a16:creationId xmlns:a16="http://schemas.microsoft.com/office/drawing/2014/main" id="{E1D8B648-5C5B-47B7-8A3E-C762FA00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89777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TextBox 1">
            <a:extLst xmlns:a="http://schemas.openxmlformats.org/drawingml/2006/main">
              <a:ext uri="{FF2B5EF4-FFF2-40B4-BE49-F238E27FC236}">
                <a16:creationId xmlns:a16="http://schemas.microsoft.com/office/drawing/2014/main" id="{ED2991D6-DDBD-4C46-9358-69F6F25E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423576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Thành viên và phạm vi phụ trách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TextBox 3">
            <a:extLst xmlns:a="http://schemas.openxmlformats.org/drawingml/2006/main">
              <a:ext uri="{FF2B5EF4-FFF2-40B4-BE49-F238E27FC236}">
                <a16:creationId xmlns:a16="http://schemas.microsoft.com/office/drawing/2014/main" id="{8EEF4CB8-98B0-405C-BE21-FA29B03E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2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73" name="Table 4"/>
          <p:cNvGraphicFramePr/>
          <p:nvPr/>
        </p:nvGraphicFramePr>
        <p:xfrm>
          <a:off xmlns:a="http://schemas.openxmlformats.org/drawingml/2006/main" x="594360" y="960120"/>
          <a:ext xmlns:a="http://schemas.openxmlformats.org/drawingml/2006/main" cx="10972440" cy="39315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1720"/>
                <a:gridCol w="2286000"/>
                <a:gridCol w="5074920"/>
                <a:gridCol w="1280160"/>
              </a:tblGrid>
              <a:tr h="98280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Thành viên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Vai trò chính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Phần phụ trách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Kiểm tra chéo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98280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TV1 · chưa cung cấp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Dữ liệu &amp; xử lý ảnh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Audit, split, degradation, preprocessing, test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Đối soát split &amp; src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280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TV2 · chưa cung cấp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CNN &amp; đánh giá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MobileNetV2, tuning, 49 điều kiện, thống kê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Notebook &amp; results/final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98280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TV3 · chưa cung cấp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Ứng dụng &amp; hồ sơ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Streamlit standalone, CI, Docker, tài liệu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QA chéo Word/PPT/Excel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2279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TextBox 1">
            <a:extLst xmlns:a="http://schemas.openxmlformats.org/drawingml/2006/main">
              <a:ext uri="{FF2B5EF4-FFF2-40B4-BE49-F238E27FC236}">
                <a16:creationId xmlns:a16="http://schemas.microsoft.com/office/drawing/2014/main" id="{53341E34-56B5-4A16-8C35-1FEA27E0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346968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rgbClr val="17365D"/>
                </a:solidFill>
                <a:latin typeface="Arial"/>
                <a:ea typeface="Arial"/>
                <a:cs typeface="Arial"/>
              </a:rPr>
              <a:t>Bài toán và động cơ nghiên cứu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TextBox 3">
            <a:extLst xmlns:a="http://schemas.openxmlformats.org/drawingml/2006/main">
              <a:ext uri="{FF2B5EF4-FFF2-40B4-BE49-F238E27FC236}">
                <a16:creationId xmlns:a16="http://schemas.microsoft.com/office/drawing/2014/main" id="{A03AF0FB-7F17-4E4C-A8E0-5D20E313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787878"/>
                </a:solidFill>
                <a:latin typeface="Arial"/>
                <a:ea typeface="Arial"/>
                <a:cs typeface="Arial"/>
              </a:rPr>
              <a:t>3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TextBox 4">
            <a:extLst xmlns:a="http://schemas.openxmlformats.org/drawingml/2006/main">
              <a:ext uri="{FF2B5EF4-FFF2-40B4-BE49-F238E27FC236}">
                <a16:creationId xmlns:a16="http://schemas.microsoft.com/office/drawing/2014/main" id="{E36330F3-C162-4B95-853F-02E3ECBE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6885000" cy="209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73080" tIns="18360" rIns="45720" bIns="1836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Đầu vào: ảnh 5 lớp, sạch hoặc suy giảm.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5 suy giảm × 3 mức; nhiều kỹ thuật xử lý ảnh.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So sánh cùng split, MobileNetV2 và giao thức.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Đo Accuracy, Precision, Recall, Macro F1, Confusion Matrix.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Đích: pipeline thích nghi theo suy giảm.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extBox 6">
            <a:extLst xmlns:a="http://schemas.openxmlformats.org/drawingml/2006/main">
              <a:ext uri="{FF2B5EF4-FFF2-40B4-BE49-F238E27FC236}">
                <a16:creationId xmlns:a16="http://schemas.microsoft.com/office/drawing/2014/main" id="{41232A31-6DA5-47F9-98B3-A9562B92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720" y="6324840"/>
            <a:ext cx="6784560" cy="30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Ảnh đẹp hơn chưa chắc CNN tốt hơn — phải kiểm chứng.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0523021ae41e0"/>
          <a:stretch xmlns:a="http://schemas.openxmlformats.org/drawingml/2006/main"/>
        </p:blipFill>
        <p:spPr>
          <a:xfrm xmlns:a="http://schemas.openxmlformats.org/drawingml/2006/main" flipH="0" flipV="0">
            <a:off x="4875120" y="2905200"/>
            <a:ext cx="5712840" cy="33782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9815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TextBox 1">
            <a:extLst xmlns:a="http://schemas.openxmlformats.org/drawingml/2006/main">
              <a:ext uri="{FF2B5EF4-FFF2-40B4-BE49-F238E27FC236}">
                <a16:creationId xmlns:a16="http://schemas.microsoft.com/office/drawing/2014/main" id="{938097F3-1AB0-4A8C-BDFF-23C4F763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564624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Mục tiêu, câu hỏi nghiên cứu và tiêu chí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TextBox 3">
            <a:extLst xmlns:a="http://schemas.openxmlformats.org/drawingml/2006/main">
              <a:ext uri="{FF2B5EF4-FFF2-40B4-BE49-F238E27FC236}">
                <a16:creationId xmlns:a16="http://schemas.microsoft.com/office/drawing/2014/main" id="{1096D763-4405-48BF-87B8-30095640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4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TextBox 4">
            <a:extLst xmlns:a="http://schemas.openxmlformats.org/drawingml/2006/main">
              <a:ext uri="{FF2B5EF4-FFF2-40B4-BE49-F238E27FC236}">
                <a16:creationId xmlns:a16="http://schemas.microsoft.com/office/drawing/2014/main" id="{D839B853-44F9-4CB4-B0A7-8D542D10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5840"/>
            <a:ext cx="6641640" cy="174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73080" tIns="18360" rIns="45720" bIns="1836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RQ1: từng suy giảm làm Accuracy và Macro F1 giảm bao nhiêu so với ảnh sạch?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RQ2: phương pháp nào cải thiện tốt nhất cho từng suy giảm và mức độ?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RQ3: PSNR/SSIM/ΔE có đồng biến với hiệu quả nhận diện hay không?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RQ4: pipeline thích nghi có vượt xử lý chung trên cùng test split hay không?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Quy tắc: khóa split và cấu hình trước khi đánh giá test.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0EE102F-A16F-421A-8E9D-9D9C96F8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040" y="3749040"/>
            <a:ext cx="4205880" cy="21027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13970">
            <a:solidFill>
              <a:srgbClr val="1F4E79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Hợp đồng đánh giá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t/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Cùng CNN • Cùng split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Không bịa kết quả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TextBox 6">
            <a:extLst xmlns:a="http://schemas.openxmlformats.org/drawingml/2006/main">
              <a:ext uri="{FF2B5EF4-FFF2-40B4-BE49-F238E27FC236}">
                <a16:creationId xmlns:a16="http://schemas.microsoft.com/office/drawing/2014/main" id="{901A39E5-2FB8-4A74-9DCE-2D435706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560" y="6236280"/>
            <a:ext cx="4578840" cy="32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Kết luận chỉ được chấp nhận khi có file metrics, model và confusion matrix tái lập được.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39960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TextBox 1">
            <a:extLst xmlns:a="http://schemas.openxmlformats.org/drawingml/2006/main">
              <a:ext uri="{FF2B5EF4-FFF2-40B4-BE49-F238E27FC236}">
                <a16:creationId xmlns:a16="http://schemas.microsoft.com/office/drawing/2014/main" id="{A8729C97-A97F-4EFC-8938-AC80639F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340848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Dữ liệu, kiểm định và chia tập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TextBox 3">
            <a:extLst xmlns:a="http://schemas.openxmlformats.org/drawingml/2006/main">
              <a:ext uri="{FF2B5EF4-FFF2-40B4-BE49-F238E27FC236}">
                <a16:creationId xmlns:a16="http://schemas.microsoft.com/office/drawing/2014/main" id="{AFAA43BC-7007-4E78-A3CF-AD2FBA9A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5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35" name="Table 4"/>
          <p:cNvGraphicFramePr/>
          <p:nvPr/>
        </p:nvGraphicFramePr>
        <p:xfrm>
          <a:off xmlns:a="http://schemas.openxmlformats.org/drawingml/2006/main" x="640080" y="914400"/>
          <a:ext xmlns:a="http://schemas.openxmlformats.org/drawingml/2006/main" cx="4754520" cy="42973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51760"/>
                <a:gridCol w="2103120"/>
              </a:tblGrid>
              <a:tr h="5371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Thông tin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5371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Nguồn hiện có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Inventory ghi sẵn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1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Ảnh hợp lệ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3.668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71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File hỏng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1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Số lớp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71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Nhóm trùng chính xác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1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Nhóm trùng khác nhãn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71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Train / Val / Test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2.568 / 550 / 550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" name="TextBox 5">
            <a:extLst xmlns:a="http://schemas.openxmlformats.org/drawingml/2006/main">
              <a:ext uri="{FF2B5EF4-FFF2-40B4-BE49-F238E27FC236}">
                <a16:creationId xmlns:a16="http://schemas.microsoft.com/office/drawing/2014/main" id="{36CD74BC-44B1-4EE5-A498-B0E0A035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005840"/>
            <a:ext cx="5326200" cy="1396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73080" tIns="18360" rIns="45720" bIns="1836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Phân bố 5 lớp được thể hiện trong biểu đồ.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Group split theo SHA-256 để chống rò rỉ ảnh trùng.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Tỷ lệ 70/15/15; cố định seed để tái lập.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Hai ảnh hỏng được ghi log và loại khỏi split.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9431ceab94579"/>
          <a:srcRect xmlns:a="http://schemas.openxmlformats.org/drawingml/2006/main" l="1180" t="0" r="11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17920" y="3429000"/>
            <a:ext cx="4205880" cy="2239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322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extBox 1">
            <a:extLst xmlns:a="http://schemas.openxmlformats.org/drawingml/2006/main">
              <a:ext uri="{FF2B5EF4-FFF2-40B4-BE49-F238E27FC236}">
                <a16:creationId xmlns:a16="http://schemas.microsoft.com/office/drawing/2014/main" id="{0D19218E-F76B-4A23-9DCD-9088B318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447732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EDA: phân bố lớp và đặc trưng ảnh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TextBox 3">
            <a:extLst xmlns:a="http://schemas.openxmlformats.org/drawingml/2006/main">
              <a:ext uri="{FF2B5EF4-FFF2-40B4-BE49-F238E27FC236}">
                <a16:creationId xmlns:a16="http://schemas.microsoft.com/office/drawing/2014/main" id="{C530B41A-436B-41E8-B544-C7D54474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6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43" name="Table 6"/>
          <p:cNvGraphicFramePr/>
          <p:nvPr/>
        </p:nvGraphicFramePr>
        <p:xfrm>
          <a:off xmlns:a="http://schemas.openxmlformats.org/drawingml/2006/main" x="9464040" y="960120"/>
          <a:ext xmlns:a="http://schemas.openxmlformats.org/drawingml/2006/main" cx="2102760" cy="25599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5880"/>
                <a:gridCol w="777240"/>
              </a:tblGrid>
              <a:tr h="511920"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</a:t>
                      </a:r>
                      <a:endParaRPr sz="1300" b="0" u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Số ảnh</a:t>
                      </a:r>
                      <a:endParaRPr sz="1300" b="0" u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</a:tr>
              <a:tr h="511920"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Daisy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633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Dandelion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897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11920"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Roses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640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Sunflowers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699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7">
            <a:extLst xmlns:a="http://schemas.openxmlformats.org/drawingml/2006/main">
              <a:ext uri="{FF2B5EF4-FFF2-40B4-BE49-F238E27FC236}">
                <a16:creationId xmlns:a16="http://schemas.microsoft.com/office/drawing/2014/main" id="{4C55D53D-37A3-42E2-AB25-449C4FAE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10652400" cy="61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Nhận xét: dữ liệu khác nhau về sáng, tương phản, kích thước và nền; vì vậy cần resize có kiểm soát và augmentation chỉ trên train.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e98c95277427b"/>
          <a:stretch xmlns:a="http://schemas.openxmlformats.org/drawingml/2006/main"/>
        </p:blipFill>
        <p:spPr>
          <a:xfrm xmlns:a="http://schemas.openxmlformats.org/drawingml/2006/main" flipH="0" flipV="0">
            <a:off x="594360" y="914400"/>
            <a:ext cx="4160160" cy="2605680"/>
          </a:xfrm>
          <a:prstGeom xmlns:a="http://schemas.openxmlformats.org/drawingml/2006/main" prst="rect">
            <a:avLst/>
          </a:prstGeom>
        </p:spPr>
      </p:pic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59d52bf634de5"/>
          <a:stretch xmlns:a="http://schemas.openxmlformats.org/drawingml/2006/main"/>
        </p:blipFill>
        <p:spPr>
          <a:xfrm xmlns:a="http://schemas.openxmlformats.org/drawingml/2006/main" flipH="0" flipV="0">
            <a:off x="5074920" y="914400"/>
            <a:ext cx="4160160" cy="26056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2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extBox 1">
            <a:extLst xmlns:a="http://schemas.openxmlformats.org/drawingml/2006/main">
              <a:ext uri="{FF2B5EF4-FFF2-40B4-BE49-F238E27FC236}">
                <a16:creationId xmlns:a16="http://schemas.microsoft.com/office/drawing/2014/main" id="{0D19218E-F76B-4A23-9DCD-9088B318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447732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Thiết kế ảnh suy giảm có kiểm soát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TextBox 3">
            <a:extLst xmlns:a="http://schemas.openxmlformats.org/drawingml/2006/main">
              <a:ext uri="{FF2B5EF4-FFF2-40B4-BE49-F238E27FC236}">
                <a16:creationId xmlns:a16="http://schemas.microsoft.com/office/drawing/2014/main" id="{C530B41A-436B-41E8-B544-C7D54474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7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43" name="Table 6"/>
          <p:cNvGraphicFramePr/>
          <p:nvPr/>
        </p:nvGraphicFramePr>
        <p:xfrm>
          <a:off xmlns:a="http://schemas.openxmlformats.org/drawingml/2006/main" x="9464040" y="960120"/>
          <a:ext xmlns:a="http://schemas.openxmlformats.org/drawingml/2006/main" cx="2102760" cy="25599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5880"/>
                <a:gridCol w="777240"/>
              </a:tblGrid>
              <a:tr h="511920"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Suy giảm</a:t>
                      </a:r>
                      <a:endParaRPr sz="1300" b="0" u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 mức</a:t>
                      </a:r>
                      <a:endParaRPr sz="1300" b="0" u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</a:tr>
              <a:tr h="511920"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Thiếu sáng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γ 1,5 / 2,5 / 4,0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Gaussian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σ 10 / 25 / 50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11920"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Salt-pepper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mật độ tăng dần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Mờ Gaussian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kernel tăng dần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7">
            <a:extLst xmlns:a="http://schemas.openxmlformats.org/drawingml/2006/main">
              <a:ext uri="{FF2B5EF4-FFF2-40B4-BE49-F238E27FC236}">
                <a16:creationId xmlns:a16="http://schemas.microsoft.com/office/drawing/2014/main" id="{4C55D53D-37A3-42E2-AB25-449C4FAE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10652400" cy="61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Mỗi suy giảm có ba mức light/medium/strong; tham số nằm trong YAML để lặp lại chính xác và không thay đổi theo từng phương pháp.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65f61dd3c4036"/>
          <a:stretch xmlns:a="http://schemas.openxmlformats.org/drawingml/2006/main"/>
        </p:blipFill>
        <p:spPr>
          <a:xfrm xmlns:a="http://schemas.openxmlformats.org/drawingml/2006/main" flipH="0" flipV="0">
            <a:off x="594360" y="914400"/>
            <a:ext cx="4160160" cy="2605680"/>
          </a:xfrm>
          <a:prstGeom xmlns:a="http://schemas.openxmlformats.org/drawingml/2006/main" prst="rect">
            <a:avLst/>
          </a:prstGeom>
        </p:spPr>
      </p:pic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3e164d90148da"/>
          <a:stretch xmlns:a="http://schemas.openxmlformats.org/drawingml/2006/main"/>
        </p:blipFill>
        <p:spPr>
          <a:xfrm xmlns:a="http://schemas.openxmlformats.org/drawingml/2006/main" flipH="0" flipV="0">
            <a:off x="5074920" y="914400"/>
            <a:ext cx="4160160" cy="26056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2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TextBox 1">
            <a:extLst xmlns:a="http://schemas.openxmlformats.org/drawingml/2006/main">
              <a:ext uri="{FF2B5EF4-FFF2-40B4-BE49-F238E27FC236}">
                <a16:creationId xmlns:a16="http://schemas.microsoft.com/office/drawing/2014/main" id="{EBB70B4F-5139-481D-A8E2-92E4F5F6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474372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Các kỹ thuật xử lý ảnh được khảo sát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TextBox 3">
            <a:extLst xmlns:a="http://schemas.openxmlformats.org/drawingml/2006/main">
              <a:ext uri="{FF2B5EF4-FFF2-40B4-BE49-F238E27FC236}">
                <a16:creationId xmlns:a16="http://schemas.microsoft.com/office/drawing/2014/main" id="{45550AAA-A84D-4AED-9C91-6CE9FD02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8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95" name="Table 4"/>
          <p:cNvGraphicFramePr/>
          <p:nvPr/>
        </p:nvGraphicFramePr>
        <p:xfrm>
          <a:off xmlns:a="http://schemas.openxmlformats.org/drawingml/2006/main" x="640080" y="960120"/>
          <a:ext xmlns:a="http://schemas.openxmlformats.org/drawingml/2006/main" cx="10972440" cy="4205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51760"/>
                <a:gridCol w="3931920"/>
                <a:gridCol w="4389120"/>
              </a:tblGrid>
              <a:tr h="7009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Phương pháp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Tác dụng chính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Rủi ro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7009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Gamma / CLAHE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Nâng sáng, tương phản cục bộ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Cháy sáng, khuếch đại nhiễu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9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Gaussian / Median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Làm trơn, khử nhiễu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Mất biên, mất texture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7009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Bilateral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Khử nhiễu giữ biên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Tốn thời gian, nhạy tham số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9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Sharpen / Unsharp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Phục hồi cảm nhận biên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Halo, khuếch đại nhiễu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7009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RGB / HSV / Lab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Cân bằng màu / độ sáng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Sai màu khi quá mức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TextBox 5">
            <a:extLst xmlns:a="http://schemas.openxmlformats.org/drawingml/2006/main">
              <a:ext uri="{FF2B5EF4-FFF2-40B4-BE49-F238E27FC236}">
                <a16:creationId xmlns:a16="http://schemas.microsoft.com/office/drawing/2014/main" id="{8069F32F-95F5-47A5-877F-E76F68E8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0680"/>
            <a:ext cx="7860240" cy="32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Không có một phép xử lý tối ưu cho mọi suy giảm; tham số phải được chọn trên validation, không nhìn test.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2870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TextBox 1">
            <a:extLst xmlns:a="http://schemas.openxmlformats.org/drawingml/2006/main">
              <a:ext uri="{FF2B5EF4-FFF2-40B4-BE49-F238E27FC236}">
                <a16:creationId xmlns:a16="http://schemas.microsoft.com/office/drawing/2014/main" id="{EBB70B4F-5139-481D-A8E2-92E4F5F6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474372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Ánh xạ suy giảm → phương pháp ứng viên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TextBox 3">
            <a:extLst xmlns:a="http://schemas.openxmlformats.org/drawingml/2006/main">
              <a:ext uri="{FF2B5EF4-FFF2-40B4-BE49-F238E27FC236}">
                <a16:creationId xmlns:a16="http://schemas.microsoft.com/office/drawing/2014/main" id="{45550AAA-A84D-4AED-9C91-6CE9FD02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9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95" name="Table 4"/>
          <p:cNvGraphicFramePr/>
          <p:nvPr/>
        </p:nvGraphicFramePr>
        <p:xfrm>
          <a:off xmlns:a="http://schemas.openxmlformats.org/drawingml/2006/main" x="640080" y="960120"/>
          <a:ext xmlns:a="http://schemas.openxmlformats.org/drawingml/2006/main" cx="10972440" cy="4205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51760"/>
                <a:gridCol w="3931920"/>
                <a:gridCol w="4389120"/>
              </a:tblGrid>
              <a:tr h="7009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Suy giảm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Ứng viên ưu tiên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Tiêu chí phụ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7009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Thiếu sáng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Gamma, CLAHE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SSIM, histogram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9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Nhiễu Gaussian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Bilateral, Gaussian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SSIM, bảo toàn biên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7009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Salt-and-pepper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Median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PSNR, điểm nhiễu còn lại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9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Làm mờ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Sharpen, Unsharp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Biên và halo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70092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Lệch màu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HSV, Lab, RGB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ΔE2000, histogram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TextBox 5">
            <a:extLst xmlns:a="http://schemas.openxmlformats.org/drawingml/2006/main">
              <a:ext uri="{FF2B5EF4-FFF2-40B4-BE49-F238E27FC236}">
                <a16:creationId xmlns:a16="http://schemas.microsoft.com/office/drawing/2014/main" id="{8069F32F-95F5-47A5-877F-E76F68E8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0680"/>
            <a:ext cx="7860240" cy="32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Ánh xạ là giả thuyết ban đầu; phương pháp thắng cuối cùng phải dựa trên validation Macro F1 và kiểm tra metric ảnh.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2870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TextBox 1">
            <a:extLst xmlns:a="http://schemas.openxmlformats.org/drawingml/2006/main">
              <a:ext uri="{FF2B5EF4-FFF2-40B4-BE49-F238E27FC236}">
                <a16:creationId xmlns:a16="http://schemas.microsoft.com/office/drawing/2014/main" id="{3CCDBF98-198C-4155-AF78-E77896DA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318096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Quy trình thí nghiệm bốn nhánh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TextBox 3">
            <a:extLst xmlns:a="http://schemas.openxmlformats.org/drawingml/2006/main">
              <a:ext uri="{FF2B5EF4-FFF2-40B4-BE49-F238E27FC236}">
                <a16:creationId xmlns:a16="http://schemas.microsoft.com/office/drawing/2014/main" id="{DFB51E2D-9A47-4C80-9861-C2198032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10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TextBox 4">
            <a:extLst xmlns:a="http://schemas.openxmlformats.org/drawingml/2006/main">
              <a:ext uri="{FF2B5EF4-FFF2-40B4-BE49-F238E27FC236}">
                <a16:creationId xmlns:a16="http://schemas.microsoft.com/office/drawing/2014/main" id="{BEE0D558-BE8D-48BA-A00E-4BB10E47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77240"/>
            <a:ext cx="2049120" cy="32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Chuẩn bị dữ liệu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5ACC878-2F96-49AE-8663-BC00206C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97280"/>
            <a:ext cx="21484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Kiểm tra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ảnh hỏng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1" name="Connector 6"/>
          <p:cNvCxnSpPr/>
          <p:nvPr/>
        </p:nvCxnSpPr>
        <p:spPr>
          <a:xfrm xmlns:a="http://schemas.openxmlformats.org/drawingml/2006/main">
            <a:off x="2743200" y="1440000"/>
            <a:ext cx="5032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02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0CB5F7C-95CB-4481-8301-4D5A71A6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097280"/>
            <a:ext cx="21484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Hash &amp;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nhóm trùng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3" name="Connector 8"/>
          <p:cNvCxnSpPr/>
          <p:nvPr/>
        </p:nvCxnSpPr>
        <p:spPr>
          <a:xfrm xmlns:a="http://schemas.openxmlformats.org/drawingml/2006/main">
            <a:off x="5394960" y="1440000"/>
            <a:ext cx="5032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04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C86613F-7EBF-4EA9-BD6D-585FD0D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097280"/>
            <a:ext cx="21484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Chia tập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70/15/15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5" name="Connector 10"/>
          <p:cNvCxnSpPr/>
          <p:nvPr/>
        </p:nvCxnSpPr>
        <p:spPr>
          <a:xfrm xmlns:a="http://schemas.openxmlformats.org/drawingml/2006/main">
            <a:off x="8046720" y="1440000"/>
            <a:ext cx="5032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06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D83CA39-BAA8-432C-8404-A20DC1C2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097280"/>
            <a:ext cx="21484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Sinh ảnh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suy giảm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B69E254-182E-4D45-85E1-4C38B5B1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48840"/>
            <a:ext cx="19198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Nhánh A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ảnh sạch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8" name="Connector 13"/>
          <p:cNvCxnSpPr/>
          <p:nvPr/>
        </p:nvCxnSpPr>
        <p:spPr>
          <a:xfrm xmlns:a="http://schemas.openxmlformats.org/drawingml/2006/main">
            <a:off x="2514600" y="249156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09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9F0A89F-2114-4FAE-B822-BC3FBE38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148840"/>
            <a:ext cx="19198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Nhánh B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ảnh suy giảm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80" name="Connector 15"/>
          <p:cNvCxnSpPr/>
          <p:nvPr/>
        </p:nvCxnSpPr>
        <p:spPr>
          <a:xfrm xmlns:a="http://schemas.openxmlformats.org/drawingml/2006/main">
            <a:off x="4754880" y="249156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11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EBB51C79-1642-49A4-B662-BCA8DB68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48840"/>
            <a:ext cx="19198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Nhánh C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xử lý chung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82" name="Connector 17"/>
          <p:cNvCxnSpPr/>
          <p:nvPr/>
        </p:nvCxnSpPr>
        <p:spPr>
          <a:xfrm xmlns:a="http://schemas.openxmlformats.org/drawingml/2006/main">
            <a:off x="6995160" y="249156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13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4909485-3E98-4B6C-9865-C938F390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48840"/>
            <a:ext cx="19198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Nhánh D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thích nghi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84" name="Connector 19"/>
          <p:cNvCxnSpPr/>
          <p:nvPr/>
        </p:nvCxnSpPr>
        <p:spPr>
          <a:xfrm xmlns:a="http://schemas.openxmlformats.org/drawingml/2006/main">
            <a:off x="9235440" y="249156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15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F3B6395-84C7-4306-89A0-4CDD5521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148840"/>
            <a:ext cx="19198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Cùng CNN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&amp; split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TextBox 21">
            <a:extLst xmlns:a="http://schemas.openxmlformats.org/drawingml/2006/main">
              <a:ext uri="{FF2B5EF4-FFF2-40B4-BE49-F238E27FC236}">
                <a16:creationId xmlns:a16="http://schemas.microsoft.com/office/drawing/2014/main" id="{AC8139AF-5789-4EB9-B4EF-060C5C3E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1781640" cy="32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Lưu vết và đánh giá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546A0404-115E-4A34-A18E-483148D3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1919880" cy="7768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Config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YAML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88" name="Connector 23"/>
          <p:cNvCxnSpPr/>
          <p:nvPr/>
        </p:nvCxnSpPr>
        <p:spPr>
          <a:xfrm xmlns:a="http://schemas.openxmlformats.org/drawingml/2006/main">
            <a:off x="2514600" y="400032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19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8F78FAD-1B5B-4BE1-992B-BEC8817A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611880"/>
            <a:ext cx="1919880" cy="7768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MobileNetV2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.keras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0" name="Connector 25"/>
          <p:cNvCxnSpPr/>
          <p:nvPr/>
        </p:nvCxnSpPr>
        <p:spPr>
          <a:xfrm xmlns:a="http://schemas.openxmlformats.org/drawingml/2006/main">
            <a:off x="4754880" y="400032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21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D93CFA95-60DE-4669-9E13-8E66D4B8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611880"/>
            <a:ext cx="1919880" cy="7768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Metrics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CSV/JSON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2" name="Connector 27"/>
          <p:cNvCxnSpPr/>
          <p:nvPr/>
        </p:nvCxnSpPr>
        <p:spPr>
          <a:xfrm xmlns:a="http://schemas.openxmlformats.org/drawingml/2006/main">
            <a:off x="6995160" y="400032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23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3421A0F9-2774-4CC5-9D48-077116D0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11880"/>
            <a:ext cx="1919880" cy="7768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Confusion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Matrix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4" name="Connector 29"/>
          <p:cNvCxnSpPr/>
          <p:nvPr/>
        </p:nvCxnSpPr>
        <p:spPr>
          <a:xfrm xmlns:a="http://schemas.openxmlformats.org/drawingml/2006/main">
            <a:off x="9235440" y="400032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25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1004B733-6DBE-434C-99C0-6DBD3643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611880"/>
            <a:ext cx="1919880" cy="7768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Báo cáo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&amp; deploy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TextBox 31">
            <a:extLst xmlns:a="http://schemas.openxmlformats.org/drawingml/2006/main">
              <a:ext uri="{FF2B5EF4-FFF2-40B4-BE49-F238E27FC236}">
                <a16:creationId xmlns:a16="http://schemas.microsoft.com/office/drawing/2014/main" id="{2F75307A-C06C-4D6E-931C-ACA23F5E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3480"/>
            <a:ext cx="5772960" cy="993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73080" tIns="18360" rIns="45720" bIns="1836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Split và seed dùng chung cho tất cả nhánh.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Test chỉ đánh giá sau khi khóa mô hình/tham số.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Mỗi kết luận phải truy ngược được về artifact.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937834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TextBox 1">
            <a:extLst xmlns:a="http://schemas.openxmlformats.org/drawingml/2006/main">
              <a:ext uri="{FF2B5EF4-FFF2-40B4-BE49-F238E27FC236}">
                <a16:creationId xmlns:a16="http://schemas.microsoft.com/office/drawing/2014/main" id="{734A51CE-8012-49CD-AFC0-54078AAF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314892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Ma trận 49 điều kiện chất lượng ảnh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TextBox 3">
            <a:extLst xmlns:a="http://schemas.openxmlformats.org/drawingml/2006/main">
              <a:ext uri="{FF2B5EF4-FFF2-40B4-BE49-F238E27FC236}">
                <a16:creationId xmlns:a16="http://schemas.microsoft.com/office/drawing/2014/main" id="{A8958FBA-3981-4D13-8870-E7F61215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11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47" name="Table 4"/>
          <p:cNvGraphicFramePr/>
          <p:nvPr/>
        </p:nvGraphicFramePr>
        <p:xfrm>
          <a:off xmlns:a="http://schemas.openxmlformats.org/drawingml/2006/main" x="640080" y="1051560"/>
          <a:ext xmlns:a="http://schemas.openxmlformats.org/drawingml/2006/main" cx="4754520" cy="3062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1280160"/>
                <a:gridCol w="1280160"/>
              </a:tblGrid>
              <a:tr h="61236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Nhóm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Suy giảm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Sau xử lý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61236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Sạch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36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Thiếu sáng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1236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Hai loại nhiễu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36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Mờ + lệch màu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" name="Chart 5"/>
          <p:cNvGraphicFramePr/>
          <p:nvPr/>
        </p:nvGraphicFramePr>
        <p:xfrm>
          <a:off xmlns:a="http://schemas.openxmlformats.org/drawingml/2006/main" x="5715000" y="914400"/>
          <a:ext xmlns:a="http://schemas.openxmlformats.org/drawingml/2006/main" cx="5668920" cy="31543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c1b0e78b8b4017"/>
          </a:graphicData>
        </a:graphic>
      </p:graphicFrame>
      <p:sp>
        <p:nvSpPr>
          <p:cNvPr id="142" name="TextBox 6">
            <a:extLst xmlns:a="http://schemas.openxmlformats.org/drawingml/2006/main">
              <a:ext uri="{FF2B5EF4-FFF2-40B4-BE49-F238E27FC236}">
                <a16:creationId xmlns:a16="http://schemas.microsoft.com/office/drawing/2014/main" id="{BB71FC36-082C-4B2C-984A-2EBE4931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0" y="4617720"/>
            <a:ext cx="8993160" cy="35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Tổng: 1 ảnh sạch + 15 điều kiện suy giảm + 33 điều kiện sau xử lý = 49 hàng đo chất lượng ảnh.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30185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TextBox 1">
            <a:extLst xmlns:a="http://schemas.openxmlformats.org/drawingml/2006/main">
              <a:ext uri="{FF2B5EF4-FFF2-40B4-BE49-F238E27FC236}">
                <a16:creationId xmlns:a16="http://schemas.microsoft.com/office/drawing/2014/main" id="{3CCDBF98-198C-4155-AF78-E77896DA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318096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Kiến trúc CNN và giao thức công bằng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TextBox 3">
            <a:extLst xmlns:a="http://schemas.openxmlformats.org/drawingml/2006/main">
              <a:ext uri="{FF2B5EF4-FFF2-40B4-BE49-F238E27FC236}">
                <a16:creationId xmlns:a16="http://schemas.microsoft.com/office/drawing/2014/main" id="{DFB51E2D-9A47-4C80-9861-C2198032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12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TextBox 4">
            <a:extLst xmlns:a="http://schemas.openxmlformats.org/drawingml/2006/main">
              <a:ext uri="{FF2B5EF4-FFF2-40B4-BE49-F238E27FC236}">
                <a16:creationId xmlns:a16="http://schemas.microsoft.com/office/drawing/2014/main" id="{BEE0D558-BE8D-48BA-A00E-4BB10E47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77240"/>
            <a:ext cx="2049120" cy="32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Kiến trúc cố định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5ACC878-2F96-49AE-8663-BC00206C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97280"/>
            <a:ext cx="21484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Ảnh RGB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224 × 224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1" name="Connector 6"/>
          <p:cNvCxnSpPr/>
          <p:nvPr/>
        </p:nvCxnSpPr>
        <p:spPr>
          <a:xfrm xmlns:a="http://schemas.openxmlformats.org/drawingml/2006/main">
            <a:off x="2743200" y="1440000"/>
            <a:ext cx="5032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02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0CB5F7C-95CB-4481-8301-4D5A71A6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097280"/>
            <a:ext cx="21484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Augmentation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chỉ train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3" name="Connector 8"/>
          <p:cNvCxnSpPr/>
          <p:nvPr/>
        </p:nvCxnSpPr>
        <p:spPr>
          <a:xfrm xmlns:a="http://schemas.openxmlformats.org/drawingml/2006/main">
            <a:off x="5394960" y="1440000"/>
            <a:ext cx="5032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04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C86613F-7EBF-4EA9-BD6D-585FD0D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097280"/>
            <a:ext cx="21484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MobileNetV2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ImageNet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5" name="Connector 10"/>
          <p:cNvCxnSpPr/>
          <p:nvPr/>
        </p:nvCxnSpPr>
        <p:spPr>
          <a:xfrm xmlns:a="http://schemas.openxmlformats.org/drawingml/2006/main">
            <a:off x="8046720" y="1440000"/>
            <a:ext cx="5032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06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D83CA39-BAA8-432C-8404-A20DC1C2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097280"/>
            <a:ext cx="21484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GAP +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Dropout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B69E254-182E-4D45-85E1-4C38B5B1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48840"/>
            <a:ext cx="19198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Dense 5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Softmax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8" name="Connector 13"/>
          <p:cNvCxnSpPr/>
          <p:nvPr/>
        </p:nvCxnSpPr>
        <p:spPr>
          <a:xfrm xmlns:a="http://schemas.openxmlformats.org/drawingml/2006/main">
            <a:off x="2514600" y="249156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09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9F0A89F-2114-4FAE-B822-BC3FBE38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148840"/>
            <a:ext cx="19198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Freeze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backbone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80" name="Connector 15"/>
          <p:cNvCxnSpPr/>
          <p:nvPr/>
        </p:nvCxnSpPr>
        <p:spPr>
          <a:xfrm xmlns:a="http://schemas.openxmlformats.org/drawingml/2006/main">
            <a:off x="4754880" y="249156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11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EBB51C79-1642-49A4-B662-BCA8DB68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48840"/>
            <a:ext cx="19198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Early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stopping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82" name="Connector 17"/>
          <p:cNvCxnSpPr/>
          <p:nvPr/>
        </p:nvCxnSpPr>
        <p:spPr>
          <a:xfrm xmlns:a="http://schemas.openxmlformats.org/drawingml/2006/main">
            <a:off x="6995160" y="249156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13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4909485-3E98-4B6C-9865-C938F390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48840"/>
            <a:ext cx="19198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Fine-tune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có kiểm soát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84" name="Connector 19"/>
          <p:cNvCxnSpPr/>
          <p:nvPr/>
        </p:nvCxnSpPr>
        <p:spPr>
          <a:xfrm xmlns:a="http://schemas.openxmlformats.org/drawingml/2006/main">
            <a:off x="9235440" y="249156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15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F3B6395-84C7-4306-89A0-4CDD5521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148840"/>
            <a:ext cx="19198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Test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một lần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TextBox 21">
            <a:extLst xmlns:a="http://schemas.openxmlformats.org/drawingml/2006/main">
              <a:ext uri="{FF2B5EF4-FFF2-40B4-BE49-F238E27FC236}">
                <a16:creationId xmlns:a16="http://schemas.microsoft.com/office/drawing/2014/main" id="{AC8139AF-5789-4EB9-B4EF-060C5C3E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1781640" cy="32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Artifact bắt buộc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546A0404-115E-4A34-A18E-483148D3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1919880" cy="7768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mobilenetv2_flowers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.keras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88" name="Connector 23"/>
          <p:cNvCxnSpPr/>
          <p:nvPr/>
        </p:nvCxnSpPr>
        <p:spPr>
          <a:xfrm xmlns:a="http://schemas.openxmlformats.org/drawingml/2006/main">
            <a:off x="2514600" y="400032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19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8F78FAD-1B5B-4BE1-992B-BEC8817A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611880"/>
            <a:ext cx="1919880" cy="7768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history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CSV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0" name="Connector 25"/>
          <p:cNvCxnSpPr/>
          <p:nvPr/>
        </p:nvCxnSpPr>
        <p:spPr>
          <a:xfrm xmlns:a="http://schemas.openxmlformats.org/drawingml/2006/main">
            <a:off x="4754880" y="400032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21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D93CFA95-60DE-4669-9E13-8E66D4B8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611880"/>
            <a:ext cx="1919880" cy="7768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manifest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JSON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2" name="Connector 27"/>
          <p:cNvCxnSpPr/>
          <p:nvPr/>
        </p:nvCxnSpPr>
        <p:spPr>
          <a:xfrm xmlns:a="http://schemas.openxmlformats.org/drawingml/2006/main">
            <a:off x="6995160" y="400032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23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3421A0F9-2774-4CC5-9D48-077116D0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11880"/>
            <a:ext cx="1919880" cy="7768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predictions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CSV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4" name="Connector 29"/>
          <p:cNvCxnSpPr/>
          <p:nvPr/>
        </p:nvCxnSpPr>
        <p:spPr>
          <a:xfrm xmlns:a="http://schemas.openxmlformats.org/drawingml/2006/main">
            <a:off x="9235440" y="400032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25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1004B733-6DBE-434C-99C0-6DBD3643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611880"/>
            <a:ext cx="1919880" cy="7768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confusion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matrix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TextBox 31">
            <a:extLst xmlns:a="http://schemas.openxmlformats.org/drawingml/2006/main">
              <a:ext uri="{FF2B5EF4-FFF2-40B4-BE49-F238E27FC236}">
                <a16:creationId xmlns:a16="http://schemas.microsoft.com/office/drawing/2014/main" id="{2F75307A-C06C-4D6E-931C-ACA23F5E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3480"/>
            <a:ext cx="5772960" cy="993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73080" tIns="18360" rIns="45720" bIns="1836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Cùng kiến trúc, optimizer, epoch budget và seed.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Chọn checkpoint theo validation Macro F1.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Notebook đã sẵn sàng chạy trên Google Colab.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93783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TextBox 1">
            <a:extLst xmlns:a="http://schemas.openxmlformats.org/drawingml/2006/main">
              <a:ext uri="{FF2B5EF4-FFF2-40B4-BE49-F238E27FC236}">
                <a16:creationId xmlns:a16="http://schemas.microsoft.com/office/drawing/2014/main" id="{734A51CE-8012-49CD-AFC0-54078AAF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314892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Kết quả đo chất lượng ảnh đã chạy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TextBox 3">
            <a:extLst xmlns:a="http://schemas.openxmlformats.org/drawingml/2006/main">
              <a:ext uri="{FF2B5EF4-FFF2-40B4-BE49-F238E27FC236}">
                <a16:creationId xmlns:a16="http://schemas.microsoft.com/office/drawing/2014/main" id="{A8958FBA-3981-4D13-8870-E7F61215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13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47" name="Table 4"/>
          <p:cNvGraphicFramePr/>
          <p:nvPr/>
        </p:nvGraphicFramePr>
        <p:xfrm>
          <a:off xmlns:a="http://schemas.openxmlformats.org/drawingml/2006/main" x="640080" y="1051560"/>
          <a:ext xmlns:a="http://schemas.openxmlformats.org/drawingml/2006/main" cx="4754520" cy="3062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1280160"/>
                <a:gridCol w="1280160"/>
              </a:tblGrid>
              <a:tr h="61236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Suy giảm medium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Trước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Tốt nhất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61236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Thiếu sáng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0,492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Gamma: 0,916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36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Gaussian noise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0,603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Bilateral: 0,757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1236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Salt-pepper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0,710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Median: 0,853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36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Gaussian blur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0,722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Unsharp: 0,803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" name="Chart 5"/>
          <p:cNvGraphicFramePr/>
          <p:nvPr/>
        </p:nvGraphicFramePr>
        <p:xfrm>
          <a:off xmlns:a="http://schemas.openxmlformats.org/drawingml/2006/main" x="5715000" y="914400"/>
          <a:ext xmlns:a="http://schemas.openxmlformats.org/drawingml/2006/main" cx="5668920" cy="31543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bcd3cbc1954407"/>
          </a:graphicData>
        </a:graphic>
      </p:graphicFrame>
      <p:sp>
        <p:nvSpPr>
          <p:cNvPr id="142" name="TextBox 6">
            <a:extLst xmlns:a="http://schemas.openxmlformats.org/drawingml/2006/main">
              <a:ext uri="{FF2B5EF4-FFF2-40B4-BE49-F238E27FC236}">
                <a16:creationId xmlns:a16="http://schemas.microsoft.com/office/drawing/2014/main" id="{BB71FC36-082C-4B2C-984A-2EBE4931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0" y="4617720"/>
            <a:ext cx="8993160" cy="35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SSIM tăng ≠ Accuracy tăng; phải kiểm chứng bằng CNN.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30185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extBox 1">
            <a:extLst xmlns:a="http://schemas.openxmlformats.org/drawingml/2006/main">
              <a:ext uri="{FF2B5EF4-FFF2-40B4-BE49-F238E27FC236}">
                <a16:creationId xmlns:a16="http://schemas.microsoft.com/office/drawing/2014/main" id="{A724210E-9F94-4727-92D6-A5D3E34E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207972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Trạng thái kết quả nhận diện CNN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TextBox 3">
            <a:extLst xmlns:a="http://schemas.openxmlformats.org/drawingml/2006/main">
              <a:ext uri="{FF2B5EF4-FFF2-40B4-BE49-F238E27FC236}">
                <a16:creationId xmlns:a16="http://schemas.microsoft.com/office/drawing/2014/main" id="{E1BA073A-CFA2-46D7-9895-96571249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14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52" name="Table 4"/>
          <p:cNvGraphicFramePr/>
          <p:nvPr/>
        </p:nvGraphicFramePr>
        <p:xfrm>
          <a:off xmlns:a="http://schemas.openxmlformats.org/drawingml/2006/main" x="777240" y="960120"/>
          <a:ext xmlns:a="http://schemas.openxmlformats.org/drawingml/2006/main" cx="4205880" cy="310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60320"/>
                <a:gridCol w="1645920"/>
              </a:tblGrid>
              <a:tr h="51804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Hạng mục</a:t>
                      </a:r>
                      <a:endParaRPr sz="16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Trạng thái</a:t>
                      </a:r>
                      <a:endParaRPr sz="16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51804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Dataset + split</a:t>
                      </a:r>
                      <a:endParaRPr sz="16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Hoàn thành</a:t>
                      </a:r>
                      <a:endParaRPr sz="16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804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49 metric ảnh</a:t>
                      </a:r>
                      <a:endParaRPr sz="16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Hoàn thành</a:t>
                      </a:r>
                      <a:endParaRPr sz="16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1804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Huấn luyện CNN</a:t>
                      </a:r>
                      <a:endParaRPr sz="16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Chờ FULL_RUN</a:t>
                      </a:r>
                      <a:endParaRPr sz="16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804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Accuracy / Macro F1</a:t>
                      </a:r>
                      <a:endParaRPr sz="16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Chưa đánh giá</a:t>
                      </a:r>
                      <a:endParaRPr sz="16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1804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Confusion Matrix</a:t>
                      </a:r>
                      <a:endParaRPr sz="16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Chưa đánh giá</a:t>
                      </a:r>
                      <a:endParaRPr sz="16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" name="Table 5"/>
          <p:cNvGraphicFramePr/>
          <p:nvPr/>
        </p:nvGraphicFramePr>
        <p:xfrm>
          <a:off xmlns:a="http://schemas.openxmlformats.org/drawingml/2006/main" x="5349240" y="960120"/>
          <a:ext xmlns:a="http://schemas.openxmlformats.org/drawingml/2006/main" cx="5988960" cy="2331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54480"/>
                <a:gridCol w="1143000"/>
                <a:gridCol w="1143000"/>
                <a:gridCol w="960120"/>
                <a:gridCol w="1188720"/>
              </a:tblGrid>
              <a:tr h="58284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Nhánh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Trạng thái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Macro F1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Bằng chứng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58284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A — Sạch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Chờ chạy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predictions.csv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284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B — Suy giảm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Chờ chạy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condition_metrics.csv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82840"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C/D — Phục hồi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Chờ chạy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per_class_metrics.csv</a:t>
                      </a:r>
                      <a:endParaRPr sz="1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7" name="TextBox 6">
            <a:extLst xmlns:a="http://schemas.openxmlformats.org/drawingml/2006/main">
              <a:ext uri="{FF2B5EF4-FFF2-40B4-BE49-F238E27FC236}">
                <a16:creationId xmlns:a16="http://schemas.microsoft.com/office/drawing/2014/main" id="{9CEA2928-0BAA-4D6B-81F0-5DC86D01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03320"/>
            <a:ext cx="5053680" cy="993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73080" tIns="18360" rIns="45720" bIns="1836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</a:t>
            </a: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Source/split/notebook: đạt; pytest 21 PASS, 1 SKIP (thiếu Streamlit).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Checkpoint/locked params/results/final: chưa có.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Không điền Accuracy/F1 khi chưa có manifest FULL_RUN.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00770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extBox 1">
            <a:extLst xmlns:a="http://schemas.openxmlformats.org/drawingml/2006/main">
              <a:ext uri="{FF2B5EF4-FFF2-40B4-BE49-F238E27FC236}">
                <a16:creationId xmlns:a16="http://schemas.microsoft.com/office/drawing/2014/main" id="{0D19218E-F76B-4A23-9DCD-9088B318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447732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Vai trò của RGB, HSV và Lab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TextBox 3">
            <a:extLst xmlns:a="http://schemas.openxmlformats.org/drawingml/2006/main">
              <a:ext uri="{FF2B5EF4-FFF2-40B4-BE49-F238E27FC236}">
                <a16:creationId xmlns:a16="http://schemas.microsoft.com/office/drawing/2014/main" id="{C530B41A-436B-41E8-B544-C7D54474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15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43" name="Table 6"/>
          <p:cNvGraphicFramePr/>
          <p:nvPr/>
        </p:nvGraphicFramePr>
        <p:xfrm>
          <a:off xmlns:a="http://schemas.openxmlformats.org/drawingml/2006/main" x="9464040" y="960120"/>
          <a:ext xmlns:a="http://schemas.openxmlformats.org/drawingml/2006/main" cx="2102760" cy="25599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5880"/>
                <a:gridCol w="777240"/>
              </a:tblGrid>
              <a:tr h="511920"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Không gian</a:t>
                      </a:r>
                      <a:endParaRPr sz="1300" b="0" u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  <a:endParaRPr sz="1300" b="0" u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</a:tr>
              <a:tr h="511920"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RGB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Gain kênh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HSV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V / S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11920"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Lab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L* + a*/b*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ΔE2000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36360" tIns="18000" rIns="36360" bIns="18000" anchor="t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</a:rPr>
                        <a:t>Lệch màu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7">
            <a:extLst xmlns:a="http://schemas.openxmlformats.org/drawingml/2006/main">
              <a:ext uri="{FF2B5EF4-FFF2-40B4-BE49-F238E27FC236}">
                <a16:creationId xmlns:a16="http://schemas.microsoft.com/office/drawing/2014/main" id="{4C55D53D-37A3-42E2-AB25-449C4FAE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10652400" cy="61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Lab: L* + a*/b*; HSV: V/S; RGB: gain kênh. Đọc ΔE cùng ảnh thực tế.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b8c5b7c364d55"/>
          <a:stretch xmlns:a="http://schemas.openxmlformats.org/drawingml/2006/main"/>
        </p:blipFill>
        <p:spPr>
          <a:xfrm xmlns:a="http://schemas.openxmlformats.org/drawingml/2006/main" flipH="0" flipV="0">
            <a:off x="594360" y="914400"/>
            <a:ext cx="4160160" cy="2605680"/>
          </a:xfrm>
          <a:prstGeom xmlns:a="http://schemas.openxmlformats.org/drawingml/2006/main" prst="rect">
            <a:avLst/>
          </a:prstGeom>
        </p:spPr>
      </p:pic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ff8eddca34d85"/>
          <a:stretch xmlns:a="http://schemas.openxmlformats.org/drawingml/2006/main"/>
        </p:blipFill>
        <p:spPr>
          <a:xfrm xmlns:a="http://schemas.openxmlformats.org/drawingml/2006/main" flipH="0" flipV="0">
            <a:off x="5074920" y="914400"/>
            <a:ext cx="4160160" cy="26056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2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TextBox 1">
            <a:extLst xmlns:a="http://schemas.openxmlformats.org/drawingml/2006/main">
              <a:ext uri="{FF2B5EF4-FFF2-40B4-BE49-F238E27FC236}">
                <a16:creationId xmlns:a16="http://schemas.microsoft.com/office/drawing/2014/main" id="{7D1C096E-CDBD-4F8D-AFCA-8A2D5242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541944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Confusion Matrix: điều kiện xuất bản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TextBox 3">
            <a:extLst xmlns:a="http://schemas.openxmlformats.org/drawingml/2006/main">
              <a:ext uri="{FF2B5EF4-FFF2-40B4-BE49-F238E27FC236}">
                <a16:creationId xmlns:a16="http://schemas.microsoft.com/office/drawing/2014/main" id="{E91BB19E-EDDC-409C-8B74-A31D871A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16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TextBox 4">
            <a:extLst xmlns:a="http://schemas.openxmlformats.org/drawingml/2006/main">
              <a:ext uri="{FF2B5EF4-FFF2-40B4-BE49-F238E27FC236}">
                <a16:creationId xmlns:a16="http://schemas.microsoft.com/office/drawing/2014/main" id="{87028859-3F2E-4DE7-9AD7-45F76301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120" y="728280"/>
            <a:ext cx="1153080" cy="29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Không điền số giả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52CDD3E-EC93-4547-ABA8-4DFE9A0B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20" y="2343960"/>
            <a:ext cx="29196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vert="vert270" lIns="45720" tIns="90000" rIns="45720" bIns="90000" anchor="t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Nghiệm thu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01B8761-9E28-413E-B69D-AB02B781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00" y="1060200"/>
            <a:ext cx="6062040" cy="195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18360" rIns="45720" bIns="1836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Ma trận phải là 5 × 5 theo đúng class_names.json.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Có cả số đếm và bản chuẩn hóa theo hàng.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Cùng test.csv cho mọi nhánh.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Xuất PNG và CSV dự đoán để truy vết.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Chỉ cập nhật slide sau khi kiểm tra tổng support = 550.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59" name="Bảng 22"/>
          <p:cNvGraphicFramePr/>
          <p:nvPr/>
        </p:nvGraphicFramePr>
        <p:xfrm>
          <a:off xmlns:a="http://schemas.openxmlformats.org/drawingml/2006/main" x="712800" y="1080000"/>
          <a:ext xmlns:a="http://schemas.openxmlformats.org/drawingml/2006/main" cx="4690080" cy="32576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72520"/>
                <a:gridCol w="1172520"/>
                <a:gridCol w="1172520"/>
                <a:gridCol w="1172520"/>
              </a:tblGrid>
              <a:tr h="814320">
                <a:tc>
                  <a:txBody>
                    <a:bodyPr anchor="ctr"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sz="1350" b="1">
                          <a:latin typeface="Arial"/>
                          <a:ea typeface="Arial"/>
                          <a:cs typeface="Arial"/>
                        </a:rPr>
                        <a:t>Mục</a:t>
                      </a:r>
                      <a:endParaRPr sz="1800" b="0" u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Yêu cầu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Hiện có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Artifact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814320"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Lớp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5, đúng thứ tự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Đã khóa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class_names.json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14320"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Dự đoán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550 dòng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Chờ CNN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predictions.csv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14320"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Ma trận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5 × 5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Chưa sinh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CSV + PNG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1893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TextBox 1">
            <a:extLst xmlns:a="http://schemas.openxmlformats.org/drawingml/2006/main">
              <a:ext uri="{FF2B5EF4-FFF2-40B4-BE49-F238E27FC236}">
                <a16:creationId xmlns:a16="http://schemas.microsoft.com/office/drawing/2014/main" id="{7D1C096E-CDBD-4F8D-AFCA-8A2D5242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541944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Phân tích lỗi cần thực hiện sau CNN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TextBox 3">
            <a:extLst xmlns:a="http://schemas.openxmlformats.org/drawingml/2006/main">
              <a:ext uri="{FF2B5EF4-FFF2-40B4-BE49-F238E27FC236}">
                <a16:creationId xmlns:a16="http://schemas.microsoft.com/office/drawing/2014/main" id="{E91BB19E-EDDC-409C-8B74-A31D871A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17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TextBox 4">
            <a:extLst xmlns:a="http://schemas.openxmlformats.org/drawingml/2006/main">
              <a:ext uri="{FF2B5EF4-FFF2-40B4-BE49-F238E27FC236}">
                <a16:creationId xmlns:a16="http://schemas.microsoft.com/office/drawing/2014/main" id="{87028859-3F2E-4DE7-9AD7-45F76301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120" y="728280"/>
            <a:ext cx="1153080" cy="29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Phân loại nguyên nhân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52CDD3E-EC93-4547-ABA8-4DFE9A0B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20" y="2343960"/>
            <a:ext cx="29196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vert="vert270" lIns="45720" tIns="90000" rIns="45720" bIns="90000" anchor="t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Đầu ra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01B8761-9E28-413E-B69D-AB02B781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00" y="1060200"/>
            <a:ext cx="6062040" cy="2519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18360" rIns="45720" bIns="1836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Top cặp lớp nhầm: ví dụ daisy ↔ dandelion hoặc roses ↔ tulips.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So sánh theo loại/mức suy giảm và nhánh phục hồi.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Kiểm tra nền phức tạp, vật thể nhỏ, crop và màu lệch.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Đối chiếu confidence, ảnh gốc, degraded và enhanced.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Chỉ kết luận sau khi xem ảnh sai thật.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59" name="Bảng 22"/>
          <p:cNvGraphicFramePr/>
          <p:nvPr/>
        </p:nvGraphicFramePr>
        <p:xfrm>
          <a:off xmlns:a="http://schemas.openxmlformats.org/drawingml/2006/main" x="712800" y="1080000"/>
          <a:ext xmlns:a="http://schemas.openxmlformats.org/drawingml/2006/main" cx="4690080" cy="32576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72520"/>
                <a:gridCol w="1172520"/>
                <a:gridCol w="1172520"/>
                <a:gridCol w="1172520"/>
              </a:tblGrid>
              <a:tr h="814320">
                <a:tc>
                  <a:txBody>
                    <a:bodyPr anchor="ctr"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sz="1350" b="1">
                          <a:latin typeface="Arial"/>
                          <a:ea typeface="Arial"/>
                          <a:cs typeface="Arial"/>
                        </a:rPr>
                        <a:t>Phân tích</a:t>
                      </a:r>
                      <a:endParaRPr sz="1800" b="0" u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Đơn vị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Trạng thái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1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Artifact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814320"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Cặp nhầm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Số ảnh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Chờ CNN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error_analysis.csv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14320"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Theo loại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Macro F1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Chờ CNN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per_class_metrics.csv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14320"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Ảnh sai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Top-k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Chờ CNN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 defTabSz="457200">
                        <a:lnSpc>
                          <a:spcPct val="100000"/>
                        </a:lnSpc>
                        <a:buNone/>
                      </a:pPr>
                      <a:r>
                        <a:rPr sz="1350" b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error_analysis.csv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8100" marR="38100" marT="28575" marB="28575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1893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TextBox 1">
            <a:extLst xmlns:a="http://schemas.openxmlformats.org/drawingml/2006/main">
              <a:ext uri="{FF2B5EF4-FFF2-40B4-BE49-F238E27FC236}">
                <a16:creationId xmlns:a16="http://schemas.microsoft.com/office/drawing/2014/main" id="{D27D9920-0270-4633-B0FF-F2C86ACB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509652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Kiến trúc triển khai sản phẩm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TextBox 3">
            <a:extLst xmlns:a="http://schemas.openxmlformats.org/drawingml/2006/main">
              <a:ext uri="{FF2B5EF4-FFF2-40B4-BE49-F238E27FC236}">
                <a16:creationId xmlns:a16="http://schemas.microsoft.com/office/drawing/2014/main" id="{44ED3437-E5BC-4FD6-8CDC-C26BF534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18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1B6ADC9-F8EC-4DEF-87F6-0039C3DB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34440"/>
            <a:ext cx="1965600" cy="868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GitHub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repository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21" name="Connector 5"/>
          <p:cNvCxnSpPr/>
          <p:nvPr/>
        </p:nvCxnSpPr>
        <p:spPr>
          <a:xfrm xmlns:a="http://schemas.openxmlformats.org/drawingml/2006/main">
            <a:off x="2697480" y="1668600"/>
            <a:ext cx="25632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58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C4248DE-64D9-41F0-BD88-BB95451C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440" y="1234440"/>
            <a:ext cx="1965600" cy="868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src pipeline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trực tiếp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23" name="Connector 7"/>
          <p:cNvCxnSpPr/>
          <p:nvPr/>
        </p:nvCxnSpPr>
        <p:spPr>
          <a:xfrm xmlns:a="http://schemas.openxmlformats.org/drawingml/2006/main">
            <a:off x="4919400" y="1668600"/>
            <a:ext cx="25632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60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970AA1E-6EEE-44AB-8DF3-B60C63F4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360" y="1234440"/>
            <a:ext cx="1965600" cy="868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MobileNetV2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.keras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25" name="Connector 9"/>
          <p:cNvCxnSpPr/>
          <p:nvPr/>
        </p:nvCxnSpPr>
        <p:spPr>
          <a:xfrm xmlns:a="http://schemas.openxmlformats.org/drawingml/2006/main">
            <a:off x="7141320" y="1668600"/>
            <a:ext cx="25632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62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0D58CDB-091A-45D4-9CC0-B2F343D6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640" y="1234440"/>
            <a:ext cx="1965600" cy="868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Streamlit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standalone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27" name="Connector 11"/>
          <p:cNvCxnSpPr/>
          <p:nvPr/>
        </p:nvCxnSpPr>
        <p:spPr>
          <a:xfrm xmlns:a="http://schemas.openxmlformats.org/drawingml/2006/main">
            <a:off x="9363240" y="1668600"/>
            <a:ext cx="25632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64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C6CD826-7063-4880-8C0D-AED19DB2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1234440"/>
            <a:ext cx="1965600" cy="868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Người dùng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trình duyệt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Box 13">
            <a:extLst xmlns:a="http://schemas.openxmlformats.org/drawingml/2006/main">
              <a:ext uri="{FF2B5EF4-FFF2-40B4-BE49-F238E27FC236}">
                <a16:creationId xmlns:a16="http://schemas.microsoft.com/office/drawing/2014/main" id="{C4F036C5-DD48-4BEA-A00C-F71DD4B3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88920"/>
            <a:ext cx="5405760" cy="1329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73080" tIns="18360" rIns="45720" bIns="1836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Một process Streamlit gọi trực tiếp src.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Model cache một lần; locked params từ Validation.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UI hiển thị ba ảnh, ba dự đoán và đủ 5 lớp.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Một Dockerfile; Streamlit Cloud là đích chính.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66E7639-71B0-49DB-8D6A-EAD87099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920" y="2552760"/>
            <a:ext cx="3899160" cy="1900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13970">
            <a:solidFill>
              <a:srgbClr val="1F4E79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Kiến trúc production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User → Streamlit → src → MobileNetV2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Box 15">
            <a:extLst xmlns:a="http://schemas.openxmlformats.org/drawingml/2006/main">
              <a:ext uri="{FF2B5EF4-FFF2-40B4-BE49-F238E27FC236}">
                <a16:creationId xmlns:a16="http://schemas.microsoft.com/office/drawing/2014/main" id="{5A7F2169-E824-4C01-B8A8-2E1CFD65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960" y="4754880"/>
            <a:ext cx="5239080" cy="32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Production blocked: thiếu checkpoint, URL và bằng chứng deploy thật.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699031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TextBox 1">
            <a:extLst xmlns:a="http://schemas.openxmlformats.org/drawingml/2006/main">
              <a:ext uri="{FF2B5EF4-FFF2-40B4-BE49-F238E27FC236}">
                <a16:creationId xmlns:a16="http://schemas.microsoft.com/office/drawing/2014/main" id="{D27D9920-0270-4633-B0FF-F2C86ACB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509652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Luồng sử dụng ứng dụng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TextBox 3">
            <a:extLst xmlns:a="http://schemas.openxmlformats.org/drawingml/2006/main">
              <a:ext uri="{FF2B5EF4-FFF2-40B4-BE49-F238E27FC236}">
                <a16:creationId xmlns:a16="http://schemas.microsoft.com/office/drawing/2014/main" id="{44ED3437-E5BC-4FD6-8CDC-C26BF534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19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1B6ADC9-F8EC-4DEF-87F6-0039C3DB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34440"/>
            <a:ext cx="1965600" cy="868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Chọn / tải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ảnh hoa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21" name="Connector 5"/>
          <p:cNvCxnSpPr/>
          <p:nvPr/>
        </p:nvCxnSpPr>
        <p:spPr>
          <a:xfrm xmlns:a="http://schemas.openxmlformats.org/drawingml/2006/main">
            <a:off x="2697480" y="1668600"/>
            <a:ext cx="25632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58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C4248DE-64D9-41F0-BD88-BB95451C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440" y="1234440"/>
            <a:ext cx="1965600" cy="868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Kiểm tra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đầu vào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23" name="Connector 7"/>
          <p:cNvCxnSpPr/>
          <p:nvPr/>
        </p:nvCxnSpPr>
        <p:spPr>
          <a:xfrm xmlns:a="http://schemas.openxmlformats.org/drawingml/2006/main">
            <a:off x="4919400" y="1668600"/>
            <a:ext cx="25632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60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970AA1E-6EEE-44AB-8DF3-B60C63F4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360" y="1234440"/>
            <a:ext cx="1965600" cy="868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Chọn suy giảm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/ xử lý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25" name="Connector 9"/>
          <p:cNvCxnSpPr/>
          <p:nvPr/>
        </p:nvCxnSpPr>
        <p:spPr>
          <a:xfrm xmlns:a="http://schemas.openxmlformats.org/drawingml/2006/main">
            <a:off x="7141320" y="1668600"/>
            <a:ext cx="25632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62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0D58CDB-091A-45D4-9CC0-B2F343D6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640" y="1234440"/>
            <a:ext cx="1965600" cy="868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Chạy src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pipeline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27" name="Connector 11"/>
          <p:cNvCxnSpPr/>
          <p:nvPr/>
        </p:nvCxnSpPr>
        <p:spPr>
          <a:xfrm xmlns:a="http://schemas.openxmlformats.org/drawingml/2006/main">
            <a:off x="9363240" y="1668600"/>
            <a:ext cx="25632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64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C6CD826-7063-4880-8C0D-AED19DB2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1234440"/>
            <a:ext cx="1965600" cy="868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Ba top-1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&amp; chart 5 lớp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Box 13">
            <a:extLst xmlns:a="http://schemas.openxmlformats.org/drawingml/2006/main">
              <a:ext uri="{FF2B5EF4-FFF2-40B4-BE49-F238E27FC236}">
                <a16:creationId xmlns:a16="http://schemas.microsoft.com/office/drawing/2014/main" id="{C4F036C5-DD48-4BEA-A00C-F71DD4B3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88920"/>
            <a:ext cx="5405760" cy="1329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73080" tIns="18360" rIns="45720" bIns="1836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Upload → validate → degrade → enhance → batch predict.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Locked params chỉ đến từ Validation tuning.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UI báo rõ trạng thái model/config và khóa khi thiếu.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Không tạo screenshot hoặc URL giả khi chưa deploy.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66E7639-71B0-49DB-8D6A-EAD87099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920" y="2552760"/>
            <a:ext cx="3899160" cy="1900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13970">
            <a:solidFill>
              <a:srgbClr val="1F4E79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Trạng thái hiện tại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Local source verified • Production blocked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Box 15">
            <a:extLst xmlns:a="http://schemas.openxmlformats.org/drawingml/2006/main">
              <a:ext uri="{FF2B5EF4-FFF2-40B4-BE49-F238E27FC236}">
                <a16:creationId xmlns:a16="http://schemas.microsoft.com/office/drawing/2014/main" id="{5A7F2169-E824-4C01-B8A8-2E1CFD65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960" y="4754880"/>
            <a:ext cx="5239080" cy="32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Tiếp theo: FULL_RUN → model/checksum → Streamlit Cloud → smoke test.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699031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TextBox 1">
            <a:extLst xmlns:a="http://schemas.openxmlformats.org/drawingml/2006/main">
              <a:ext uri="{FF2B5EF4-FFF2-40B4-BE49-F238E27FC236}">
                <a16:creationId xmlns:a16="http://schemas.microsoft.com/office/drawing/2014/main" id="{3CCDBF98-198C-4155-AF78-E77896DA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318096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Pipeline tiền xử lý đề xuất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TextBox 3">
            <a:extLst xmlns:a="http://schemas.openxmlformats.org/drawingml/2006/main">
              <a:ext uri="{FF2B5EF4-FFF2-40B4-BE49-F238E27FC236}">
                <a16:creationId xmlns:a16="http://schemas.microsoft.com/office/drawing/2014/main" id="{DFB51E2D-9A47-4C80-9861-C2198032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20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TextBox 4">
            <a:extLst xmlns:a="http://schemas.openxmlformats.org/drawingml/2006/main">
              <a:ext uri="{FF2B5EF4-FFF2-40B4-BE49-F238E27FC236}">
                <a16:creationId xmlns:a16="http://schemas.microsoft.com/office/drawing/2014/main" id="{BEE0D558-BE8D-48BA-A00E-4BB10E47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77240"/>
            <a:ext cx="2049120" cy="32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Nhận biết dạng suy giảm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5ACC878-2F96-49AE-8663-BC00206C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97280"/>
            <a:ext cx="21484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Thiếu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sáng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1" name="Connector 6"/>
          <p:cNvCxnSpPr/>
          <p:nvPr/>
        </p:nvCxnSpPr>
        <p:spPr>
          <a:xfrm xmlns:a="http://schemas.openxmlformats.org/drawingml/2006/main">
            <a:off x="2743200" y="1440000"/>
            <a:ext cx="5032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02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0CB5F7C-95CB-4481-8301-4D5A71A6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097280"/>
            <a:ext cx="21484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Gaussian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noise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3" name="Connector 8"/>
          <p:cNvCxnSpPr/>
          <p:nvPr/>
        </p:nvCxnSpPr>
        <p:spPr>
          <a:xfrm xmlns:a="http://schemas.openxmlformats.org/drawingml/2006/main">
            <a:off x="5394960" y="1440000"/>
            <a:ext cx="5032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04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C86613F-7EBF-4EA9-BD6D-585FD0D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097280"/>
            <a:ext cx="21484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Salt-and-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pepper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5" name="Connector 10"/>
          <p:cNvCxnSpPr/>
          <p:nvPr/>
        </p:nvCxnSpPr>
        <p:spPr>
          <a:xfrm xmlns:a="http://schemas.openxmlformats.org/drawingml/2006/main">
            <a:off x="8046720" y="1440000"/>
            <a:ext cx="5032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06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D83CA39-BAA8-432C-8404-A20DC1C2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097280"/>
            <a:ext cx="21484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Blur /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lệch màu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B69E254-182E-4D45-85E1-4C38B5B1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48840"/>
            <a:ext cx="19198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Gamma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hoặc CLAHE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8" name="Connector 13"/>
          <p:cNvCxnSpPr/>
          <p:nvPr/>
        </p:nvCxnSpPr>
        <p:spPr>
          <a:xfrm xmlns:a="http://schemas.openxmlformats.org/drawingml/2006/main">
            <a:off x="2514600" y="249156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09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9F0A89F-2114-4FAE-B822-BC3FBE38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148840"/>
            <a:ext cx="19198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Bilateral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/ Gaussian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80" name="Connector 15"/>
          <p:cNvCxnSpPr/>
          <p:nvPr/>
        </p:nvCxnSpPr>
        <p:spPr>
          <a:xfrm xmlns:a="http://schemas.openxmlformats.org/drawingml/2006/main">
            <a:off x="4754880" y="249156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11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EBB51C79-1642-49A4-B662-BCA8DB68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48840"/>
            <a:ext cx="19198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Median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filter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82" name="Connector 17"/>
          <p:cNvCxnSpPr/>
          <p:nvPr/>
        </p:nvCxnSpPr>
        <p:spPr>
          <a:xfrm xmlns:a="http://schemas.openxmlformats.org/drawingml/2006/main">
            <a:off x="6995160" y="249156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13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4909485-3E98-4B6C-9865-C938F390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48840"/>
            <a:ext cx="19198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Sharpen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/ Unsharp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84" name="Connector 19"/>
          <p:cNvCxnSpPr/>
          <p:nvPr/>
        </p:nvCxnSpPr>
        <p:spPr>
          <a:xfrm xmlns:a="http://schemas.openxmlformats.org/drawingml/2006/main">
            <a:off x="9235440" y="249156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15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F3B6395-84C7-4306-89A0-4CDD5521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148840"/>
            <a:ext cx="1919880" cy="6854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HSV / Lab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/ RGB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TextBox 21">
            <a:extLst xmlns:a="http://schemas.openxmlformats.org/drawingml/2006/main">
              <a:ext uri="{FF2B5EF4-FFF2-40B4-BE49-F238E27FC236}">
                <a16:creationId xmlns:a16="http://schemas.microsoft.com/office/drawing/2014/main" id="{AC8139AF-5789-4EB9-B4EF-060C5C3E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1781640" cy="32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Quy tắc ra quyết định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546A0404-115E-4A34-A18E-483148D3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1919880" cy="7768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Chọn trên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validation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88" name="Connector 23"/>
          <p:cNvCxnSpPr/>
          <p:nvPr/>
        </p:nvCxnSpPr>
        <p:spPr>
          <a:xfrm xmlns:a="http://schemas.openxmlformats.org/drawingml/2006/main">
            <a:off x="2514600" y="400032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19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8F78FAD-1B5B-4BE1-992B-BEC8817A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611880"/>
            <a:ext cx="1919880" cy="7768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Kiểm tra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PSNR/SSIM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0" name="Connector 25"/>
          <p:cNvCxnSpPr/>
          <p:nvPr/>
        </p:nvCxnSpPr>
        <p:spPr>
          <a:xfrm xmlns:a="http://schemas.openxmlformats.org/drawingml/2006/main">
            <a:off x="4754880" y="400032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21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D93CFA95-60DE-4669-9E13-8E66D4B8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611880"/>
            <a:ext cx="1919880" cy="7768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Kiểm tra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ΔE / biên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2" name="Connector 27"/>
          <p:cNvCxnSpPr/>
          <p:nvPr/>
        </p:nvCxnSpPr>
        <p:spPr>
          <a:xfrm xmlns:a="http://schemas.openxmlformats.org/drawingml/2006/main">
            <a:off x="6995160" y="400032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23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3421A0F9-2774-4CC5-9D48-077116D0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11880"/>
            <a:ext cx="1919880" cy="7768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Khóa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tham số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4" name="Connector 29"/>
          <p:cNvCxnSpPr/>
          <p:nvPr/>
        </p:nvCxnSpPr>
        <p:spPr>
          <a:xfrm xmlns:a="http://schemas.openxmlformats.org/drawingml/2006/main">
            <a:off x="9235440" y="4000320"/>
            <a:ext cx="320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365D"/>
            </a:solidFill>
            <a:round/>
          </a:ln>
        </p:spPr>
      </p:cxnSp>
      <p:sp>
        <p:nvSpPr>
          <p:cNvPr id="125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1004B733-6DBE-434C-99C0-6DBD3643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611880"/>
            <a:ext cx="1919880" cy="7768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2DAE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Đánh giá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test một lần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TextBox 31">
            <a:extLst xmlns:a="http://schemas.openxmlformats.org/drawingml/2006/main">
              <a:ext uri="{FF2B5EF4-FFF2-40B4-BE49-F238E27FC236}">
                <a16:creationId xmlns:a16="http://schemas.microsoft.com/office/drawing/2014/main" id="{2F75307A-C06C-4D6E-931C-ACA23F5E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3480"/>
            <a:ext cx="5772960" cy="993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73080" tIns="18360" rIns="45720" bIns="1836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Không xử lý mạnh khi ảnh đã sạch.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Ưu tiên phương pháp nhẹ nhất đạt metric validation.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Kết luận cuối dựa trên Macro F1 của CNN.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937834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" name="TextBox 1">
            <a:extLst xmlns:a="http://schemas.openxmlformats.org/drawingml/2006/main">
              <a:ext uri="{FF2B5EF4-FFF2-40B4-BE49-F238E27FC236}">
                <a16:creationId xmlns:a16="http://schemas.microsoft.com/office/drawing/2014/main" id="{B7DBF85C-844A-4A2C-8787-EB66A846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" y="155520"/>
            <a:ext cx="6348600" cy="5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2550" b="1"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Kết luận, hạn chế và hướng hoàn thiện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TextBox 3">
            <a:extLst xmlns:a="http://schemas.openxmlformats.org/drawingml/2006/main">
              <a:ext uri="{FF2B5EF4-FFF2-40B4-BE49-F238E27FC236}">
                <a16:creationId xmlns:a16="http://schemas.microsoft.com/office/drawing/2014/main" id="{53FD1F0E-7FA0-4847-85C7-71DCD6C7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21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TextBox 4">
            <a:extLst xmlns:a="http://schemas.openxmlformats.org/drawingml/2006/main">
              <a:ext uri="{FF2B5EF4-FFF2-40B4-BE49-F238E27FC236}">
                <a16:creationId xmlns:a16="http://schemas.microsoft.com/office/drawing/2014/main" id="{BE1CC18A-EE60-48E8-835C-7E533A31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200448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Kết quả đã hoàn thành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5" name="TextBox 5">
            <a:extLst xmlns:a="http://schemas.openxmlformats.org/drawingml/2006/main">
              <a:ext uri="{FF2B5EF4-FFF2-40B4-BE49-F238E27FC236}">
                <a16:creationId xmlns:a16="http://schemas.microsoft.com/office/drawing/2014/main" id="{3748E7B6-64A6-405C-84AC-57D66D86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5318280" cy="1664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73080" tIns="18360" rIns="45720" bIns="1836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3.668 ảnh hợp lệ; split không overlap.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Ma trận đúng 49 điều kiện duy nhất.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Preprocessing dùng chung và batch evaluation.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</a:t>
            </a: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Pytest: 21 PASS, 1 SKIP; validator core đạt.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Streamlit standalone không dùng HTTP nội bộ.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TextBox 6">
            <a:extLst xmlns:a="http://schemas.openxmlformats.org/drawingml/2006/main">
              <a:ext uri="{FF2B5EF4-FFF2-40B4-BE49-F238E27FC236}">
                <a16:creationId xmlns:a16="http://schemas.microsoft.com/office/drawing/2014/main" id="{78B1EC57-2CC5-4457-B923-34812E89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960120"/>
            <a:ext cx="32436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Hạn chế và bước bắt buộc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TextBox 7">
            <a:extLst xmlns:a="http://schemas.openxmlformats.org/drawingml/2006/main">
              <a:ext uri="{FF2B5EF4-FFF2-40B4-BE49-F238E27FC236}">
                <a16:creationId xmlns:a16="http://schemas.microsoft.com/office/drawing/2014/main" id="{8BA5D861-4869-4322-96E9-7597F051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17320"/>
            <a:ext cx="5173560" cy="1664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73080" tIns="18360" rIns="45720" bIns="1836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Thiếu raw data và TensorFlow/GPU trong workspace.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Thiếu checkpoint, locked params và results/final.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Chưa có URL/bằng chứng deploy của nhóm.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Chạy FULL_RUN rồi đồng bộ mọi artifact.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10000"/>
              </a:lnSpc>
              <a:spcAft>
                <a:spcPts val="400"/>
              </a:spcAft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rgbClr val="444444"/>
                </a:solidFill>
                <a:latin typeface="Arial"/>
                <a:ea typeface="Arial"/>
                <a:cs typeface="Arial"/>
              </a:rPr>
              <a:t>• Chỉ khi đó mới chấm CNN/kết quả/deploy tối đa.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95547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8" name="TextBox 2">
            <a:extLst xmlns:a="http://schemas.openxmlformats.org/drawingml/2006/main">
              <a:ext uri="{FF2B5EF4-FFF2-40B4-BE49-F238E27FC236}">
                <a16:creationId xmlns:a16="http://schemas.microsoft.com/office/drawing/2014/main" id="{5F87A6C6-D191-43DA-8C60-965CDBDE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520" y="2844360"/>
            <a:ext cx="7380720" cy="58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2700" b="1">
                <a:latin typeface="Arial"/>
                <a:ea typeface="Arial"/>
                <a:cs typeface="Arial"/>
              </a:defRPr>
            </a:pPr>
            <a:r>
              <a:rPr sz="270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Cảm ơn thầy và các bạn đã lắng nghe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TextBox 3">
            <a:extLst xmlns:a="http://schemas.openxmlformats.org/drawingml/2006/main">
              <a:ext uri="{FF2B5EF4-FFF2-40B4-BE49-F238E27FC236}">
                <a16:creationId xmlns:a16="http://schemas.microsoft.com/office/drawing/2014/main" id="{0AD4E2E0-E9A7-4AFF-B8BD-4C9B7906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5640" y="3749040"/>
            <a:ext cx="6240960" cy="58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FULL_RUN + validator --require-final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Chỉ cập nhật URL sau smoke test Streamlit Cloud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TextBox 4">
            <a:extLst xmlns:a="http://schemas.openxmlformats.org/drawingml/2006/main">
              <a:ext uri="{FF2B5EF4-FFF2-40B4-BE49-F238E27FC236}">
                <a16:creationId xmlns:a16="http://schemas.microsoft.com/office/drawing/2014/main" id="{B3BCCFBC-1DB6-41E7-AA9C-72678FF3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45720" tIns="45000" rIns="45720" bIns="4500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buNone/>
              <a:defRPr sz="1350">
                <a:latin typeface="Arial"/>
                <a:ea typeface="Arial"/>
                <a:cs typeface="Arial"/>
              </a:defRPr>
            </a:pPr>
            <a:r>
              <a:rPr sz="135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22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006019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2026-08-26T16:32:20.9320000Z</dcterms:created>
  <dcterms:modified xsi:type="dcterms:W3CDTF">2026-08-26T16:32:20.9320000Z</dcterms:modified>
</coreProperties>
</file>